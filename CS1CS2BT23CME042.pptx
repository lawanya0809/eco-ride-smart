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29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3" r:id="rId17"/>
    <p:sldId id="284" r:id="rId18"/>
    <p:sldId id="285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149"/>
    <a:srgbClr val="938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039" autoAdjust="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224CA7-F127-2DC5-4685-B6BEE6D4E396}"/>
              </a:ext>
            </a:extLst>
          </p:cNvPr>
          <p:cNvGrpSpPr/>
          <p:nvPr userDrawn="1"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17D976-3CE5-840E-D955-1CC9254B41E7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649E4F-F513-1755-6D4A-797CBFA6F16E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9890D9B-F822-3E9A-8B8B-3E74002AE4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938" y="0"/>
            <a:ext cx="737062" cy="60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6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AF108A-7C6B-74A2-C7D9-B054139247F5}"/>
              </a:ext>
            </a:extLst>
          </p:cNvPr>
          <p:cNvGrpSpPr/>
          <p:nvPr userDrawn="1"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C0EAE0-9E22-9322-0D1E-64CF559C965C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6970AA-966A-2FC1-271A-17EB89FCC93C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4181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94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9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2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91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2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63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55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27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57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038E-BD74-4A8B-AD3A-13FA0B54BB0C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CA595-0084-4615-927B-5BBA4A80C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3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F98D-CC48-1967-B1B5-543FAAC8F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2" y="1341129"/>
            <a:ext cx="10416073" cy="1391914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595149"/>
                </a:solidFill>
                <a:latin typeface="Arial Black" panose="020B0A04020102020204" pitchFamily="34" charset="0"/>
              </a:rPr>
              <a:t>ELECTRIC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3CA66-56DE-8FAE-6A9C-B13901168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27" y="1493320"/>
            <a:ext cx="7389844" cy="1655762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595149"/>
                </a:solidFill>
                <a:latin typeface="Arial Rounded MT Bold" panose="020F0704030504030204" pitchFamily="34" charset="0"/>
              </a:rPr>
              <a:t>CASE STUDY -1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008874-9F78-DF93-C956-143CCEFBC059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5424FA-4CBD-267A-7166-D450564C31F0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4B667A-AAF3-A5F7-DA01-1E54C5877A4E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906C8F3-6702-0B60-8C85-19462D04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68" y="591017"/>
            <a:ext cx="3850432" cy="56759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98C76-A632-0273-FE9E-2E2DFE4D86E6}"/>
              </a:ext>
            </a:extLst>
          </p:cNvPr>
          <p:cNvSpPr txBox="1"/>
          <p:nvPr/>
        </p:nvSpPr>
        <p:spPr>
          <a:xfrm>
            <a:off x="251928" y="2968973"/>
            <a:ext cx="8138093" cy="229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IN" sz="2000" dirty="0">
                <a:solidFill>
                  <a:srgbClr val="595149"/>
                </a:solidFill>
              </a:rPr>
              <a:t>The proposed product is a next-generation electric bicycle combining eco-friendly transportation with advanced smart features, designed to meet the growing needs of urban commuters, students, and environmentally conscious riders.</a:t>
            </a:r>
            <a:br>
              <a:rPr lang="en-IN" sz="2000" dirty="0">
                <a:solidFill>
                  <a:srgbClr val="595149"/>
                </a:solidFill>
              </a:rPr>
            </a:br>
            <a:r>
              <a:rPr lang="en-IN" sz="2000" dirty="0">
                <a:solidFill>
                  <a:srgbClr val="595149"/>
                </a:solidFill>
              </a:rPr>
              <a:t>This E-Bike (Smart Pedalling with Electric Drive) integrates multiple innovations</a:t>
            </a:r>
            <a:endParaRPr lang="en-US" sz="2000" dirty="0">
              <a:solidFill>
                <a:srgbClr val="59514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98103D-F91D-2B10-6DE0-15D0FEF03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0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5656-27A4-D8A6-2109-46764512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994362"/>
            <a:ext cx="10515600" cy="680037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FEATURES OF E-CYCLE</a:t>
            </a:r>
            <a:br>
              <a:rPr lang="en-US" u="sng" dirty="0"/>
            </a:br>
            <a:endParaRPr lang="en-IN" u="sn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F807B7-4CC8-050B-2613-67EA4D06EC78}"/>
              </a:ext>
            </a:extLst>
          </p:cNvPr>
          <p:cNvGrpSpPr/>
          <p:nvPr/>
        </p:nvGrpSpPr>
        <p:grpSpPr>
          <a:xfrm>
            <a:off x="655796" y="1648335"/>
            <a:ext cx="5664793" cy="4351338"/>
            <a:chOff x="655796" y="1890712"/>
            <a:chExt cx="2950845" cy="4967645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9D4094B0-0373-B88A-606B-69C19D8EA4AA}"/>
                </a:ext>
              </a:extLst>
            </p:cNvPr>
            <p:cNvSpPr/>
            <p:nvPr/>
          </p:nvSpPr>
          <p:spPr>
            <a:xfrm>
              <a:off x="655796" y="1890712"/>
              <a:ext cx="421481" cy="421481"/>
            </a:xfrm>
            <a:prstGeom prst="roundRect">
              <a:avLst>
                <a:gd name="adj" fmla="val 6668"/>
              </a:avLst>
            </a:prstGeom>
            <a:solidFill>
              <a:srgbClr val="EEE8DD"/>
            </a:solidFill>
            <a:ln/>
          </p:spPr>
        </p:sp>
        <p:pic>
          <p:nvPicPr>
            <p:cNvPr id="8" name="Image 0" descr="preencoded.png">
              <a:extLst>
                <a:ext uri="{FF2B5EF4-FFF2-40B4-BE49-F238E27FC236}">
                  <a16:creationId xmlns:a16="http://schemas.microsoft.com/office/drawing/2014/main" id="{D04B7384-E2DC-ADAD-32CA-E8E6EE228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043" y="1925836"/>
              <a:ext cx="280988" cy="351234"/>
            </a:xfrm>
            <a:prstGeom prst="rect">
              <a:avLst/>
            </a:prstGeom>
          </p:spPr>
        </p:pic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71F73A2C-D6DB-E588-7021-424C8278E1DD}"/>
                </a:ext>
              </a:extLst>
            </p:cNvPr>
            <p:cNvSpPr/>
            <p:nvPr/>
          </p:nvSpPr>
          <p:spPr>
            <a:xfrm>
              <a:off x="1264563" y="1925836"/>
              <a:ext cx="2342078" cy="292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Smart Pedaling</a:t>
              </a:r>
              <a:endParaRPr lang="en-US" sz="1800" dirty="0"/>
            </a:p>
          </p:txBody>
        </p:sp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4EB8E120-5456-C982-67BE-7584F7154425}"/>
                </a:ext>
              </a:extLst>
            </p:cNvPr>
            <p:cNvSpPr/>
            <p:nvPr/>
          </p:nvSpPr>
          <p:spPr>
            <a:xfrm>
              <a:off x="655796" y="3005376"/>
              <a:ext cx="421481" cy="421481"/>
            </a:xfrm>
            <a:prstGeom prst="roundRect">
              <a:avLst>
                <a:gd name="adj" fmla="val 6668"/>
              </a:avLst>
            </a:prstGeom>
            <a:solidFill>
              <a:srgbClr val="EEE8DD"/>
            </a:solidFill>
            <a:ln/>
          </p:spPr>
        </p:sp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F1F9C442-5BD6-50B9-5D3E-D3B966D5C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043" y="3040499"/>
              <a:ext cx="280988" cy="351234"/>
            </a:xfrm>
            <a:prstGeom prst="rect">
              <a:avLst/>
            </a:prstGeom>
          </p:spPr>
        </p:pic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049F0275-07A8-F89A-EAED-2BAA40A9DED9}"/>
                </a:ext>
              </a:extLst>
            </p:cNvPr>
            <p:cNvSpPr/>
            <p:nvPr/>
          </p:nvSpPr>
          <p:spPr>
            <a:xfrm>
              <a:off x="1264563" y="3069669"/>
              <a:ext cx="2342078" cy="292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300"/>
                </a:lnSpc>
              </a:pPr>
              <a:r>
                <a:rPr lang="en-IN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Tri mode charging</a:t>
              </a:r>
              <a:endParaRPr lang="en-US" sz="1800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97CB8150-E389-DB06-1849-93B0395FB1AE}"/>
                </a:ext>
              </a:extLst>
            </p:cNvPr>
            <p:cNvSpPr/>
            <p:nvPr/>
          </p:nvSpPr>
          <p:spPr>
            <a:xfrm>
              <a:off x="655796" y="4149209"/>
              <a:ext cx="421481" cy="421481"/>
            </a:xfrm>
            <a:prstGeom prst="roundRect">
              <a:avLst>
                <a:gd name="adj" fmla="val 6668"/>
              </a:avLst>
            </a:prstGeom>
            <a:solidFill>
              <a:srgbClr val="EEE8DD"/>
            </a:solidFill>
            <a:ln/>
          </p:spPr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655D2394-80E6-7872-0237-DD0A60C7D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6043" y="4184332"/>
              <a:ext cx="280988" cy="351234"/>
            </a:xfrm>
            <a:prstGeom prst="rect">
              <a:avLst/>
            </a:prstGeom>
          </p:spPr>
        </p:pic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639F4605-8F92-32A4-35F7-24E52C4389E8}"/>
                </a:ext>
              </a:extLst>
            </p:cNvPr>
            <p:cNvSpPr/>
            <p:nvPr/>
          </p:nvSpPr>
          <p:spPr>
            <a:xfrm>
              <a:off x="1264563" y="4213503"/>
              <a:ext cx="2342078" cy="292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Integrated GPS</a:t>
              </a:r>
              <a:endParaRPr lang="en-US" sz="1800" dirty="0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A85D465B-9A0B-6250-5494-A5847C8AA8C6}"/>
                </a:ext>
              </a:extLst>
            </p:cNvPr>
            <p:cNvSpPr/>
            <p:nvPr/>
          </p:nvSpPr>
          <p:spPr>
            <a:xfrm>
              <a:off x="655796" y="5293043"/>
              <a:ext cx="421481" cy="421481"/>
            </a:xfrm>
            <a:prstGeom prst="roundRect">
              <a:avLst>
                <a:gd name="adj" fmla="val 6668"/>
              </a:avLst>
            </a:prstGeom>
            <a:solidFill>
              <a:srgbClr val="EEE8DD"/>
            </a:solidFill>
            <a:ln/>
          </p:spPr>
        </p:sp>
        <p:pic>
          <p:nvPicPr>
            <p:cNvPr id="17" name="Image 3" descr="preencoded.png">
              <a:extLst>
                <a:ext uri="{FF2B5EF4-FFF2-40B4-BE49-F238E27FC236}">
                  <a16:creationId xmlns:a16="http://schemas.microsoft.com/office/drawing/2014/main" id="{1CAC2B5C-9950-1AF8-0E98-0E00839E2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6043" y="5328166"/>
              <a:ext cx="280988" cy="351234"/>
            </a:xfrm>
            <a:prstGeom prst="rect">
              <a:avLst/>
            </a:prstGeom>
          </p:spPr>
        </p:pic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A7F4DA73-9C36-A268-EF5E-47FC2D1D42D8}"/>
                </a:ext>
              </a:extLst>
            </p:cNvPr>
            <p:cNvSpPr/>
            <p:nvPr/>
          </p:nvSpPr>
          <p:spPr>
            <a:xfrm>
              <a:off x="1264563" y="5357336"/>
              <a:ext cx="2342078" cy="292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Enhanced Safety</a:t>
              </a:r>
              <a:endParaRPr lang="en-US" sz="18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805A5C88-0D54-1DD6-4155-46934A87EDEA}"/>
                </a:ext>
              </a:extLst>
            </p:cNvPr>
            <p:cNvSpPr/>
            <p:nvPr/>
          </p:nvSpPr>
          <p:spPr>
            <a:xfrm>
              <a:off x="655796" y="6436876"/>
              <a:ext cx="421481" cy="421481"/>
            </a:xfrm>
            <a:prstGeom prst="roundRect">
              <a:avLst>
                <a:gd name="adj" fmla="val 6668"/>
              </a:avLst>
            </a:prstGeom>
            <a:solidFill>
              <a:srgbClr val="EEE8DD"/>
            </a:solidFill>
            <a:ln/>
          </p:spPr>
        </p:sp>
        <p:pic>
          <p:nvPicPr>
            <p:cNvPr id="20" name="Image 4" descr="preencoded.png">
              <a:extLst>
                <a:ext uri="{FF2B5EF4-FFF2-40B4-BE49-F238E27FC236}">
                  <a16:creationId xmlns:a16="http://schemas.microsoft.com/office/drawing/2014/main" id="{729FA7F7-6A64-BC52-92C5-58F7D994E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043" y="6471999"/>
              <a:ext cx="280988" cy="351234"/>
            </a:xfrm>
            <a:prstGeom prst="rect">
              <a:avLst/>
            </a:prstGeom>
          </p:spPr>
        </p:pic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F9AA0C58-7E70-48CE-C7BE-A2C1E8CD96FE}"/>
                </a:ext>
              </a:extLst>
            </p:cNvPr>
            <p:cNvSpPr/>
            <p:nvPr/>
          </p:nvSpPr>
          <p:spPr>
            <a:xfrm>
              <a:off x="1264563" y="6501170"/>
              <a:ext cx="2342078" cy="2926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Convenient Storage</a:t>
              </a:r>
              <a:endParaRPr lang="en-US" sz="1800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F4ED6-B09C-E2BA-E3F4-8D1111775E36}"/>
              </a:ext>
            </a:extLst>
          </p:cNvPr>
          <p:cNvSpPr/>
          <p:nvPr/>
        </p:nvSpPr>
        <p:spPr>
          <a:xfrm>
            <a:off x="0" y="6266983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C244BD-A848-EA56-9B82-BF9FB9EC38D9}"/>
              </a:ext>
            </a:extLst>
          </p:cNvPr>
          <p:cNvSpPr/>
          <p:nvPr/>
        </p:nvSpPr>
        <p:spPr>
          <a:xfrm>
            <a:off x="1" y="2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491BBA5-4480-222C-1335-807F8113E5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2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D66C-3349-5974-E9BF-FABF1ACF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39" y="295509"/>
            <a:ext cx="11145252" cy="1325563"/>
          </a:xfrm>
        </p:spPr>
        <p:txBody>
          <a:bodyPr/>
          <a:lstStyle/>
          <a:p>
            <a:r>
              <a:rPr lang="en-US" b="1" u="sng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CUSTOMER STATEMENTS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8238-DAF5-AC8C-80A5-CB38A1E5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8" y="1395664"/>
            <a:ext cx="11353800" cy="4652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an e-bike that is lightweight but sturdy.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It should allow me to ride smoothly without much effort.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need to charge it even without access to electricity.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It should have good braking for safety.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to track my bike in case it gets stolen.</a:t>
            </a:r>
          </a:p>
          <a:p>
            <a:pPr marL="514350" indent="-514350">
              <a:buAutoNum type="arabicPeriod"/>
            </a:pPr>
            <a:r>
              <a:rPr lang="en-IN" dirty="0">
                <a:solidFill>
                  <a:srgbClr val="595149"/>
                </a:solidFill>
              </a:rPr>
              <a:t>I prefer detachable storage.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minimal maintenance needs.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it to be suitable for both city and campus rides.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need an easy-to-read display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it to be stylish and modern looking.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parts to be easily replaceable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both pedal assist and throttle mode. </a:t>
            </a:r>
          </a:p>
          <a:p>
            <a:pPr marL="514350" indent="-514350">
              <a:buAutoNum type="arabicPeriod"/>
            </a:pPr>
            <a:endParaRPr lang="en-IN" dirty="0">
              <a:solidFill>
                <a:srgbClr val="59514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D72BA-96FC-6501-0178-CBE9589F263B}"/>
              </a:ext>
            </a:extLst>
          </p:cNvPr>
          <p:cNvSpPr/>
          <p:nvPr/>
        </p:nvSpPr>
        <p:spPr>
          <a:xfrm>
            <a:off x="1" y="2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BBE72A-88D7-2F3D-8C16-23A8DE15AC23}"/>
              </a:ext>
            </a:extLst>
          </p:cNvPr>
          <p:cNvSpPr/>
          <p:nvPr/>
        </p:nvSpPr>
        <p:spPr>
          <a:xfrm>
            <a:off x="0" y="6266983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80E25-D280-24D1-FA24-FFE99A121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63A618-386B-38CD-0FFD-D860800503E2}"/>
              </a:ext>
            </a:extLst>
          </p:cNvPr>
          <p:cNvSpPr/>
          <p:nvPr/>
        </p:nvSpPr>
        <p:spPr>
          <a:xfrm>
            <a:off x="155839" y="1324948"/>
            <a:ext cx="8754896" cy="4795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9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64F9-DA9A-78CF-0AA2-04D02256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E3CE-15D9-D655-D514-588015E6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39" y="295509"/>
            <a:ext cx="11145252" cy="1325563"/>
          </a:xfrm>
        </p:spPr>
        <p:txBody>
          <a:bodyPr/>
          <a:lstStyle/>
          <a:p>
            <a:r>
              <a:rPr lang="en-US" b="1" u="sng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CUSTOMER STATEMENTS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A945-0CFD-DCB9-5D99-233CB35CD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8" y="1395664"/>
            <a:ext cx="11353800" cy="4652963"/>
          </a:xfrm>
        </p:spPr>
        <p:txBody>
          <a:bodyPr>
            <a:normAutofit fontScale="4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It should carry my backpack or groceries.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prefer detachable storage.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It should have low running costs.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minimal maintenance needs.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it to be stylish and modern looking.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an affordable price point.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prefer a silent motor.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It should be easy to park and store.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the battery to last long on a single charge.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need an easy-to-read display.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safety lights integrated.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it to be suitable for both city and campus rides.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It should not overheat in the sun.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3300" dirty="0"/>
              <a:t>I want custom speed limits for safety.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300" dirty="0"/>
              <a:t>I want parts to be easily replaceable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>
              <a:solidFill>
                <a:srgbClr val="59514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E3911-3A67-3FA5-FC0A-40C3568194EF}"/>
              </a:ext>
            </a:extLst>
          </p:cNvPr>
          <p:cNvSpPr/>
          <p:nvPr/>
        </p:nvSpPr>
        <p:spPr>
          <a:xfrm>
            <a:off x="1" y="2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77CCA-02AF-9BFB-B99F-007DCC837C21}"/>
              </a:ext>
            </a:extLst>
          </p:cNvPr>
          <p:cNvSpPr/>
          <p:nvPr/>
        </p:nvSpPr>
        <p:spPr>
          <a:xfrm>
            <a:off x="0" y="6266983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2273B-D432-4D3B-9CE1-6DAEFC0E1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AC644A-69FA-707B-7A96-57099603C3AD}"/>
              </a:ext>
            </a:extLst>
          </p:cNvPr>
          <p:cNvSpPr/>
          <p:nvPr/>
        </p:nvSpPr>
        <p:spPr>
          <a:xfrm>
            <a:off x="155839" y="1324948"/>
            <a:ext cx="8754896" cy="4795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67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EA72-8FB5-0C2B-377A-DAC774EF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2499097"/>
          </a:xfrm>
        </p:spPr>
        <p:txBody>
          <a:bodyPr/>
          <a:lstStyle/>
          <a:p>
            <a:r>
              <a:rPr lang="en-US" b="1" dirty="0">
                <a:solidFill>
                  <a:srgbClr val="595149"/>
                </a:solidFill>
              </a:rPr>
              <a:t>Market Study:</a:t>
            </a:r>
            <a:br>
              <a:rPr lang="en-US" b="1" dirty="0">
                <a:solidFill>
                  <a:srgbClr val="595149"/>
                </a:solidFill>
              </a:rPr>
            </a:br>
            <a:r>
              <a:rPr lang="en-US" b="1" dirty="0">
                <a:solidFill>
                  <a:srgbClr val="595149"/>
                </a:solidFill>
              </a:rPr>
              <a:t>Existing Products, Features, Costs</a:t>
            </a:r>
            <a:endParaRPr lang="en-IN" b="1" dirty="0">
              <a:solidFill>
                <a:srgbClr val="595149"/>
              </a:solidFill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0AFDF44-3A1F-C1AA-F878-259B65CA30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100569"/>
              </p:ext>
            </p:extLst>
          </p:nvPr>
        </p:nvGraphicFramePr>
        <p:xfrm>
          <a:off x="838200" y="2618727"/>
          <a:ext cx="10515600" cy="309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024017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9462903"/>
                    </a:ext>
                  </a:extLst>
                </a:gridCol>
              </a:tblGrid>
              <a:tr h="515268"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017484"/>
                  </a:ext>
                </a:extLst>
              </a:tr>
              <a:tr h="515268">
                <a:tc>
                  <a:txBody>
                    <a:bodyPr/>
                    <a:lstStyle/>
                    <a:p>
                      <a:r>
                        <a:rPr lang="en-IN" b="1" u="none" dirty="0">
                          <a:solidFill>
                            <a:srgbClr val="595149"/>
                          </a:solidFill>
                        </a:rPr>
                        <a:t>Hero </a:t>
                      </a:r>
                      <a:r>
                        <a:rPr lang="en-IN" b="1" u="none" dirty="0" err="1">
                          <a:solidFill>
                            <a:srgbClr val="595149"/>
                          </a:solidFill>
                        </a:rPr>
                        <a:t>Lectro</a:t>
                      </a:r>
                      <a:r>
                        <a:rPr lang="en-IN" b="1" u="none" dirty="0">
                          <a:solidFill>
                            <a:srgbClr val="595149"/>
                          </a:solidFill>
                        </a:rPr>
                        <a:t> EHX20 (India) </a:t>
                      </a:r>
                      <a:endParaRPr lang="en-IN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 70% in Indian market,&lt;1% globally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649057"/>
                  </a:ext>
                </a:extLst>
              </a:tr>
              <a:tr h="515268">
                <a:tc>
                  <a:txBody>
                    <a:bodyPr/>
                    <a:lstStyle/>
                    <a:p>
                      <a:r>
                        <a:rPr lang="en-IN" b="1" u="none" dirty="0" err="1">
                          <a:solidFill>
                            <a:srgbClr val="595149"/>
                          </a:solidFill>
                        </a:rPr>
                        <a:t>EMotorad</a:t>
                      </a:r>
                      <a:endParaRPr lang="en-IN" b="1" u="none" dirty="0">
                        <a:solidFill>
                          <a:srgbClr val="59514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~12-13% in Indian market,&lt;1% globally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347619"/>
                  </a:ext>
                </a:extLst>
              </a:tr>
              <a:tr h="515268">
                <a:tc>
                  <a:txBody>
                    <a:bodyPr/>
                    <a:lstStyle/>
                    <a:p>
                      <a:r>
                        <a:rPr lang="en-IN" b="1" u="none" dirty="0">
                          <a:solidFill>
                            <a:srgbClr val="595149"/>
                          </a:solidFill>
                        </a:rPr>
                        <a:t>Merida </a:t>
                      </a:r>
                      <a:r>
                        <a:rPr lang="en-IN" b="1" u="none" dirty="0" err="1">
                          <a:solidFill>
                            <a:srgbClr val="595149"/>
                          </a:solidFill>
                        </a:rPr>
                        <a:t>eBig.Nine</a:t>
                      </a:r>
                      <a:r>
                        <a:rPr lang="en-IN" b="1" u="none" dirty="0">
                          <a:solidFill>
                            <a:srgbClr val="595149"/>
                          </a:solidFill>
                        </a:rPr>
                        <a:t> 400 </a:t>
                      </a:r>
                      <a:endParaRPr lang="en-IN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&lt;3% in India,7-8% globally (imported </a:t>
                      </a:r>
                      <a:r>
                        <a:rPr lang="en-IN" dirty="0" err="1"/>
                        <a:t>india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972983"/>
                  </a:ext>
                </a:extLst>
              </a:tr>
              <a:tr h="515268">
                <a:tc>
                  <a:txBody>
                    <a:bodyPr/>
                    <a:lstStyle/>
                    <a:p>
                      <a:r>
                        <a:rPr lang="en-IN" sz="1800" b="1" u="none" dirty="0">
                          <a:solidFill>
                            <a:srgbClr val="595149"/>
                          </a:solidFill>
                        </a:rPr>
                        <a:t>Giant Explore E+ 2 </a:t>
                      </a:r>
                      <a:endParaRPr lang="en-IN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6-8% in India,18-20% globally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88729"/>
                  </a:ext>
                </a:extLst>
              </a:tr>
              <a:tr h="515268">
                <a:tc>
                  <a:txBody>
                    <a:bodyPr/>
                    <a:lstStyle/>
                    <a:p>
                      <a:r>
                        <a:rPr lang="en-US" b="1" u="none" dirty="0">
                          <a:solidFill>
                            <a:srgbClr val="595149"/>
                          </a:solidFill>
                        </a:rPr>
                        <a:t>Rad Power Bikes </a:t>
                      </a:r>
                      <a:r>
                        <a:rPr lang="en-US" b="1" u="none" dirty="0" err="1">
                          <a:solidFill>
                            <a:srgbClr val="595149"/>
                          </a:solidFill>
                        </a:rPr>
                        <a:t>RadCity</a:t>
                      </a:r>
                      <a:r>
                        <a:rPr lang="en-US" b="1" u="none" dirty="0">
                          <a:solidFill>
                            <a:srgbClr val="595149"/>
                          </a:solidFill>
                        </a:rPr>
                        <a:t> 5 Plus (US)</a:t>
                      </a:r>
                      <a:endParaRPr lang="en-IN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&lt;1% in India, 5-6% globally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70396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78E4B4B-E986-1C28-A4FB-5BF97571D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8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5F18-9D71-5478-4527-77342123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5459"/>
            <a:ext cx="7026741" cy="860612"/>
          </a:xfrm>
        </p:spPr>
        <p:txBody>
          <a:bodyPr/>
          <a:lstStyle/>
          <a:p>
            <a:r>
              <a:rPr lang="en-IN" b="1" u="sng" dirty="0">
                <a:solidFill>
                  <a:srgbClr val="595149"/>
                </a:solidFill>
              </a:rPr>
              <a:t>Hero </a:t>
            </a:r>
            <a:r>
              <a:rPr lang="en-IN" b="1" u="sng" dirty="0" err="1">
                <a:solidFill>
                  <a:srgbClr val="595149"/>
                </a:solidFill>
              </a:rPr>
              <a:t>Lectro</a:t>
            </a:r>
            <a:r>
              <a:rPr lang="en-IN" b="1" u="sng" dirty="0">
                <a:solidFill>
                  <a:srgbClr val="595149"/>
                </a:solidFill>
              </a:rPr>
              <a:t> EHX20 (India)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6447CC7-5C61-97CE-B71F-56924B72E8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8" b="8618"/>
          <a:stretch>
            <a:fillRect/>
          </a:stretch>
        </p:blipFill>
        <p:spPr>
          <a:xfrm>
            <a:off x="5180012" y="1861205"/>
            <a:ext cx="6172200" cy="381158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EAC86-1B03-4773-509D-DBEF68DE1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149"/>
                </a:solidFill>
              </a:rPr>
              <a:t>Features: Pedal assist, removable battery, front suspension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149"/>
                </a:solidFill>
              </a:rPr>
              <a:t>Cost: ₹30,000-1,30,000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149"/>
                </a:solidFill>
              </a:rPr>
              <a:t>Limitations: No solar charging, no GPS, basic storage </a:t>
            </a:r>
            <a:endParaRPr lang="en-IN" sz="2400" dirty="0">
              <a:solidFill>
                <a:srgbClr val="595149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9C79F6-FCE8-8676-2918-82F742B75DCF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E60F15-FDD9-EEA1-462C-497AAC0CB549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F0B3C0-C375-9884-C018-2A4F422B7CC3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2ACA331-151D-DEB5-656D-59F50F48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97D4BB-354F-C4D2-60A4-30056D0F4C95}"/>
              </a:ext>
            </a:extLst>
          </p:cNvPr>
          <p:cNvSpPr/>
          <p:nvPr/>
        </p:nvSpPr>
        <p:spPr>
          <a:xfrm>
            <a:off x="699796" y="1950098"/>
            <a:ext cx="4254759" cy="288315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2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DD36-D901-26CA-363D-BC2D2BBD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416706" cy="1075765"/>
          </a:xfrm>
        </p:spPr>
        <p:txBody>
          <a:bodyPr/>
          <a:lstStyle/>
          <a:p>
            <a:r>
              <a:rPr lang="en-IN" b="1" u="sng" dirty="0">
                <a:solidFill>
                  <a:srgbClr val="595149"/>
                </a:solidFill>
              </a:rPr>
              <a:t>Merida </a:t>
            </a:r>
            <a:r>
              <a:rPr lang="en-IN" b="1" u="sng" dirty="0" err="1">
                <a:solidFill>
                  <a:srgbClr val="595149"/>
                </a:solidFill>
              </a:rPr>
              <a:t>eBig.Nine</a:t>
            </a:r>
            <a:r>
              <a:rPr lang="en-IN" b="1" u="sng" dirty="0">
                <a:solidFill>
                  <a:srgbClr val="595149"/>
                </a:solidFill>
              </a:rPr>
              <a:t> 400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72D7C8F-2CD6-BA2D-C3B6-F4058B9D49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5" r="12355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133F9-7C47-8ED5-ED7D-0C9C7006B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595149"/>
                </a:solidFill>
              </a:rPr>
              <a:t>• Features: Mid-drive motor, hydraulic brakes, long battery life </a:t>
            </a:r>
          </a:p>
          <a:p>
            <a:r>
              <a:rPr lang="en-US" sz="2400" dirty="0">
                <a:solidFill>
                  <a:srgbClr val="595149"/>
                </a:solidFill>
              </a:rPr>
              <a:t>• Cost: ₹2,80,000 </a:t>
            </a:r>
          </a:p>
          <a:p>
            <a:r>
              <a:rPr lang="en-US" sz="2400" dirty="0">
                <a:solidFill>
                  <a:srgbClr val="595149"/>
                </a:solidFill>
              </a:rPr>
              <a:t>• Limitations: No solar charging, no detachable storage, no GPS </a:t>
            </a:r>
            <a:endParaRPr lang="en-IN" sz="2400" dirty="0">
              <a:solidFill>
                <a:srgbClr val="595149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0C513C-2FC5-9A80-7EC2-B7133EF8AB33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3B322-9A64-D398-8ED4-A8702245F39B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624055-9DC0-14BB-A254-27DF62AC89D8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C034A9F-81F6-4855-D795-D84CED55F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8B364EE-1A13-2DD9-4EC4-471B4318236C}"/>
              </a:ext>
            </a:extLst>
          </p:cNvPr>
          <p:cNvSpPr/>
          <p:nvPr/>
        </p:nvSpPr>
        <p:spPr>
          <a:xfrm>
            <a:off x="709127" y="1930959"/>
            <a:ext cx="4062898" cy="31915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2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8873-3F3A-CBBF-731B-8382CAA1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83" y="605118"/>
            <a:ext cx="9232059" cy="1143000"/>
          </a:xfrm>
        </p:spPr>
        <p:txBody>
          <a:bodyPr/>
          <a:lstStyle/>
          <a:p>
            <a:r>
              <a:rPr lang="en-US" b="1" u="sng" dirty="0">
                <a:solidFill>
                  <a:srgbClr val="595149"/>
                </a:solidFill>
              </a:rPr>
              <a:t>Rad Power Bikes </a:t>
            </a:r>
            <a:r>
              <a:rPr lang="en-US" b="1" u="sng" dirty="0" err="1">
                <a:solidFill>
                  <a:srgbClr val="595149"/>
                </a:solidFill>
              </a:rPr>
              <a:t>RadCity</a:t>
            </a:r>
            <a:r>
              <a:rPr lang="en-US" b="1" u="sng" dirty="0">
                <a:solidFill>
                  <a:srgbClr val="595149"/>
                </a:solidFill>
              </a:rPr>
              <a:t> 5 Plus (US)</a:t>
            </a:r>
            <a:endParaRPr lang="en-IN" b="1" u="sng" dirty="0">
              <a:solidFill>
                <a:srgbClr val="595149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36FFF86-E613-E7A2-99E3-5FBA0DF5E00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 b="8831"/>
          <a:stretch>
            <a:fillRect/>
          </a:stretch>
        </p:blipFill>
        <p:spPr>
          <a:xfrm>
            <a:off x="5180013" y="2057400"/>
            <a:ext cx="6172200" cy="38115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1F308-5B9A-15A8-EA50-D2810D001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3983" y="2146113"/>
            <a:ext cx="3932237" cy="3811588"/>
          </a:xfrm>
        </p:spPr>
        <p:txBody>
          <a:bodyPr>
            <a:normAutofit/>
          </a:bodyPr>
          <a:lstStyle/>
          <a:p>
            <a:r>
              <a:rPr lang="en-US" sz="2400" dirty="0"/>
              <a:t>• </a:t>
            </a:r>
            <a:r>
              <a:rPr lang="en-US" sz="2400" dirty="0">
                <a:solidFill>
                  <a:srgbClr val="595149"/>
                </a:solidFill>
              </a:rPr>
              <a:t>Features: Pedal assist, LCD display, puncture-resistant </a:t>
            </a:r>
            <a:r>
              <a:rPr lang="en-US" sz="2400" dirty="0" err="1">
                <a:solidFill>
                  <a:srgbClr val="595149"/>
                </a:solidFill>
              </a:rPr>
              <a:t>tyres</a:t>
            </a:r>
            <a:r>
              <a:rPr lang="en-US" sz="2400" dirty="0">
                <a:solidFill>
                  <a:srgbClr val="595149"/>
                </a:solidFill>
              </a:rPr>
              <a:t> </a:t>
            </a:r>
          </a:p>
          <a:p>
            <a:r>
              <a:rPr lang="en-US" sz="2400" dirty="0">
                <a:solidFill>
                  <a:srgbClr val="595149"/>
                </a:solidFill>
              </a:rPr>
              <a:t>• Cost: ₹1,65,000 </a:t>
            </a:r>
          </a:p>
          <a:p>
            <a:r>
              <a:rPr lang="en-US" sz="2400" dirty="0">
                <a:solidFill>
                  <a:srgbClr val="595149"/>
                </a:solidFill>
              </a:rPr>
              <a:t>• Limitations: No solar charging, no GPS tracker </a:t>
            </a:r>
            <a:endParaRPr lang="en-IN" sz="2400" dirty="0">
              <a:solidFill>
                <a:srgbClr val="595149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95EB22-FBE8-6C49-35EE-89FBEC8C5889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C247C4-B2C5-8142-9D27-95C9EB1DF49D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B33A50-3E9F-3065-C82F-538A3565F05A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D69733A-8E3E-7F5C-292A-5BDC24ADE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39EC4FE-3C79-62F1-0BF6-BFC3754813E9}"/>
              </a:ext>
            </a:extLst>
          </p:cNvPr>
          <p:cNvSpPr/>
          <p:nvPr/>
        </p:nvSpPr>
        <p:spPr>
          <a:xfrm>
            <a:off x="317241" y="1987420"/>
            <a:ext cx="4469363" cy="29298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76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F2D9-3E63-65AB-91E3-2D4A287B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3" y="906302"/>
            <a:ext cx="10802472" cy="1325563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rgbClr val="595149"/>
                </a:solidFill>
              </a:rPr>
              <a:t>Giant Explore E+ 2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0014798-CE3D-9E29-DEAB-1C93048B5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480" y="2070847"/>
            <a:ext cx="5783077" cy="35769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ADD18-06FD-A325-41FC-AEAC72F632DB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307910" y="2266043"/>
            <a:ext cx="5150498" cy="3164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Features: Pedal assist, integrated lights, long-range battery </a:t>
            </a:r>
          </a:p>
          <a:p>
            <a:pPr marL="0" indent="0">
              <a:buNone/>
            </a:pPr>
            <a:r>
              <a:rPr lang="en-US" sz="2400" dirty="0"/>
              <a:t>• Cost: ₹2,25,000 </a:t>
            </a:r>
          </a:p>
          <a:p>
            <a:pPr marL="0" indent="0">
              <a:buNone/>
            </a:pPr>
            <a:r>
              <a:rPr lang="en-US" sz="2400" dirty="0"/>
              <a:t>• Limitations: No torque + cadence sensor combo, no solar charging, no detachable storage 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9DB16-A30A-7E45-3AE4-F12228336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6CDD351-E26D-9D3C-E0BC-065C15EA509D}"/>
              </a:ext>
            </a:extLst>
          </p:cNvPr>
          <p:cNvSpPr/>
          <p:nvPr/>
        </p:nvSpPr>
        <p:spPr>
          <a:xfrm>
            <a:off x="307910" y="1978090"/>
            <a:ext cx="4721290" cy="34523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1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B506DCC8-762A-EC89-C423-45B07E32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20" y="1106738"/>
            <a:ext cx="10515600" cy="87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200"/>
              </a:lnSpc>
              <a:buNone/>
            </a:pPr>
            <a:r>
              <a:rPr lang="en-US" sz="3200" u="sng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E-Bike Market Trends &amp; Competitors</a:t>
            </a:r>
            <a:endParaRPr lang="en-US" sz="3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49EF-D667-D724-F35B-F03F1D201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33" y="2368438"/>
            <a:ext cx="6427968" cy="3864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595149"/>
                </a:solidFill>
              </a:rPr>
              <a:t>• Global e-bike market growth: CAGR of ~10% from 2019 to 2024.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95149"/>
                </a:solidFill>
              </a:rPr>
              <a:t>• In India, market size grew from ₹500 Cr in 2019 to ~₹1200 Cr in 2024, driven by urban commute demand and rising fuel prices.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95149"/>
                </a:solidFill>
              </a:rPr>
              <a:t>• Current adoption barriers: charging infrastructure gaps, high cost, theft concerns, and limited storage and different mode of charging feature solutions. </a:t>
            </a:r>
            <a:endParaRPr lang="en-IN" sz="2400" dirty="0">
              <a:solidFill>
                <a:srgbClr val="595149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5E68EDC-42F7-2276-01EF-ED73AFF264DD}"/>
              </a:ext>
            </a:extLst>
          </p:cNvPr>
          <p:cNvSpPr/>
          <p:nvPr/>
        </p:nvSpPr>
        <p:spPr>
          <a:xfrm>
            <a:off x="6945408" y="1343912"/>
            <a:ext cx="4411861" cy="9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3200" u="sng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Market Growth (2024-2033)</a:t>
            </a:r>
            <a:endParaRPr lang="en-US" sz="3200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23B00-0D93-3102-0531-1C66BB22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408" y="2368438"/>
            <a:ext cx="5228663" cy="3447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F84F1B-AB3F-2B98-6046-27C75ED30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A8553A-975A-8964-8EA3-1A461D60313F}"/>
              </a:ext>
            </a:extLst>
          </p:cNvPr>
          <p:cNvSpPr/>
          <p:nvPr/>
        </p:nvSpPr>
        <p:spPr>
          <a:xfrm>
            <a:off x="173027" y="2248678"/>
            <a:ext cx="6377064" cy="367626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97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7AD7-1D2E-5B57-B0AB-E830052B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88" y="355506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595149"/>
                </a:solidFill>
                <a:latin typeface="Arial Black" panose="020B0A04020102020204" pitchFamily="34" charset="0"/>
              </a:rPr>
              <a:t>Opportunity Gap &amp; Desired Features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40866-30A3-9B36-339A-5214B4C96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1681163"/>
            <a:ext cx="5157787" cy="501463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595149"/>
                </a:solidFill>
              </a:rPr>
              <a:t>Opportunity Gap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E47B7-6BD0-BDFE-5665-99976EA8B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7565" y="2182625"/>
            <a:ext cx="5084764" cy="40070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95149"/>
                </a:solidFill>
              </a:rPr>
              <a:t>Most existing e-bikes lack multi charging system</a:t>
            </a:r>
          </a:p>
          <a:p>
            <a:r>
              <a:rPr lang="en-US" dirty="0">
                <a:solidFill>
                  <a:srgbClr val="595149"/>
                </a:solidFill>
              </a:rPr>
              <a:t> integrated GPS tracking</a:t>
            </a:r>
          </a:p>
          <a:p>
            <a:r>
              <a:rPr lang="en-US" dirty="0">
                <a:solidFill>
                  <a:srgbClr val="595149"/>
                </a:solidFill>
              </a:rPr>
              <a:t> smart torque + cadence control</a:t>
            </a:r>
          </a:p>
          <a:p>
            <a:r>
              <a:rPr lang="en-US" dirty="0">
                <a:solidFill>
                  <a:srgbClr val="595149"/>
                </a:solidFill>
              </a:rPr>
              <a:t> built-in storage.</a:t>
            </a:r>
          </a:p>
          <a:p>
            <a:r>
              <a:rPr lang="en-US" dirty="0" err="1">
                <a:solidFill>
                  <a:srgbClr val="595149"/>
                </a:solidFill>
              </a:rPr>
              <a:t>affordiblity</a:t>
            </a:r>
            <a:endParaRPr lang="en-IN" dirty="0">
              <a:solidFill>
                <a:srgbClr val="595149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07CD2-0DA9-AECB-98C8-21B085AD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81162"/>
            <a:ext cx="5183188" cy="501464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595149"/>
                </a:solidFill>
              </a:rPr>
              <a:t>Desired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60D1F-D443-1B5F-D3BB-D61442E0D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182626"/>
            <a:ext cx="5870574" cy="40070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595149"/>
                </a:solidFill>
              </a:rPr>
              <a:t>Tri mode charging: fast electric + solar + pedal to charge mode.</a:t>
            </a:r>
          </a:p>
          <a:p>
            <a:r>
              <a:rPr lang="en-IN" dirty="0">
                <a:solidFill>
                  <a:srgbClr val="595149"/>
                </a:solidFill>
              </a:rPr>
              <a:t>GPS tracking &amp; navigation</a:t>
            </a:r>
          </a:p>
          <a:p>
            <a:r>
              <a:rPr lang="en-IN" dirty="0">
                <a:solidFill>
                  <a:srgbClr val="595149"/>
                </a:solidFill>
              </a:rPr>
              <a:t>Integrated torque &amp; cadence sensors for intelligent pedal assist</a:t>
            </a:r>
          </a:p>
          <a:p>
            <a:r>
              <a:rPr lang="en-IN" dirty="0">
                <a:solidFill>
                  <a:srgbClr val="595149"/>
                </a:solidFill>
              </a:rPr>
              <a:t>Lightweight alloy frame</a:t>
            </a:r>
          </a:p>
          <a:p>
            <a:r>
              <a:rPr lang="en-IN" dirty="0">
                <a:solidFill>
                  <a:srgbClr val="595149"/>
                </a:solidFill>
              </a:rPr>
              <a:t>Puncture-resistant tyres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5084FE-0C4F-81C1-E004-393D07113D68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23552B-5311-597D-317E-B6259C952A3F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D4005B-D868-B3CE-8CF4-004AB6D1AE81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784DE2A-1C99-F5ED-A333-E6CFBBC5E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235F4B-21D0-E211-8F69-2A311D58D5F5}"/>
              </a:ext>
            </a:extLst>
          </p:cNvPr>
          <p:cNvSpPr/>
          <p:nvPr/>
        </p:nvSpPr>
        <p:spPr>
          <a:xfrm>
            <a:off x="574516" y="1558211"/>
            <a:ext cx="5245257" cy="46314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F0C3B-1FA2-AD3C-9C48-A0C40266D0B6}"/>
              </a:ext>
            </a:extLst>
          </p:cNvPr>
          <p:cNvSpPr/>
          <p:nvPr/>
        </p:nvSpPr>
        <p:spPr>
          <a:xfrm>
            <a:off x="5994398" y="1558212"/>
            <a:ext cx="6048377" cy="46314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9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51794C4-7E5F-3676-E2F1-12A6F7D380F3}"/>
              </a:ext>
            </a:extLst>
          </p:cNvPr>
          <p:cNvSpPr/>
          <p:nvPr/>
        </p:nvSpPr>
        <p:spPr>
          <a:xfrm>
            <a:off x="139377" y="1213397"/>
            <a:ext cx="10874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Our Comprehensive Development Plan</a:t>
            </a:r>
            <a:endParaRPr lang="en-US" sz="44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FEAAA95-C33B-B43A-4B46-F3B5C8AF5C95}"/>
              </a:ext>
            </a:extLst>
          </p:cNvPr>
          <p:cNvGrpSpPr/>
          <p:nvPr/>
        </p:nvGrpSpPr>
        <p:grpSpPr>
          <a:xfrm>
            <a:off x="317241" y="2006082"/>
            <a:ext cx="11703440" cy="3831642"/>
            <a:chOff x="139377" y="2773204"/>
            <a:chExt cx="11853312" cy="33630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700618B-F34C-31B6-9D4E-7B147EF0BDBC}"/>
                </a:ext>
              </a:extLst>
            </p:cNvPr>
            <p:cNvGrpSpPr/>
            <p:nvPr/>
          </p:nvGrpSpPr>
          <p:grpSpPr>
            <a:xfrm>
              <a:off x="158620" y="2773204"/>
              <a:ext cx="3470406" cy="1745575"/>
              <a:chOff x="793790" y="2773204"/>
              <a:chExt cx="4196358" cy="1745575"/>
            </a:xfrm>
          </p:grpSpPr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B39D3578-4C31-CEFB-E055-CF0787D11A9E}"/>
                  </a:ext>
                </a:extLst>
              </p:cNvPr>
              <p:cNvSpPr/>
              <p:nvPr/>
            </p:nvSpPr>
            <p:spPr>
              <a:xfrm>
                <a:off x="793790" y="2773204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 Light" pitchFamily="34" charset="0"/>
                    <a:ea typeface="Gelasio Light" pitchFamily="34" charset="-122"/>
                    <a:cs typeface="Gelasio Light" pitchFamily="34" charset="-120"/>
                  </a:rPr>
                  <a:t>01</a:t>
                </a:r>
                <a:endParaRPr lang="en-US" sz="1750" dirty="0"/>
              </a:p>
            </p:txBody>
          </p:sp>
          <p:sp>
            <p:nvSpPr>
              <p:cNvPr id="5" name="Shape 3">
                <a:extLst>
                  <a:ext uri="{FF2B5EF4-FFF2-40B4-BE49-F238E27FC236}">
                    <a16:creationId xmlns:a16="http://schemas.microsoft.com/office/drawing/2014/main" id="{36ADC9C6-5B5C-89FA-89C6-23665376E278}"/>
                  </a:ext>
                </a:extLst>
              </p:cNvPr>
              <p:cNvSpPr/>
              <p:nvPr/>
            </p:nvSpPr>
            <p:spPr>
              <a:xfrm>
                <a:off x="793790" y="3128248"/>
                <a:ext cx="4196358" cy="30480"/>
              </a:xfrm>
              <a:prstGeom prst="rect">
                <a:avLst/>
              </a:prstGeom>
              <a:solidFill>
                <a:srgbClr val="D3C5B6"/>
              </a:solidFill>
              <a:ln/>
            </p:spPr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27132C9-314D-6250-EB75-C5677B4BD401}"/>
                  </a:ext>
                </a:extLst>
              </p:cNvPr>
              <p:cNvSpPr/>
              <p:nvPr/>
            </p:nvSpPr>
            <p:spPr>
              <a:xfrm>
                <a:off x="793790" y="3302556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Idea &amp; Concept</a:t>
                </a:r>
                <a:endParaRPr lang="en-US" sz="22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D8F1730B-8516-F4E0-774F-32EFAD1B36F0}"/>
                  </a:ext>
                </a:extLst>
              </p:cNvPr>
              <p:cNvSpPr/>
              <p:nvPr/>
            </p:nvSpPr>
            <p:spPr>
              <a:xfrm>
                <a:off x="793790" y="3792974"/>
                <a:ext cx="4196358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Identify gaps, brainstorm features, assess feasibility.</a:t>
                </a:r>
                <a:endParaRPr lang="en-US" sz="175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E1BCACA-FE92-CA08-50C6-4027B259FBA2}"/>
                </a:ext>
              </a:extLst>
            </p:cNvPr>
            <p:cNvGrpSpPr/>
            <p:nvPr/>
          </p:nvGrpSpPr>
          <p:grpSpPr>
            <a:xfrm>
              <a:off x="3769995" y="2773204"/>
              <a:ext cx="3885367" cy="1745575"/>
              <a:chOff x="5216962" y="2773204"/>
              <a:chExt cx="4196358" cy="1745575"/>
            </a:xfrm>
          </p:grpSpPr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9C7AF2E7-1C1A-816B-7193-5A840E44855B}"/>
                  </a:ext>
                </a:extLst>
              </p:cNvPr>
              <p:cNvSpPr/>
              <p:nvPr/>
            </p:nvSpPr>
            <p:spPr>
              <a:xfrm>
                <a:off x="5216962" y="2773204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 Light" pitchFamily="34" charset="0"/>
                    <a:ea typeface="Gelasio Light" pitchFamily="34" charset="-122"/>
                    <a:cs typeface="Gelasio Light" pitchFamily="34" charset="-120"/>
                  </a:rPr>
                  <a:t>02</a:t>
                </a:r>
                <a:endParaRPr lang="en-US" sz="1750" dirty="0"/>
              </a:p>
            </p:txBody>
          </p:sp>
          <p:sp>
            <p:nvSpPr>
              <p:cNvPr id="9" name="Shape 7">
                <a:extLst>
                  <a:ext uri="{FF2B5EF4-FFF2-40B4-BE49-F238E27FC236}">
                    <a16:creationId xmlns:a16="http://schemas.microsoft.com/office/drawing/2014/main" id="{FDE7CD76-6A3C-4DAB-B6B7-08493C5FBD1D}"/>
                  </a:ext>
                </a:extLst>
              </p:cNvPr>
              <p:cNvSpPr/>
              <p:nvPr/>
            </p:nvSpPr>
            <p:spPr>
              <a:xfrm>
                <a:off x="5216962" y="3128248"/>
                <a:ext cx="4196358" cy="30480"/>
              </a:xfrm>
              <a:prstGeom prst="rect">
                <a:avLst/>
              </a:prstGeom>
              <a:solidFill>
                <a:srgbClr val="D3C5B6"/>
              </a:solidFill>
              <a:ln/>
            </p:spPr>
          </p:sp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3A24B0D3-9039-82F2-A427-93DFCEEEC019}"/>
                  </a:ext>
                </a:extLst>
              </p:cNvPr>
              <p:cNvSpPr/>
              <p:nvPr/>
            </p:nvSpPr>
            <p:spPr>
              <a:xfrm>
                <a:off x="5216962" y="3302556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Design &amp; Prototype</a:t>
                </a:r>
                <a:endParaRPr lang="en-US" sz="2200" dirty="0"/>
              </a:p>
            </p:txBody>
          </p:sp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C70E624F-E99E-646D-2043-9A4D18467822}"/>
                  </a:ext>
                </a:extLst>
              </p:cNvPr>
              <p:cNvSpPr/>
              <p:nvPr/>
            </p:nvSpPr>
            <p:spPr>
              <a:xfrm>
                <a:off x="5216962" y="3792974"/>
                <a:ext cx="4196358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modeling, alpha &amp; beta prototype development.</a:t>
                </a:r>
                <a:endParaRPr lang="en-US" sz="175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D75CC6E-81E5-769A-E736-5CC3356A5CE2}"/>
                </a:ext>
              </a:extLst>
            </p:cNvPr>
            <p:cNvGrpSpPr/>
            <p:nvPr/>
          </p:nvGrpSpPr>
          <p:grpSpPr>
            <a:xfrm>
              <a:off x="7796331" y="2784098"/>
              <a:ext cx="4196358" cy="1745575"/>
              <a:chOff x="9640133" y="2773204"/>
              <a:chExt cx="4196358" cy="1745575"/>
            </a:xfrm>
          </p:grpSpPr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FCFFE68C-4E0C-C253-D6A3-D8B6D55E1EE3}"/>
                  </a:ext>
                </a:extLst>
              </p:cNvPr>
              <p:cNvSpPr/>
              <p:nvPr/>
            </p:nvSpPr>
            <p:spPr>
              <a:xfrm>
                <a:off x="9640133" y="2773204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 Light" pitchFamily="34" charset="0"/>
                    <a:ea typeface="Gelasio Light" pitchFamily="34" charset="-122"/>
                    <a:cs typeface="Gelasio Light" pitchFamily="34" charset="-120"/>
                  </a:rPr>
                  <a:t>03</a:t>
                </a:r>
                <a:endParaRPr lang="en-US" sz="1750" dirty="0"/>
              </a:p>
            </p:txBody>
          </p:sp>
          <p:sp>
            <p:nvSpPr>
              <p:cNvPr id="13" name="Shape 11">
                <a:extLst>
                  <a:ext uri="{FF2B5EF4-FFF2-40B4-BE49-F238E27FC236}">
                    <a16:creationId xmlns:a16="http://schemas.microsoft.com/office/drawing/2014/main" id="{CA084412-6E42-7678-7197-8D7E4BCDE9CD}"/>
                  </a:ext>
                </a:extLst>
              </p:cNvPr>
              <p:cNvSpPr/>
              <p:nvPr/>
            </p:nvSpPr>
            <p:spPr>
              <a:xfrm>
                <a:off x="9640133" y="3128248"/>
                <a:ext cx="4196358" cy="30480"/>
              </a:xfrm>
              <a:prstGeom prst="rect">
                <a:avLst/>
              </a:prstGeom>
              <a:solidFill>
                <a:srgbClr val="D3C5B6"/>
              </a:solidFill>
              <a:ln/>
            </p:spPr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010B93D6-45F7-EE71-F62F-543F7E8FB4C6}"/>
                  </a:ext>
                </a:extLst>
              </p:cNvPr>
              <p:cNvSpPr/>
              <p:nvPr/>
            </p:nvSpPr>
            <p:spPr>
              <a:xfrm>
                <a:off x="9640133" y="3302556"/>
                <a:ext cx="3028593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Testing &amp; Refinement</a:t>
                </a:r>
                <a:endParaRPr lang="en-US" sz="22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4107DCB9-8379-38FC-B240-0FC9F9993F24}"/>
                  </a:ext>
                </a:extLst>
              </p:cNvPr>
              <p:cNvSpPr/>
              <p:nvPr/>
            </p:nvSpPr>
            <p:spPr>
              <a:xfrm>
                <a:off x="9640133" y="3792974"/>
                <a:ext cx="4196358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Performance, safety tests, user trials, feedback integration.</a:t>
                </a:r>
                <a:endParaRPr lang="en-US" sz="175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2D7E654-9700-C631-DAA6-C3681A212582}"/>
                </a:ext>
              </a:extLst>
            </p:cNvPr>
            <p:cNvGrpSpPr/>
            <p:nvPr/>
          </p:nvGrpSpPr>
          <p:grpSpPr>
            <a:xfrm>
              <a:off x="139377" y="4753629"/>
              <a:ext cx="5041747" cy="1382674"/>
              <a:chOff x="793790" y="4915614"/>
              <a:chExt cx="6407944" cy="1382674"/>
            </a:xfrm>
          </p:grpSpPr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FBEEC35-431D-D0F6-33EA-D66C4744C4F0}"/>
                  </a:ext>
                </a:extLst>
              </p:cNvPr>
              <p:cNvSpPr/>
              <p:nvPr/>
            </p:nvSpPr>
            <p:spPr>
              <a:xfrm>
                <a:off x="793790" y="4915614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 Light" pitchFamily="34" charset="0"/>
                    <a:ea typeface="Gelasio Light" pitchFamily="34" charset="-122"/>
                    <a:cs typeface="Gelasio Light" pitchFamily="34" charset="-120"/>
                  </a:rPr>
                  <a:t>04</a:t>
                </a:r>
                <a:endParaRPr lang="en-US" sz="175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72C0D94-92A2-6476-813F-735CDD2C4CFC}"/>
                  </a:ext>
                </a:extLst>
              </p:cNvPr>
              <p:cNvGrpSpPr/>
              <p:nvPr/>
            </p:nvGrpSpPr>
            <p:grpSpPr>
              <a:xfrm>
                <a:off x="793790" y="5270659"/>
                <a:ext cx="6407944" cy="1027629"/>
                <a:chOff x="793790" y="5270659"/>
                <a:chExt cx="6407944" cy="1027629"/>
              </a:xfrm>
            </p:grpSpPr>
            <p:sp>
              <p:nvSpPr>
                <p:cNvPr id="17" name="Shape 15">
                  <a:extLst>
                    <a:ext uri="{FF2B5EF4-FFF2-40B4-BE49-F238E27FC236}">
                      <a16:creationId xmlns:a16="http://schemas.microsoft.com/office/drawing/2014/main" id="{2CE66EBC-EA03-C936-6399-A76B184785F0}"/>
                    </a:ext>
                  </a:extLst>
                </p:cNvPr>
                <p:cNvSpPr/>
                <p:nvPr/>
              </p:nvSpPr>
              <p:spPr>
                <a:xfrm>
                  <a:off x="793790" y="5270659"/>
                  <a:ext cx="6407944" cy="30480"/>
                </a:xfrm>
                <a:prstGeom prst="rect">
                  <a:avLst/>
                </a:prstGeom>
                <a:solidFill>
                  <a:srgbClr val="D3C5B6"/>
                </a:solidFill>
                <a:ln/>
              </p:spPr>
            </p:sp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062CA67A-C084-EDB9-2EB6-F28D9642FA66}"/>
                    </a:ext>
                  </a:extLst>
                </p:cNvPr>
                <p:cNvSpPr/>
                <p:nvPr/>
              </p:nvSpPr>
              <p:spPr>
                <a:xfrm>
                  <a:off x="793790" y="5444966"/>
                  <a:ext cx="2976205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dirty="0">
                      <a:solidFill>
                        <a:srgbClr val="746558"/>
                      </a:solidFill>
                      <a:latin typeface="Gelasio Semi Bold" pitchFamily="34" charset="0"/>
                      <a:ea typeface="Gelasio Semi Bold" pitchFamily="34" charset="-122"/>
                      <a:cs typeface="Gelasio Semi Bold" pitchFamily="34" charset="-120"/>
                    </a:rPr>
                    <a:t>Production &amp; Launch</a:t>
                  </a:r>
                  <a:endParaRPr lang="en-US" sz="2200" dirty="0"/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511F076D-7FFE-9FD8-2AFB-3CB5D294357A}"/>
                    </a:ext>
                  </a:extLst>
                </p:cNvPr>
                <p:cNvSpPr/>
                <p:nvPr/>
              </p:nvSpPr>
              <p:spPr>
                <a:xfrm>
                  <a:off x="793790" y="5935385"/>
                  <a:ext cx="6036967" cy="362903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746558"/>
                      </a:solidFill>
                      <a:latin typeface="Gelasio" pitchFamily="34" charset="0"/>
                      <a:ea typeface="Gelasio" pitchFamily="34" charset="-122"/>
                      <a:cs typeface="Gelasio" pitchFamily="34" charset="-120"/>
                    </a:rPr>
                    <a:t>Supply chain setup, manufacturing, targeted marketing.</a:t>
                  </a:r>
                  <a:endParaRPr lang="en-US" sz="1750" dirty="0"/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E26F1FA-F719-7818-9457-F30C850A377E}"/>
                </a:ext>
              </a:extLst>
            </p:cNvPr>
            <p:cNvGrpSpPr/>
            <p:nvPr/>
          </p:nvGrpSpPr>
          <p:grpSpPr>
            <a:xfrm>
              <a:off x="5784056" y="4753629"/>
              <a:ext cx="5884188" cy="1382674"/>
              <a:chOff x="7428548" y="4915614"/>
              <a:chExt cx="6407944" cy="1382674"/>
            </a:xfrm>
          </p:grpSpPr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5922D6DA-CF8C-75B2-D3D8-6EEDBE68CC8D}"/>
                  </a:ext>
                </a:extLst>
              </p:cNvPr>
              <p:cNvSpPr/>
              <p:nvPr/>
            </p:nvSpPr>
            <p:spPr>
              <a:xfrm>
                <a:off x="7428548" y="4915614"/>
                <a:ext cx="226814" cy="28348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 Light" pitchFamily="34" charset="0"/>
                    <a:ea typeface="Gelasio Light" pitchFamily="34" charset="-122"/>
                    <a:cs typeface="Gelasio Light" pitchFamily="34" charset="-120"/>
                  </a:rPr>
                  <a:t>05</a:t>
                </a:r>
                <a:endParaRPr lang="en-US" sz="1750" dirty="0"/>
              </a:p>
            </p:txBody>
          </p:sp>
          <p:sp>
            <p:nvSpPr>
              <p:cNvPr id="21" name="Shape 19">
                <a:extLst>
                  <a:ext uri="{FF2B5EF4-FFF2-40B4-BE49-F238E27FC236}">
                    <a16:creationId xmlns:a16="http://schemas.microsoft.com/office/drawing/2014/main" id="{CB9EC4E2-38C6-F343-50BA-7CDFF2AC5DD2}"/>
                  </a:ext>
                </a:extLst>
              </p:cNvPr>
              <p:cNvSpPr/>
              <p:nvPr/>
            </p:nvSpPr>
            <p:spPr>
              <a:xfrm>
                <a:off x="7428548" y="5270659"/>
                <a:ext cx="6407944" cy="30480"/>
              </a:xfrm>
              <a:prstGeom prst="rect">
                <a:avLst/>
              </a:prstGeom>
              <a:solidFill>
                <a:srgbClr val="D3C5B6"/>
              </a:solidFill>
              <a:ln/>
            </p:spPr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09A2BF45-4BBE-E1E2-385E-421440047693}"/>
                  </a:ext>
                </a:extLst>
              </p:cNvPr>
              <p:cNvSpPr/>
              <p:nvPr/>
            </p:nvSpPr>
            <p:spPr>
              <a:xfrm>
                <a:off x="7428548" y="5444966"/>
                <a:ext cx="3318034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Post-Launch &amp; Improve</a:t>
                </a:r>
                <a:endParaRPr lang="en-US" sz="22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E545306C-2F90-00B9-D95A-A2DBD5ACF788}"/>
                  </a:ext>
                </a:extLst>
              </p:cNvPr>
              <p:cNvSpPr/>
              <p:nvPr/>
            </p:nvSpPr>
            <p:spPr>
              <a:xfrm>
                <a:off x="7428548" y="5935385"/>
                <a:ext cx="6407944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Monitor sales, customer feedback, continuous upgrades.</a:t>
                </a:r>
                <a:endParaRPr lang="en-US" sz="1750" dirty="0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230031-947E-5064-A207-F0A42690F8E2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0659B0C-FBD9-1B20-616D-CD00301025FE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A178245-FF49-0660-F07B-FC9E50581BE5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1B76D091-84FC-0105-7595-2E95C6FAB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9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9BB4-1521-986C-93BE-8B9CCA14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23" y="104616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Opportunity Evaluation &amp; Potential Projects Potential projects</a:t>
            </a:r>
            <a:endParaRPr lang="en-IN" sz="36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A82B-4A8A-9382-E5AD-067CA18B0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23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• Develop a solar panel integration kit for other e-bikes </a:t>
            </a:r>
          </a:p>
          <a:p>
            <a:pPr marL="0" indent="0">
              <a:buNone/>
            </a:pPr>
            <a:r>
              <a:rPr lang="en-US" sz="2400" dirty="0"/>
              <a:t>• GPS anti-theft app subscription service </a:t>
            </a:r>
          </a:p>
          <a:p>
            <a:pPr marL="0" indent="0">
              <a:buNone/>
            </a:pPr>
            <a:r>
              <a:rPr lang="en-US" sz="2400" dirty="0"/>
              <a:t>• Student commuter package with EMI options. </a:t>
            </a:r>
          </a:p>
          <a:p>
            <a:pPr marL="0" indent="0">
              <a:buNone/>
            </a:pPr>
            <a:r>
              <a:rPr lang="en-US" sz="2400" dirty="0"/>
              <a:t>• Rising fuel costs leading to a shift towards e-mobility and Increased interest in renewable energy and self-sustaining products. </a:t>
            </a:r>
          </a:p>
          <a:p>
            <a:pPr marL="0" indent="0">
              <a:buNone/>
            </a:pPr>
            <a:r>
              <a:rPr lang="en-US" sz="2400" dirty="0"/>
              <a:t>• Growth in cycling as an urban commute trend.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D2F72-308E-236D-2387-441AB7B82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6AB3AA-2396-648A-4D57-7AD74D895A3A}"/>
              </a:ext>
            </a:extLst>
          </p:cNvPr>
          <p:cNvSpPr/>
          <p:nvPr/>
        </p:nvSpPr>
        <p:spPr>
          <a:xfrm>
            <a:off x="418323" y="2444620"/>
            <a:ext cx="10022632" cy="32377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2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9836-4EF5-7692-D0DD-EE3887C3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49" y="365127"/>
            <a:ext cx="10607351" cy="1325563"/>
          </a:xfrm>
        </p:spPr>
        <p:txBody>
          <a:bodyPr/>
          <a:lstStyle/>
          <a:p>
            <a:r>
              <a:rPr lang="en-IN" b="1" u="sng" dirty="0"/>
              <a:t>Mission &amp; Vision for our e-cycle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0257-BBAB-E9E4-E61C-93AEDEF8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Mission Statement:</a:t>
            </a:r>
          </a:p>
          <a:p>
            <a:pPr marL="0" indent="0">
              <a:buNone/>
            </a:pPr>
            <a:r>
              <a:rPr lang="en-US" dirty="0"/>
              <a:t>To deliver affordable, eco-friendly, and technologically advanced mobility solutions that empower urban riders to travel smarter, safer, and more sustainably.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Vision Statement:</a:t>
            </a:r>
          </a:p>
          <a:p>
            <a:pPr marL="0" indent="0">
              <a:buNone/>
            </a:pPr>
            <a:r>
              <a:rPr lang="en-US" dirty="0"/>
              <a:t>To be the most trusted and innovative brand in smart e-mobility, driving the global shift towards renewable-powered transportation.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7F7E9A-BF72-8994-6E28-4B6609CAD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EFD154-90B2-7149-CAB7-B84E937114CB}"/>
              </a:ext>
            </a:extLst>
          </p:cNvPr>
          <p:cNvSpPr/>
          <p:nvPr/>
        </p:nvSpPr>
        <p:spPr>
          <a:xfrm>
            <a:off x="839755" y="1828800"/>
            <a:ext cx="10512490" cy="17914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5C5F3-398F-6076-2C09-79EACC6B59D4}"/>
              </a:ext>
            </a:extLst>
          </p:cNvPr>
          <p:cNvSpPr/>
          <p:nvPr/>
        </p:nvSpPr>
        <p:spPr>
          <a:xfrm>
            <a:off x="839755" y="3993502"/>
            <a:ext cx="10512490" cy="209005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49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13FD-80DE-A522-DFAB-BA732C5E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/>
              <a:t>Business 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21B7E-6B9A-396F-01CF-731E2BE1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Capture 15% of the Indian e-bike market within five years of launch. </a:t>
            </a:r>
          </a:p>
          <a:p>
            <a:pPr marL="0" indent="0">
              <a:buNone/>
            </a:pPr>
            <a:r>
              <a:rPr lang="en-US" sz="2400" dirty="0"/>
              <a:t>2. Maintain product affordability with the base model priced under ₹50,000-1,00,000. </a:t>
            </a:r>
          </a:p>
          <a:p>
            <a:pPr marL="0" indent="0">
              <a:buNone/>
            </a:pPr>
            <a:r>
              <a:rPr lang="en-US" sz="2400" dirty="0"/>
              <a:t>3. Integrate 100% renewable charging capabilities across all future product lines. </a:t>
            </a:r>
          </a:p>
          <a:p>
            <a:pPr marL="0" indent="0">
              <a:buNone/>
            </a:pPr>
            <a:r>
              <a:rPr lang="en-US" sz="2400" dirty="0"/>
              <a:t>4. Expand operations into at least five international markets by 2030. </a:t>
            </a:r>
          </a:p>
          <a:p>
            <a:pPr marL="0" indent="0">
              <a:buNone/>
            </a:pPr>
            <a:r>
              <a:rPr lang="en-US" sz="2400" dirty="0"/>
              <a:t>5. Establish a subscription-based smart services model for GPS tracking and ride analytics.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E8CAD-BCBF-9354-D0D6-9349AF589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B512C1-D164-7714-0624-0B5C668239A3}"/>
              </a:ext>
            </a:extLst>
          </p:cNvPr>
          <p:cNvSpPr/>
          <p:nvPr/>
        </p:nvSpPr>
        <p:spPr>
          <a:xfrm>
            <a:off x="838200" y="1690690"/>
            <a:ext cx="10330543" cy="3571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81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F2083-5FC8-FB88-A930-EBF4E498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7D6C-28F1-BDE9-2CD3-C404812A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2" y="1341129"/>
            <a:ext cx="10416073" cy="1391914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595149"/>
                </a:solidFill>
                <a:latin typeface="Arial Black" panose="020B0A04020102020204" pitchFamily="34" charset="0"/>
              </a:rPr>
              <a:t>ELECTRIC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A5CE5-4CA9-B39B-1E7D-3ED17BEFD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27" y="1493320"/>
            <a:ext cx="7389844" cy="1655762"/>
          </a:xfrm>
        </p:spPr>
        <p:txBody>
          <a:bodyPr/>
          <a:lstStyle/>
          <a:p>
            <a:pPr algn="l"/>
            <a:r>
              <a:rPr lang="en-IN" dirty="0">
                <a:solidFill>
                  <a:srgbClr val="595149"/>
                </a:solidFill>
                <a:latin typeface="Arial Rounded MT Bold" panose="020F0704030504030204" pitchFamily="34" charset="0"/>
              </a:rPr>
              <a:t>CASE STUDY -2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7BE52F-D805-8A70-C3D8-C27EAB18BE84}"/>
              </a:ext>
            </a:extLst>
          </p:cNvPr>
          <p:cNvSpPr/>
          <p:nvPr/>
        </p:nvSpPr>
        <p:spPr>
          <a:xfrm>
            <a:off x="1" y="2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DD0C9-A4C4-1E13-67E9-FBAA9327D0C5}"/>
              </a:ext>
            </a:extLst>
          </p:cNvPr>
          <p:cNvSpPr/>
          <p:nvPr/>
        </p:nvSpPr>
        <p:spPr>
          <a:xfrm>
            <a:off x="0" y="6266983"/>
            <a:ext cx="12191999" cy="5910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91DC09A-27DF-CA4D-E103-F6E4D2D7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67" y="591017"/>
            <a:ext cx="3850432" cy="56759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6AFA4-21CC-EB91-F889-5C693ED82426}"/>
              </a:ext>
            </a:extLst>
          </p:cNvPr>
          <p:cNvSpPr txBox="1"/>
          <p:nvPr/>
        </p:nvSpPr>
        <p:spPr>
          <a:xfrm>
            <a:off x="251928" y="2968973"/>
            <a:ext cx="8138093" cy="229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IN" sz="2000" dirty="0">
                <a:solidFill>
                  <a:srgbClr val="595149"/>
                </a:solidFill>
              </a:rPr>
              <a:t>The proposed product is a next-generation electric bicycle combining eco-friendly transportation with advanced smart features, designed to meet the growing needs of urban commuters, students, and environmentally conscious riders.</a:t>
            </a:r>
            <a:br>
              <a:rPr lang="en-IN" sz="2000" dirty="0">
                <a:solidFill>
                  <a:srgbClr val="595149"/>
                </a:solidFill>
              </a:rPr>
            </a:br>
            <a:r>
              <a:rPr lang="en-IN" sz="2000" dirty="0">
                <a:solidFill>
                  <a:srgbClr val="595149"/>
                </a:solidFill>
              </a:rPr>
              <a:t>This E-Bike (Smart Pedalling with Electric Drive) integrates multiple innovations</a:t>
            </a:r>
            <a:endParaRPr lang="en-US" sz="2000" dirty="0">
              <a:solidFill>
                <a:srgbClr val="59514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5679B-5A79-AB47-EAB6-55E05893F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3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9827-D21D-9412-D317-3919331D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823913"/>
          </a:xfrm>
        </p:spPr>
        <p:txBody>
          <a:bodyPr/>
          <a:lstStyle/>
          <a:p>
            <a:r>
              <a:rPr lang="en-US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Needs &amp; Features of product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344DB-8AE5-F436-6BEF-2B5FE29D7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7207" y="1681163"/>
            <a:ext cx="5157787" cy="427555"/>
          </a:xfrm>
        </p:spPr>
        <p:txBody>
          <a:bodyPr/>
          <a:lstStyle/>
          <a:p>
            <a:r>
              <a:rPr lang="en-IN" u="sng" dirty="0"/>
              <a:t>Customer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343F3-8B1B-1C2C-9A41-7B8A46890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207" y="2108718"/>
            <a:ext cx="5157787" cy="408094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an e-bike that is lightweight but sturdy.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It should allow me to ride smoothly without much effort.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need to charge it even without access to electricity.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It should have good braking for safety.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to track my bike in case it gets stolen.</a:t>
            </a:r>
          </a:p>
          <a:p>
            <a:pPr marL="514350" indent="-514350">
              <a:buAutoNum type="arabicPeriod"/>
            </a:pPr>
            <a:r>
              <a:rPr lang="en-IN" dirty="0">
                <a:solidFill>
                  <a:srgbClr val="595149"/>
                </a:solidFill>
              </a:rPr>
              <a:t>I prefer detachable storage.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minimal maintenance needs.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it to be suitable for both city and campus rides.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need an easy-to-read display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595149"/>
                </a:solidFill>
              </a:rPr>
              <a:t>I want it to be stylish and modern looking. 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E96F1-C500-0C7C-1204-5FEB170D5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427555"/>
          </a:xfrm>
        </p:spPr>
        <p:txBody>
          <a:bodyPr/>
          <a:lstStyle/>
          <a:p>
            <a:r>
              <a:rPr lang="en-IN" u="sng" dirty="0"/>
              <a:t>Product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12362-A6F1-7306-312A-5A1E79E72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108718"/>
            <a:ext cx="5183188" cy="4488025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ea typeface="Gelasio" pitchFamily="34" charset="-122"/>
                <a:cs typeface="Gelasio" panose="020B0604020202020204" charset="0"/>
              </a:rPr>
              <a:t>Lightweight alloy frame (≤ 20 kg), weatherproof components, and a lifespan of ≥ 5 years.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Torque + cadence sensors, pedal assist + throttle, programmable controller, brushless silent motor.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Dual charging via solar and plug-in with fast charging ≤ 3 hrs. Added pedal-to charge mode enables on ride regeneration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Hydraulic disc brakes with short stopping distance. Puncture-resistant, durable </a:t>
            </a:r>
            <a:r>
              <a:rPr lang="en-US" sz="2700" dirty="0" err="1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tyres</a:t>
            </a: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GPS tracker + mobile app integration.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Modular detachable storage (5–10 L).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Modular replaceable parts, energy-efficient system, product warranty.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suspension, multipurpose tyres.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Digital LCD/LED display with speed, battery, GPS.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>
                <a:solidFill>
                  <a:srgbClr val="595149"/>
                </a:solidFill>
                <a:latin typeface="Gelasio" panose="020B0604020202020204" charset="0"/>
                <a:cs typeface="Gelasio" panose="020B0604020202020204" charset="0"/>
              </a:rPr>
              <a:t>Sleek modern design with aerodynamic frame.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>
              <a:solidFill>
                <a:srgbClr val="595149"/>
              </a:solidFill>
              <a:latin typeface="Gelasio" panose="020B0604020202020204" charset="0"/>
              <a:ea typeface="Gelasio" pitchFamily="34" charset="-122"/>
              <a:cs typeface="Gelasio" panose="020B060402020202020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746558"/>
              </a:solidFill>
              <a:latin typeface="Gal"/>
              <a:ea typeface="Gelasio" pitchFamily="34" charset="-122"/>
              <a:cs typeface="Gelasio" pitchFamily="34" charset="-120"/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solidFill>
                <a:srgbClr val="93867A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70FEF1-EAA2-AEC4-C176-3B3823C2C5E2}"/>
              </a:ext>
            </a:extLst>
          </p:cNvPr>
          <p:cNvGrpSpPr/>
          <p:nvPr/>
        </p:nvGrpSpPr>
        <p:grpSpPr>
          <a:xfrm>
            <a:off x="0" y="2"/>
            <a:ext cx="12192000" cy="6857996"/>
            <a:chOff x="0" y="2"/>
            <a:chExt cx="12192000" cy="68579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565B91-3883-0E6B-348F-CE0C2046107F}"/>
                </a:ext>
              </a:extLst>
            </p:cNvPr>
            <p:cNvSpPr/>
            <p:nvPr/>
          </p:nvSpPr>
          <p:spPr>
            <a:xfrm>
              <a:off x="1" y="2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251570-0B06-6EA0-819B-46628D61F983}"/>
                </a:ext>
              </a:extLst>
            </p:cNvPr>
            <p:cNvSpPr/>
            <p:nvPr/>
          </p:nvSpPr>
          <p:spPr>
            <a:xfrm>
              <a:off x="0" y="6266983"/>
              <a:ext cx="12191999" cy="59101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231CDEF-41B1-9E1E-E2EE-6B06220C3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0B5BFC-1CF0-92E9-6A85-72C41847237A}"/>
              </a:ext>
            </a:extLst>
          </p:cNvPr>
          <p:cNvSpPr/>
          <p:nvPr/>
        </p:nvSpPr>
        <p:spPr>
          <a:xfrm>
            <a:off x="6096000" y="1681163"/>
            <a:ext cx="5548605" cy="45513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64F0E5-7079-FF43-7066-7B39DB9BE074}"/>
              </a:ext>
            </a:extLst>
          </p:cNvPr>
          <p:cNvSpPr/>
          <p:nvPr/>
        </p:nvSpPr>
        <p:spPr>
          <a:xfrm>
            <a:off x="507206" y="1640355"/>
            <a:ext cx="5157787" cy="45921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228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958B-8BE3-9704-43CC-4FC7BD86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961" y="733329"/>
            <a:ext cx="11806989" cy="4423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595149"/>
                </a:solidFill>
                <a:latin typeface="+mn-lt"/>
              </a:rPr>
              <a:t> Customer Needs vs. Competitors</a:t>
            </a:r>
            <a:endParaRPr lang="en-IN" sz="4000" b="1" dirty="0">
              <a:solidFill>
                <a:srgbClr val="595149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C14A8F-470C-26A7-1945-8B88C8A5F6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720479"/>
              </p:ext>
            </p:extLst>
          </p:nvPr>
        </p:nvGraphicFramePr>
        <p:xfrm>
          <a:off x="112294" y="1285934"/>
          <a:ext cx="11806992" cy="4961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832">
                  <a:extLst>
                    <a:ext uri="{9D8B030D-6E8A-4147-A177-3AD203B41FA5}">
                      <a16:colId xmlns:a16="http://schemas.microsoft.com/office/drawing/2014/main" val="1938518973"/>
                    </a:ext>
                  </a:extLst>
                </a:gridCol>
                <a:gridCol w="1967832">
                  <a:extLst>
                    <a:ext uri="{9D8B030D-6E8A-4147-A177-3AD203B41FA5}">
                      <a16:colId xmlns:a16="http://schemas.microsoft.com/office/drawing/2014/main" val="3467546544"/>
                    </a:ext>
                  </a:extLst>
                </a:gridCol>
                <a:gridCol w="1967832">
                  <a:extLst>
                    <a:ext uri="{9D8B030D-6E8A-4147-A177-3AD203B41FA5}">
                      <a16:colId xmlns:a16="http://schemas.microsoft.com/office/drawing/2014/main" val="3423356805"/>
                    </a:ext>
                  </a:extLst>
                </a:gridCol>
                <a:gridCol w="1967832">
                  <a:extLst>
                    <a:ext uri="{9D8B030D-6E8A-4147-A177-3AD203B41FA5}">
                      <a16:colId xmlns:a16="http://schemas.microsoft.com/office/drawing/2014/main" val="2327665792"/>
                    </a:ext>
                  </a:extLst>
                </a:gridCol>
                <a:gridCol w="1967832">
                  <a:extLst>
                    <a:ext uri="{9D8B030D-6E8A-4147-A177-3AD203B41FA5}">
                      <a16:colId xmlns:a16="http://schemas.microsoft.com/office/drawing/2014/main" val="4087502787"/>
                    </a:ext>
                  </a:extLst>
                </a:gridCol>
                <a:gridCol w="1967832">
                  <a:extLst>
                    <a:ext uri="{9D8B030D-6E8A-4147-A177-3AD203B41FA5}">
                      <a16:colId xmlns:a16="http://schemas.microsoft.com/office/drawing/2014/main" val="1482777905"/>
                    </a:ext>
                  </a:extLst>
                </a:gridCol>
              </a:tblGrid>
              <a:tr h="581866">
                <a:tc>
                  <a:txBody>
                    <a:bodyPr/>
                    <a:lstStyle/>
                    <a:p>
                      <a:r>
                        <a:rPr lang="en-IN" dirty="0"/>
                        <a:t>Customer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Hero </a:t>
                      </a:r>
                      <a:r>
                        <a:rPr lang="en-IN" dirty="0" err="1"/>
                        <a:t>Lectro</a:t>
                      </a:r>
                      <a:r>
                        <a:rPr lang="en-IN" dirty="0"/>
                        <a:t> EHX20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Merida </a:t>
                      </a:r>
                      <a:r>
                        <a:rPr lang="en-IN" dirty="0" err="1"/>
                        <a:t>eBig.Nine</a:t>
                      </a:r>
                      <a:r>
                        <a:rPr lang="en-IN" dirty="0"/>
                        <a:t>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RadCity</a:t>
                      </a:r>
                      <a:r>
                        <a:rPr lang="en-IN" dirty="0"/>
                        <a:t> 5 Plus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Giant Explore E+2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Our Smart E-Bike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36786"/>
                  </a:ext>
                </a:extLst>
              </a:tr>
              <a:tr h="47103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Lightweight, durable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lasio" panose="020B0604020202020204" charset="0"/>
                          <a:cs typeface="Gelasio" panose="020B0604020202020204" charset="0"/>
                        </a:rPr>
                        <a:t>High (≤20 kg alloy frame)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489021"/>
                  </a:ext>
                </a:extLst>
              </a:tr>
              <a:tr h="47103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Pedal-to charge / regeneration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No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No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Partial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No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Yes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25896"/>
                  </a:ext>
                </a:extLst>
              </a:tr>
              <a:tr h="47103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Pedal assist + throttle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Assist only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Yes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Yes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Yes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  <a:p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lasio" panose="020B0604020202020204" charset="0"/>
                          <a:cs typeface="Gelasio" panose="020B0604020202020204" charset="0"/>
                        </a:rPr>
                        <a:t>Full hybrid (assist + throttle) </a:t>
                      </a:r>
                      <a:endParaRPr lang="en-IN" sz="14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158609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Solar charging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 (dual charging)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6305665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Fast charging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Partial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Partial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 (≤3 hrs)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1407569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GPS tracking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543027"/>
                  </a:ext>
                </a:extLst>
              </a:tr>
              <a:tr h="2770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Braking safety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392688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Mechanical</a:t>
                      </a:r>
                    </a:p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cs typeface="Gelasio" panose="020B0604020202020204" charset="0"/>
                        </a:rPr>
                        <a:t>    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Hydraulic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Mechanical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Hydraulic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Hydraulic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N" sz="140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84054"/>
                  </a:ext>
                </a:extLst>
              </a:tr>
              <a:tr h="4271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Puncture-resistant tyres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804634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Storage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Basic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Detachable 5–10 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0171797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Comfort for long rides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Average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Good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213330"/>
                  </a:ext>
                </a:extLst>
              </a:tr>
              <a:tr h="235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Affordability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₹1.3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₹2.8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₹1.65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₹2.25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₹0.5–1.0 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2035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0DC9EC9-AA18-7466-2938-3EC22DD51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54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B5B8-8CE2-6400-FB9B-717AE0F0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22" y="512615"/>
            <a:ext cx="10515600" cy="775010"/>
          </a:xfrm>
        </p:spPr>
        <p:txBody>
          <a:bodyPr/>
          <a:lstStyle/>
          <a:p>
            <a:r>
              <a:rPr lang="en-IN" b="1" u="sng" dirty="0">
                <a:solidFill>
                  <a:srgbClr val="595149"/>
                </a:solidFill>
              </a:rPr>
              <a:t>Benchmarking on Metrics</a:t>
            </a:r>
            <a:endParaRPr lang="en-IN" dirty="0">
              <a:solidFill>
                <a:srgbClr val="595149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6A5AC9B-B38B-C325-5194-26E27652B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954681"/>
              </p:ext>
            </p:extLst>
          </p:nvPr>
        </p:nvGraphicFramePr>
        <p:xfrm>
          <a:off x="454990" y="1384605"/>
          <a:ext cx="10964778" cy="4853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463">
                  <a:extLst>
                    <a:ext uri="{9D8B030D-6E8A-4147-A177-3AD203B41FA5}">
                      <a16:colId xmlns:a16="http://schemas.microsoft.com/office/drawing/2014/main" val="3205697484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595900197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385927610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30436770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3686390441"/>
                    </a:ext>
                  </a:extLst>
                </a:gridCol>
                <a:gridCol w="1827463">
                  <a:extLst>
                    <a:ext uri="{9D8B030D-6E8A-4147-A177-3AD203B41FA5}">
                      <a16:colId xmlns:a16="http://schemas.microsoft.com/office/drawing/2014/main" val="2020901466"/>
                    </a:ext>
                  </a:extLst>
                </a:gridCol>
              </a:tblGrid>
              <a:tr h="497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Metric</a:t>
                      </a:r>
                      <a:endParaRPr lang="en-IN" sz="1200" kern="100" dirty="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 </a:t>
                      </a:r>
                      <a:endParaRPr lang="en-IN" sz="1200" kern="100" dirty="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Hero Lectro EHX20</a:t>
                      </a:r>
                      <a:endParaRPr lang="en-IN" sz="1200" kern="10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Merida eBig.Nine 400</a:t>
                      </a:r>
                      <a:endParaRPr lang="en-IN" sz="1200" kern="10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RadCity 5 Plus</a:t>
                      </a:r>
                      <a:endParaRPr lang="en-IN" sz="1200" kern="10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Giant Explore E+2</a:t>
                      </a:r>
                      <a:endParaRPr lang="en-IN" sz="1200" kern="10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b="1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Our Smart E-Bike</a:t>
                      </a:r>
                      <a:endParaRPr lang="en-IN" sz="1200" kern="100">
                        <a:effectLst/>
                        <a:latin typeface="Gelasio" panose="020B0604020202020204" charset="0"/>
                        <a:ea typeface="Calibri" panose="020F0502020204030204" pitchFamily="34" charset="0"/>
                        <a:cs typeface="Gelasio" panose="020B060402020202020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3594070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Battery Range (km)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60–70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100+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70–80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100+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100-150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0124355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Charging Time (hrs)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5–6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4–5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4–5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3-4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4848929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Motor Power (W)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250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350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250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350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350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0258082"/>
                  </a:ext>
                </a:extLst>
              </a:tr>
              <a:tr h="392850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Regen availability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Yes (pedal + brake + stand)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327923"/>
                  </a:ext>
                </a:extLst>
              </a:tr>
              <a:tr h="439503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Net pedal-charge power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100–150 W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34889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Added range from 30 min pedal-charge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Gelasio" panose="020B0604020202020204" charset="0"/>
                          <a:ea typeface="+mn-ea"/>
                          <a:cs typeface="Gelasio" panose="020B0604020202020204" charset="0"/>
                        </a:rPr>
                        <a:t>5–8 A at 36–48 V</a:t>
                      </a:r>
                      <a:endParaRPr lang="en-IN" sz="1200" dirty="0">
                        <a:latin typeface="Gelasio" panose="020B0604020202020204" charset="0"/>
                        <a:cs typeface="Gelasi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005025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GPS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Yes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0856945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Solar Charging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30–40 km/day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219230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Storage (L)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Basic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Detachable 5–10 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2134908"/>
                  </a:ext>
                </a:extLst>
              </a:tr>
              <a:tr h="3621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Price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₹1.3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₹2.8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₹1.65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₹2.25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Gelasio" panose="020B0604020202020204" charset="0"/>
                          <a:ea typeface="Calibri" panose="020F0502020204030204" pitchFamily="34" charset="0"/>
                          <a:cs typeface="Gelasio" panose="020B0604020202020204" charset="0"/>
                        </a:rPr>
                        <a:t>₹0.5–1.0 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84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718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DB19AC0-2010-7EA6-F4D8-8B386D7CB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3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B606-A2C1-3D0D-B4B9-9311A16E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4727"/>
            <a:ext cx="10515600" cy="597399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rgbClr val="595149"/>
                </a:solidFill>
              </a:rPr>
              <a:t>Problem Clarification &amp; Sub-Problems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51662-E5E4-2803-4743-EC8A4095C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166881"/>
              </p:ext>
            </p:extLst>
          </p:nvPr>
        </p:nvGraphicFramePr>
        <p:xfrm>
          <a:off x="838203" y="1572126"/>
          <a:ext cx="10515597" cy="410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699433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02487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83058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Sub-Problems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Marginal Specification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Ideal Specification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2076932"/>
                  </a:ext>
                </a:extLst>
              </a:tr>
              <a:tr h="1304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 km range; plug-in charging 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150 km range; solar + plug-in dual charging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96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Drive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 W motor; pedal assist 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350 W silent motor; assist + throttle; torque sensors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15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Safety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Mechanical brakes; basic tyres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Hydraulic brakes; puncture-proof tyres; lights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2872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Phone GPS only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Built-in GPS with anti-theft; mobile app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221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Pedal-to-charge (regen)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Brake-only regen; ≤ 80 W avg; simple on/off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Pedal + brake + stand modes; 100–150 W continuous, 200–250 W peak; efficiency ≥ 75%; user-selectable resistance; BMS with dynamic regen current limit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42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Basic carrier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Modular detachable storage (5–10 L)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759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Comfort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Average saddle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Ergonomic saddle + suspension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87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₹1.3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₹1.0 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9483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6A7FB07-9F8D-084E-BA32-7A46641FD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98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2CB1-6B65-98A1-1AA3-AB33B3B5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595149"/>
                </a:solidFill>
              </a:rPr>
              <a:t>Need–Metric Analysis</a:t>
            </a:r>
            <a:endParaRPr lang="en-IN" dirty="0">
              <a:solidFill>
                <a:srgbClr val="595149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A3DA60-5B6E-BDFC-3DA0-F23B61FDE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821477"/>
              </p:ext>
            </p:extLst>
          </p:nvPr>
        </p:nvGraphicFramePr>
        <p:xfrm>
          <a:off x="838200" y="1464907"/>
          <a:ext cx="10515600" cy="4686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007400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291600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0248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0273242"/>
                    </a:ext>
                  </a:extLst>
                </a:gridCol>
              </a:tblGrid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Need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Engineering Metric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Marginal Value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Ideal Value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2405032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 battery life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Range (km/charge)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150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1408285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Solar charging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Solar output (km/day)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40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8298953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Smooth riding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Sensor response (ms)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200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4573174"/>
                  </a:ext>
                </a:extLst>
              </a:tr>
              <a:tr h="669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Charge while pedalling / stationary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 pedal-charge power (W); Energy in 30 min (Wh); Added range per 30 min (km)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≤30%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100–150 W; 50–70 Wh; 3–7 km; ≥ 75%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4767932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Safety braking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Stopping distance (m @25 km/h)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7808460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Theft protection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GPS accuracy (m)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3596571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Storage capacity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Volume (L)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9431412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Comfort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Ergonomic rating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8073608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Display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Visibility rating (1–5)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≥ 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904127"/>
                  </a:ext>
                </a:extLst>
              </a:tr>
              <a:tr h="40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Affordability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Price (₹)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1.3 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26797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4968240" algn="l"/>
                        </a:tabLst>
                      </a:pPr>
                      <a:r>
                        <a:rPr lang="en-IN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≤ 1.0 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01835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438BCA6-7DE9-F96E-A1F0-D17068574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97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45B8-CAE7-0796-A80B-A3D52A55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188"/>
            <a:ext cx="10515600" cy="410645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External &amp; Internal Search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7142-B987-BC6B-9577-13B52707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External Search:</a:t>
            </a:r>
            <a:endParaRPr lang="en-IN" dirty="0"/>
          </a:p>
          <a:p>
            <a:pPr lvl="0"/>
            <a:r>
              <a:rPr lang="en-IN" dirty="0"/>
              <a:t>Competitor benchmarking (Hero </a:t>
            </a:r>
            <a:r>
              <a:rPr lang="en-IN" dirty="0" err="1"/>
              <a:t>Lectro</a:t>
            </a:r>
            <a:r>
              <a:rPr lang="en-IN" dirty="0"/>
              <a:t>, Merida, </a:t>
            </a:r>
            <a:r>
              <a:rPr lang="en-IN" dirty="0" err="1"/>
              <a:t>RadCity</a:t>
            </a:r>
            <a:r>
              <a:rPr lang="en-IN" dirty="0"/>
              <a:t>, Giant).</a:t>
            </a:r>
          </a:p>
          <a:p>
            <a:pPr lvl="0"/>
            <a:r>
              <a:rPr lang="en-IN" dirty="0"/>
              <a:t>Supplier research: solar panels, GPS modules, regen lithium-ion batteries.</a:t>
            </a:r>
          </a:p>
          <a:p>
            <a:pPr lvl="0"/>
            <a:r>
              <a:rPr lang="en-IN" dirty="0"/>
              <a:t>Customer surveys: urban commuters, students, delivery riders.</a:t>
            </a:r>
          </a:p>
          <a:p>
            <a:pPr lvl="0"/>
            <a:r>
              <a:rPr lang="en-IN" dirty="0"/>
              <a:t>Literature: global e-bike adoption trends (CAGR ~10%).</a:t>
            </a:r>
          </a:p>
          <a:p>
            <a:pPr lvl="0"/>
            <a:endParaRPr lang="en-IN" dirty="0"/>
          </a:p>
          <a:p>
            <a:r>
              <a:rPr lang="en-IN" b="1" dirty="0"/>
              <a:t>Internal Search:</a:t>
            </a:r>
            <a:endParaRPr lang="en-IN" dirty="0"/>
          </a:p>
          <a:p>
            <a:pPr lvl="0"/>
            <a:r>
              <a:rPr lang="en-IN" dirty="0"/>
              <a:t>Brainstorming and modelling of frame + solar integration + pedal to charge .</a:t>
            </a:r>
          </a:p>
          <a:p>
            <a:pPr lvl="0"/>
            <a:r>
              <a:rPr lang="en-IN" dirty="0"/>
              <a:t>Existing know-how in alloy frame design and lightweight systems.</a:t>
            </a:r>
          </a:p>
          <a:p>
            <a:pPr lvl="0"/>
            <a:r>
              <a:rPr lang="en-IN" dirty="0"/>
              <a:t>Prototyping with modular storage, display and GPS app.</a:t>
            </a:r>
          </a:p>
          <a:p>
            <a:pPr lvl="0"/>
            <a:r>
              <a:rPr lang="en-IN" dirty="0"/>
              <a:t>Supplier collaboration for motor, tyres, and brakes.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B166B-7039-5E36-9FB0-920FF7731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260" y="2"/>
            <a:ext cx="723739" cy="5910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8C590B-72B2-4221-B262-233A591DD171}"/>
              </a:ext>
            </a:extLst>
          </p:cNvPr>
          <p:cNvSpPr/>
          <p:nvPr/>
        </p:nvSpPr>
        <p:spPr>
          <a:xfrm>
            <a:off x="328613" y="1607087"/>
            <a:ext cx="11025187" cy="213448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F20E0-873C-7E9B-E2B3-00C564A5323D}"/>
              </a:ext>
            </a:extLst>
          </p:cNvPr>
          <p:cNvSpPr/>
          <p:nvPr/>
        </p:nvSpPr>
        <p:spPr>
          <a:xfrm>
            <a:off x="328613" y="3850367"/>
            <a:ext cx="11025187" cy="22705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75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233</TotalTime>
  <Words>1882</Words>
  <Application>Microsoft Office PowerPoint</Application>
  <PresentationFormat>Widescreen</PresentationFormat>
  <Paragraphs>375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Black</vt:lpstr>
      <vt:lpstr>Arial Rounded MT Bold</vt:lpstr>
      <vt:lpstr>Calibri</vt:lpstr>
      <vt:lpstr>Calibri Light</vt:lpstr>
      <vt:lpstr>Gal</vt:lpstr>
      <vt:lpstr>Gelasio</vt:lpstr>
      <vt:lpstr>Gelasio Light</vt:lpstr>
      <vt:lpstr>Gelasio Semi Bold</vt:lpstr>
      <vt:lpstr>Office Theme</vt:lpstr>
      <vt:lpstr>ELECTRIC CYCLE</vt:lpstr>
      <vt:lpstr>FEATURES OF E-CYCLE </vt:lpstr>
      <vt:lpstr>CUSTOMER STATEMENTS</vt:lpstr>
      <vt:lpstr>CUSTOMER STATEMENTS</vt:lpstr>
      <vt:lpstr>Market Study: Existing Products, Features, Costs</vt:lpstr>
      <vt:lpstr>Hero Lectro EHX20 (India) </vt:lpstr>
      <vt:lpstr>Merida eBig.Nine 400 </vt:lpstr>
      <vt:lpstr>Rad Power Bikes RadCity 5 Plus (US)</vt:lpstr>
      <vt:lpstr>Giant Explore E+ 2 </vt:lpstr>
      <vt:lpstr>E-Bike Market Trends &amp; Competitors</vt:lpstr>
      <vt:lpstr>Opportunity Gap &amp; Desired Features </vt:lpstr>
      <vt:lpstr>PowerPoint Presentation</vt:lpstr>
      <vt:lpstr>Opportunity Evaluation &amp; Potential Projects Potential projects</vt:lpstr>
      <vt:lpstr>Mission &amp; Vision for our e-cycle</vt:lpstr>
      <vt:lpstr>Business Goals </vt:lpstr>
      <vt:lpstr>ELECTRIC CYCLE</vt:lpstr>
      <vt:lpstr>Customer Needs &amp; Features of product</vt:lpstr>
      <vt:lpstr> Customer Needs vs. Competitors</vt:lpstr>
      <vt:lpstr>Benchmarking on Metrics</vt:lpstr>
      <vt:lpstr>Problem Clarification &amp; Sub-Problems </vt:lpstr>
      <vt:lpstr>Need–Metric Analysis</vt:lpstr>
      <vt:lpstr>External &amp; Internal 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lawanya</dc:creator>
  <cp:lastModifiedBy>navya lawanya</cp:lastModifiedBy>
  <cp:revision>7</cp:revision>
  <dcterms:created xsi:type="dcterms:W3CDTF">2025-09-02T18:16:25Z</dcterms:created>
  <dcterms:modified xsi:type="dcterms:W3CDTF">2025-09-05T04:31:10Z</dcterms:modified>
</cp:coreProperties>
</file>