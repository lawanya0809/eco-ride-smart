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258" r:id="rId4"/>
    <p:sldId id="261" r:id="rId5"/>
    <p:sldId id="262" r:id="rId6"/>
    <p:sldId id="263" r:id="rId7"/>
    <p:sldId id="264" r:id="rId8"/>
    <p:sldId id="265" r:id="rId9"/>
    <p:sldId id="266" r:id="rId10"/>
    <p:sldId id="303" r:id="rId11"/>
    <p:sldId id="267" r:id="rId12"/>
    <p:sldId id="268" r:id="rId13"/>
    <p:sldId id="270" r:id="rId14"/>
    <p:sldId id="293" r:id="rId15"/>
    <p:sldId id="277" r:id="rId16"/>
    <p:sldId id="294" r:id="rId17"/>
    <p:sldId id="269" r:id="rId18"/>
    <p:sldId id="295" r:id="rId19"/>
    <p:sldId id="271" r:id="rId20"/>
    <p:sldId id="296" r:id="rId21"/>
    <p:sldId id="278" r:id="rId22"/>
    <p:sldId id="297" r:id="rId23"/>
    <p:sldId id="272" r:id="rId24"/>
    <p:sldId id="300" r:id="rId25"/>
    <p:sldId id="273" r:id="rId26"/>
    <p:sldId id="274" r:id="rId27"/>
    <p:sldId id="275" r:id="rId28"/>
    <p:sldId id="259" r:id="rId29"/>
    <p:sldId id="279" r:id="rId30"/>
    <p:sldId id="280" r:id="rId31"/>
    <p:sldId id="281" r:id="rId32"/>
    <p:sldId id="282" r:id="rId33"/>
    <p:sldId id="283" r:id="rId34"/>
    <p:sldId id="284" r:id="rId35"/>
    <p:sldId id="285" r:id="rId36"/>
    <p:sldId id="286" r:id="rId37"/>
    <p:sldId id="287" r:id="rId38"/>
    <p:sldId id="288" r:id="rId39"/>
    <p:sldId id="291" r:id="rId40"/>
    <p:sldId id="289" r:id="rId41"/>
    <p:sldId id="290" r:id="rId42"/>
    <p:sldId id="301" r:id="rId43"/>
    <p:sldId id="292" r:id="rId44"/>
    <p:sldId id="302" r:id="rId45"/>
  </p:sldIdLst>
  <p:sldSz cx="18288000" cy="10287000"/>
  <p:notesSz cx="6858000" cy="9144000"/>
  <p:embeddedFontLst>
    <p:embeddedFont>
      <p:font typeface="League Spartan" panose="020B0604020202020204" charset="0"/>
      <p:regular r:id="rId47"/>
    </p:embeddedFont>
    <p:embeddedFont>
      <p:font typeface="Poppins" panose="00000500000000000000" pitchFamily="2" charset="0"/>
      <p:regular r:id="rId48"/>
    </p:embeddedFont>
    <p:embeddedFont>
      <p:font typeface="Roboto" panose="02000000000000000000" pitchFamily="2" charset="0"/>
      <p:regular r:id="rId49"/>
    </p:embeddedFont>
    <p:embeddedFont>
      <p:font typeface="Roboto Bold" panose="020B0604020202020204" charset="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29" d="100"/>
          <a:sy n="29" d="100"/>
        </p:scale>
        <p:origin x="1186"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2CB433-5745-44E6-BD54-3FF7BE0A553B}"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928FB0-162A-44BB-829B-E663A45408A7}" type="slidenum">
              <a:rPr lang="en-IN" smtClean="0"/>
              <a:t>‹#›</a:t>
            </a:fld>
            <a:endParaRPr lang="en-IN"/>
          </a:p>
        </p:txBody>
      </p:sp>
    </p:spTree>
    <p:extLst>
      <p:ext uri="{BB962C8B-B14F-4D97-AF65-F5344CB8AC3E}">
        <p14:creationId xmlns:p14="http://schemas.microsoft.com/office/powerpoint/2010/main" val="694417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spcAft>
                <a:spcPts val="1000"/>
              </a:spcAft>
              <a:buSzPts val="1000"/>
              <a:buFont typeface="Symbol" panose="05050102010706020507" pitchFamily="18" charset="2"/>
              <a:buNone/>
              <a:tabLst>
                <a:tab pos="4572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Lightweight aluminium frame (≤18 kg) for daily urban mobility Pedal-assist and throttle combo (350 W motor)Fixed battery (36 V 12 Ah) with plug-in charging only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3928FB0-162A-44BB-829B-E663A45408A7}" type="slidenum">
              <a:rPr lang="en-IN" smtClean="0"/>
              <a:t>14</a:t>
            </a:fld>
            <a:endParaRPr lang="en-IN"/>
          </a:p>
        </p:txBody>
      </p:sp>
    </p:spTree>
    <p:extLst>
      <p:ext uri="{BB962C8B-B14F-4D97-AF65-F5344CB8AC3E}">
        <p14:creationId xmlns:p14="http://schemas.microsoft.com/office/powerpoint/2010/main" val="499149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IN" sz="1200" dirty="0">
                <a:latin typeface="Times New Roman" panose="02020603050405020304" pitchFamily="18" charset="0"/>
                <a:cs typeface="Times New Roman" panose="02020603050405020304" pitchFamily="18" charset="0"/>
              </a:rPr>
              <a:t>Flexible solar film integrated on rear box (≈30 W) Plug + solar dual charging system</a:t>
            </a:r>
          </a:p>
          <a:p>
            <a:endParaRPr lang="en-IN" dirty="0"/>
          </a:p>
        </p:txBody>
      </p:sp>
      <p:sp>
        <p:nvSpPr>
          <p:cNvPr id="4" name="Slide Number Placeholder 3"/>
          <p:cNvSpPr>
            <a:spLocks noGrp="1"/>
          </p:cNvSpPr>
          <p:nvPr>
            <p:ph type="sldNum" sz="quarter" idx="5"/>
          </p:nvPr>
        </p:nvSpPr>
        <p:spPr/>
        <p:txBody>
          <a:bodyPr/>
          <a:lstStyle/>
          <a:p>
            <a:fld id="{03928FB0-162A-44BB-829B-E663A45408A7}" type="slidenum">
              <a:rPr lang="en-IN" smtClean="0"/>
              <a:t>16</a:t>
            </a:fld>
            <a:endParaRPr lang="en-IN"/>
          </a:p>
        </p:txBody>
      </p:sp>
    </p:spTree>
    <p:extLst>
      <p:ext uri="{BB962C8B-B14F-4D97-AF65-F5344CB8AC3E}">
        <p14:creationId xmlns:p14="http://schemas.microsoft.com/office/powerpoint/2010/main" val="12021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Regenerative braking + throttle assist GPS-enabled tracking for fleet management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03928FB0-162A-44BB-829B-E663A45408A7}" type="slidenum">
              <a:rPr lang="en-IN" smtClean="0"/>
              <a:t>18</a:t>
            </a:fld>
            <a:endParaRPr lang="en-IN"/>
          </a:p>
        </p:txBody>
      </p:sp>
    </p:spTree>
    <p:extLst>
      <p:ext uri="{BB962C8B-B14F-4D97-AF65-F5344CB8AC3E}">
        <p14:creationId xmlns:p14="http://schemas.microsoft.com/office/powerpoint/2010/main" val="2413956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Quick-fold alloy frame Moderate braking power Perfect for short mixed transport routes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3928FB0-162A-44BB-829B-E663A45408A7}" type="slidenum">
              <a:rPr lang="en-IN" smtClean="0"/>
              <a:t>20</a:t>
            </a:fld>
            <a:endParaRPr lang="en-IN"/>
          </a:p>
        </p:txBody>
      </p:sp>
    </p:spTree>
    <p:extLst>
      <p:ext uri="{BB962C8B-B14F-4D97-AF65-F5344CB8AC3E}">
        <p14:creationId xmlns:p14="http://schemas.microsoft.com/office/powerpoint/2010/main" val="151157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5" Type="http://schemas.openxmlformats.org/officeDocument/2006/relationships/image" Target="../media/image31.jpg"/><Relationship Id="rId4" Type="http://schemas.openxmlformats.org/officeDocument/2006/relationships/image" Target="../media/image3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TextBox 3"/>
          <p:cNvSpPr txBox="1"/>
          <p:nvPr/>
        </p:nvSpPr>
        <p:spPr>
          <a:xfrm>
            <a:off x="1857649" y="4511675"/>
            <a:ext cx="14609694" cy="1360082"/>
          </a:xfrm>
          <a:prstGeom prst="rect">
            <a:avLst/>
          </a:prstGeom>
        </p:spPr>
        <p:txBody>
          <a:bodyPr lIns="0" tIns="0" rIns="0" bIns="0" rtlCol="0" anchor="t">
            <a:spAutoFit/>
          </a:bodyPr>
          <a:lstStyle/>
          <a:p>
            <a:pPr algn="ctr">
              <a:lnSpc>
                <a:spcPts val="11134"/>
              </a:lnSpc>
            </a:pPr>
            <a:r>
              <a:rPr lang="en-US" sz="7953" b="1">
                <a:solidFill>
                  <a:srgbClr val="004AAD"/>
                </a:solidFill>
                <a:latin typeface="League Spartan"/>
                <a:ea typeface="League Spartan"/>
                <a:cs typeface="League Spartan"/>
                <a:sym typeface="League Spartan"/>
              </a:rPr>
              <a:t>ECO-RIDE ELECTRIC CYCLE</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2334959" y="3528848"/>
            <a:ext cx="12636409" cy="913044"/>
          </a:xfrm>
          <a:prstGeom prst="rect">
            <a:avLst/>
          </a:prstGeom>
        </p:spPr>
        <p:txBody>
          <a:bodyPr lIns="0" tIns="0" rIns="0" bIns="0" rtlCol="0" anchor="t">
            <a:spAutoFit/>
          </a:bodyPr>
          <a:lstStyle/>
          <a:p>
            <a:pPr algn="ctr">
              <a:lnSpc>
                <a:spcPts val="7424"/>
              </a:lnSpc>
            </a:pPr>
            <a:r>
              <a:rPr lang="en-US" sz="5303" b="1" dirty="0">
                <a:solidFill>
                  <a:srgbClr val="303642"/>
                </a:solidFill>
                <a:latin typeface="Roboto Bold"/>
                <a:ea typeface="Roboto Bold"/>
                <a:cs typeface="Roboto Bold"/>
                <a:sym typeface="Roboto Bold"/>
              </a:rPr>
              <a:t>PODUCT DESIGN - CASE STUDY 3</a:t>
            </a:r>
          </a:p>
        </p:txBody>
      </p:sp>
      <p:sp>
        <p:nvSpPr>
          <p:cNvPr id="8" name="TextBox 8"/>
          <p:cNvSpPr txBox="1"/>
          <p:nvPr/>
        </p:nvSpPr>
        <p:spPr>
          <a:xfrm>
            <a:off x="7848600" y="8118036"/>
            <a:ext cx="8526827" cy="1589538"/>
          </a:xfrm>
          <a:prstGeom prst="rect">
            <a:avLst/>
          </a:prstGeom>
        </p:spPr>
        <p:txBody>
          <a:bodyPr lIns="0" tIns="0" rIns="0" bIns="0" rtlCol="0" anchor="t">
            <a:spAutoFit/>
          </a:bodyPr>
          <a:lstStyle/>
          <a:p>
            <a:pPr algn="ctr">
              <a:lnSpc>
                <a:spcPts val="4227"/>
              </a:lnSpc>
            </a:pPr>
            <a:r>
              <a:rPr lang="en-US" sz="3019" dirty="0">
                <a:solidFill>
                  <a:srgbClr val="303642"/>
                </a:solidFill>
                <a:latin typeface="Poppins"/>
                <a:ea typeface="Poppins"/>
                <a:cs typeface="Poppins"/>
                <a:sym typeface="Poppins"/>
              </a:rPr>
              <a:t>NAME - LAWANYA</a:t>
            </a:r>
          </a:p>
          <a:p>
            <a:pPr algn="ctr">
              <a:lnSpc>
                <a:spcPts val="4227"/>
              </a:lnSpc>
              <a:spcBef>
                <a:spcPct val="0"/>
              </a:spcBef>
            </a:pPr>
            <a:r>
              <a:rPr lang="en-US" sz="3019" dirty="0">
                <a:solidFill>
                  <a:srgbClr val="303642"/>
                </a:solidFill>
                <a:latin typeface="Poppins"/>
                <a:ea typeface="Poppins"/>
                <a:cs typeface="Poppins"/>
                <a:sym typeface="Poppins"/>
              </a:rPr>
              <a:t>EN NUMB.-BT23CME042</a:t>
            </a:r>
          </a:p>
          <a:p>
            <a:pPr algn="ctr">
              <a:lnSpc>
                <a:spcPts val="4227"/>
              </a:lnSpc>
              <a:spcBef>
                <a:spcPct val="0"/>
              </a:spcBef>
            </a:pPr>
            <a:r>
              <a:rPr lang="en-US" sz="3019" dirty="0">
                <a:solidFill>
                  <a:srgbClr val="303642"/>
                </a:solidFill>
                <a:latin typeface="Poppins"/>
                <a:ea typeface="Poppins"/>
                <a:cs typeface="Poppins"/>
                <a:sym typeface="Poppins"/>
              </a:rPr>
              <a:t>Contact no. </a:t>
            </a:r>
            <a:r>
              <a:rPr lang="en-US" sz="3019">
                <a:solidFill>
                  <a:srgbClr val="303642"/>
                </a:solidFill>
                <a:latin typeface="Poppins"/>
                <a:ea typeface="Poppins"/>
                <a:cs typeface="Poppins"/>
                <a:sym typeface="Poppins"/>
              </a:rPr>
              <a:t>- 8540957302</a:t>
            </a:r>
            <a:endParaRPr lang="en-US" sz="3019" dirty="0">
              <a:solidFill>
                <a:srgbClr val="303642"/>
              </a:solidFill>
              <a:latin typeface="Poppins"/>
              <a:ea typeface="Poppins"/>
              <a:cs typeface="Poppins"/>
              <a:sym typeface="Poppins"/>
            </a:endParaRPr>
          </a:p>
        </p:txBody>
      </p:sp>
      <p:grpSp>
        <p:nvGrpSpPr>
          <p:cNvPr id="9" name="Group 9"/>
          <p:cNvGrpSpPr/>
          <p:nvPr/>
        </p:nvGrpSpPr>
        <p:grpSpPr>
          <a:xfrm>
            <a:off x="16467343" y="4057750"/>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pic>
        <p:nvPicPr>
          <p:cNvPr id="13" name="Picture 12">
            <a:extLst>
              <a:ext uri="{FF2B5EF4-FFF2-40B4-BE49-F238E27FC236}">
                <a16:creationId xmlns:a16="http://schemas.microsoft.com/office/drawing/2014/main" id="{4D51599C-1520-6CF0-D1FC-8F00E8A9C1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71368" y="7235800"/>
            <a:ext cx="2272223" cy="28498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257175" y="4502250"/>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id="5" name="TextBox 5"/>
            <p:cNvSpPr txBox="1"/>
            <p:nvPr/>
          </p:nvSpPr>
          <p:spPr>
            <a:xfrm>
              <a:off x="0" y="-47625"/>
              <a:ext cx="4952059" cy="576112"/>
            </a:xfrm>
            <a:prstGeom prst="rect">
              <a:avLst/>
            </a:prstGeom>
          </p:spPr>
          <p:txBody>
            <a:bodyPr lIns="50800" tIns="50800" rIns="50800" bIns="50800" rtlCol="0" anchor="ctr"/>
            <a:lstStyle/>
            <a:p>
              <a:pPr marL="410209" lvl="1" indent="-205105" algn="ctr">
                <a:lnSpc>
                  <a:spcPts val="2659"/>
                </a:lnSpc>
                <a:buFont typeface="Arial"/>
                <a:buChar char="•"/>
              </a:pPr>
              <a:endParaRPr/>
            </a:p>
            <a:p>
              <a:pPr algn="ctr">
                <a:lnSpc>
                  <a:spcPts val="2659"/>
                </a:lnSpc>
              </a:pPr>
              <a:endParaRPr/>
            </a:p>
          </p:txBody>
        </p:sp>
      </p:grpSp>
      <p:sp>
        <p:nvSpPr>
          <p:cNvPr id="6" name="TextBox 6"/>
          <p:cNvSpPr txBox="1"/>
          <p:nvPr/>
        </p:nvSpPr>
        <p:spPr>
          <a:xfrm>
            <a:off x="368272" y="6994189"/>
            <a:ext cx="4247608" cy="1193788"/>
          </a:xfrm>
          <a:prstGeom prst="rect">
            <a:avLst/>
          </a:prstGeom>
        </p:spPr>
        <p:txBody>
          <a:bodyPr lIns="0" tIns="0" rIns="0" bIns="0" rtlCol="0" anchor="t">
            <a:spAutoFit/>
          </a:bodyPr>
          <a:lstStyle/>
          <a:p>
            <a:pPr algn="ctr">
              <a:lnSpc>
                <a:spcPts val="3107"/>
              </a:lnSpc>
              <a:spcBef>
                <a:spcPct val="0"/>
              </a:spcBef>
            </a:pPr>
            <a:r>
              <a:rPr lang="en-US" sz="2800" dirty="0">
                <a:solidFill>
                  <a:srgbClr val="303642"/>
                </a:solidFill>
                <a:latin typeface="Poppins"/>
                <a:ea typeface="Poppins"/>
                <a:cs typeface="Poppins"/>
                <a:sym typeface="Poppins"/>
              </a:rPr>
              <a:t>Lack of integrated solar or regenerative charging systems.</a:t>
            </a:r>
          </a:p>
        </p:txBody>
      </p:sp>
      <p:sp>
        <p:nvSpPr>
          <p:cNvPr id="7" name="TextBox 7"/>
          <p:cNvSpPr txBox="1"/>
          <p:nvPr/>
        </p:nvSpPr>
        <p:spPr>
          <a:xfrm>
            <a:off x="9341165" y="7189477"/>
            <a:ext cx="4247608" cy="1193788"/>
          </a:xfrm>
          <a:prstGeom prst="rect">
            <a:avLst/>
          </a:prstGeom>
        </p:spPr>
        <p:txBody>
          <a:bodyPr lIns="0" tIns="0" rIns="0" bIns="0" rtlCol="0" anchor="t">
            <a:spAutoFit/>
          </a:bodyPr>
          <a:lstStyle/>
          <a:p>
            <a:pPr algn="ctr">
              <a:lnSpc>
                <a:spcPts val="3107"/>
              </a:lnSpc>
              <a:spcBef>
                <a:spcPct val="0"/>
              </a:spcBef>
            </a:pPr>
            <a:r>
              <a:rPr lang="en-US" sz="2800" dirty="0">
                <a:solidFill>
                  <a:srgbClr val="303642"/>
                </a:solidFill>
                <a:latin typeface="Poppins"/>
                <a:ea typeface="Poppins"/>
                <a:cs typeface="Poppins"/>
                <a:sym typeface="Poppins"/>
              </a:rPr>
              <a:t>High cost of premium models limiting accessibility.</a:t>
            </a:r>
          </a:p>
        </p:txBody>
      </p:sp>
      <p:sp>
        <p:nvSpPr>
          <p:cNvPr id="8" name="TextBox 8"/>
          <p:cNvSpPr txBox="1"/>
          <p:nvPr/>
        </p:nvSpPr>
        <p:spPr>
          <a:xfrm>
            <a:off x="14036287" y="3060005"/>
            <a:ext cx="4247608" cy="1193788"/>
          </a:xfrm>
          <a:prstGeom prst="rect">
            <a:avLst/>
          </a:prstGeom>
        </p:spPr>
        <p:txBody>
          <a:bodyPr lIns="0" tIns="0" rIns="0" bIns="0" rtlCol="0" anchor="t">
            <a:spAutoFit/>
          </a:bodyPr>
          <a:lstStyle/>
          <a:p>
            <a:pPr algn="ctr">
              <a:lnSpc>
                <a:spcPts val="3107"/>
              </a:lnSpc>
              <a:spcBef>
                <a:spcPct val="0"/>
              </a:spcBef>
            </a:pPr>
            <a:r>
              <a:rPr lang="en-US" sz="2219" dirty="0">
                <a:solidFill>
                  <a:srgbClr val="303642"/>
                </a:solidFill>
                <a:latin typeface="Poppins"/>
                <a:ea typeface="Poppins"/>
                <a:cs typeface="Poppins"/>
                <a:sym typeface="Poppins"/>
              </a:rPr>
              <a:t> </a:t>
            </a:r>
            <a:r>
              <a:rPr lang="en-US" sz="2800" dirty="0">
                <a:solidFill>
                  <a:srgbClr val="303642"/>
                </a:solidFill>
                <a:latin typeface="Poppins"/>
                <a:ea typeface="Poppins"/>
                <a:cs typeface="Poppins"/>
                <a:sym typeface="Poppins"/>
              </a:rPr>
              <a:t>Absence of modular storage and connectivity features.</a:t>
            </a:r>
          </a:p>
        </p:txBody>
      </p:sp>
      <p:sp>
        <p:nvSpPr>
          <p:cNvPr id="9" name="TextBox 9"/>
          <p:cNvSpPr txBox="1"/>
          <p:nvPr/>
        </p:nvSpPr>
        <p:spPr>
          <a:xfrm>
            <a:off x="368272" y="714199"/>
            <a:ext cx="8494311" cy="2452155"/>
          </a:xfrm>
          <a:prstGeom prst="rect">
            <a:avLst/>
          </a:prstGeom>
        </p:spPr>
        <p:txBody>
          <a:bodyPr lIns="0" tIns="0" rIns="0" bIns="0" rtlCol="0" anchor="t">
            <a:spAutoFit/>
          </a:bodyPr>
          <a:lstStyle/>
          <a:p>
            <a:pPr algn="l">
              <a:lnSpc>
                <a:spcPts val="6591"/>
              </a:lnSpc>
            </a:pPr>
            <a:r>
              <a:rPr lang="en-US" sz="4708" b="1" dirty="0">
                <a:solidFill>
                  <a:srgbClr val="004AAD"/>
                </a:solidFill>
                <a:latin typeface="League Spartan"/>
                <a:ea typeface="League Spartan"/>
                <a:cs typeface="League Spartan"/>
                <a:sym typeface="League Spartan"/>
              </a:rPr>
              <a:t>PROBLEM CLARIFICATION AND BREAKDOWN</a:t>
            </a:r>
          </a:p>
          <a:p>
            <a:pPr algn="l">
              <a:lnSpc>
                <a:spcPts val="6591"/>
              </a:lnSpc>
            </a:pPr>
            <a:endParaRPr lang="en-US" sz="4708" b="1" dirty="0">
              <a:solidFill>
                <a:srgbClr val="004AAD"/>
              </a:solidFill>
              <a:latin typeface="League Spartan"/>
              <a:ea typeface="League Spartan"/>
              <a:cs typeface="League Spartan"/>
              <a:sym typeface="League Spartan"/>
            </a:endParaRPr>
          </a:p>
        </p:txBody>
      </p:sp>
      <p:grpSp>
        <p:nvGrpSpPr>
          <p:cNvPr id="10" name="Group 10"/>
          <p:cNvGrpSpPr/>
          <p:nvPr/>
        </p:nvGrpSpPr>
        <p:grpSpPr>
          <a:xfrm>
            <a:off x="1028700" y="4799896"/>
            <a:ext cx="1298843" cy="1298843"/>
            <a:chOff x="0" y="0"/>
            <a:chExt cx="1731791" cy="1731791"/>
          </a:xfrm>
        </p:grpSpPr>
        <p:grpSp>
          <p:nvGrpSpPr>
            <p:cNvPr id="11" name="Group 11"/>
            <p:cNvGrpSpPr/>
            <p:nvPr/>
          </p:nvGrpSpPr>
          <p:grpSpPr>
            <a:xfrm>
              <a:off x="0" y="0"/>
              <a:ext cx="1731791" cy="173179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06335" y="319208"/>
              <a:ext cx="1519121" cy="1192368"/>
            </a:xfrm>
            <a:prstGeom prst="rect">
              <a:avLst/>
            </a:prstGeom>
          </p:spPr>
          <p:txBody>
            <a:bodyPr lIns="0" tIns="0" rIns="0" bIns="0" rtlCol="0" anchor="t">
              <a:spAutoFit/>
            </a:bodyPr>
            <a:lstStyle/>
            <a:p>
              <a:pPr algn="ctr">
                <a:lnSpc>
                  <a:spcPts val="7649"/>
                </a:lnSpc>
              </a:pPr>
              <a:r>
                <a:rPr lang="en-US" sz="5463">
                  <a:solidFill>
                    <a:srgbClr val="000000"/>
                  </a:solidFill>
                  <a:latin typeface="League Spartan"/>
                  <a:ea typeface="League Spartan"/>
                  <a:cs typeface="League Spartan"/>
                  <a:sym typeface="League Spartan"/>
                </a:rPr>
                <a:t>1</a:t>
              </a:r>
            </a:p>
          </p:txBody>
        </p:sp>
      </p:grpSp>
      <p:grpSp>
        <p:nvGrpSpPr>
          <p:cNvPr id="15" name="Group 15"/>
          <p:cNvGrpSpPr/>
          <p:nvPr/>
        </p:nvGrpSpPr>
        <p:grpSpPr>
          <a:xfrm>
            <a:off x="5344958" y="4799896"/>
            <a:ext cx="1458155" cy="1458155"/>
            <a:chOff x="0" y="0"/>
            <a:chExt cx="1944207" cy="1944207"/>
          </a:xfrm>
        </p:grpSpPr>
        <p:grpSp>
          <p:nvGrpSpPr>
            <p:cNvPr id="16" name="Group 16"/>
            <p:cNvGrpSpPr/>
            <p:nvPr/>
          </p:nvGrpSpPr>
          <p:grpSpPr>
            <a:xfrm>
              <a:off x="0" y="0"/>
              <a:ext cx="1944207" cy="194420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19378" y="341082"/>
              <a:ext cx="1705451" cy="1345987"/>
            </a:xfrm>
            <a:prstGeom prst="rect">
              <a:avLst/>
            </a:prstGeom>
          </p:spPr>
          <p:txBody>
            <a:bodyPr lIns="0" tIns="0" rIns="0" bIns="0" rtlCol="0" anchor="t">
              <a:spAutoFit/>
            </a:bodyPr>
            <a:lstStyle/>
            <a:p>
              <a:pPr algn="ctr">
                <a:lnSpc>
                  <a:spcPts val="8587"/>
                </a:lnSpc>
              </a:pPr>
              <a:r>
                <a:rPr lang="en-US" sz="6134" b="1">
                  <a:solidFill>
                    <a:srgbClr val="000000"/>
                  </a:solidFill>
                  <a:latin typeface="League Spartan"/>
                  <a:ea typeface="League Spartan"/>
                  <a:cs typeface="League Spartan"/>
                  <a:sym typeface="League Spartan"/>
                </a:rPr>
                <a:t>2</a:t>
              </a:r>
            </a:p>
          </p:txBody>
        </p:sp>
      </p:grpSp>
      <p:grpSp>
        <p:nvGrpSpPr>
          <p:cNvPr id="20" name="Group 20"/>
          <p:cNvGrpSpPr/>
          <p:nvPr/>
        </p:nvGrpSpPr>
        <p:grpSpPr>
          <a:xfrm>
            <a:off x="10666725" y="4799896"/>
            <a:ext cx="1596489" cy="1596489"/>
            <a:chOff x="0" y="0"/>
            <a:chExt cx="2128653" cy="2128653"/>
          </a:xfrm>
        </p:grpSpPr>
        <p:grpSp>
          <p:nvGrpSpPr>
            <p:cNvPr id="21" name="Group 21"/>
            <p:cNvGrpSpPr/>
            <p:nvPr/>
          </p:nvGrpSpPr>
          <p:grpSpPr>
            <a:xfrm>
              <a:off x="0" y="0"/>
              <a:ext cx="2128653" cy="212865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30703" y="365233"/>
              <a:ext cx="1867246" cy="1481887"/>
            </a:xfrm>
            <a:prstGeom prst="rect">
              <a:avLst/>
            </a:prstGeom>
          </p:spPr>
          <p:txBody>
            <a:bodyPr lIns="0" tIns="0" rIns="0" bIns="0" rtlCol="0" anchor="t">
              <a:spAutoFit/>
            </a:bodyPr>
            <a:lstStyle/>
            <a:p>
              <a:pPr algn="ctr">
                <a:lnSpc>
                  <a:spcPts val="9402"/>
                </a:lnSpc>
              </a:pPr>
              <a:r>
                <a:rPr lang="en-US" sz="6715" b="1">
                  <a:solidFill>
                    <a:srgbClr val="000000"/>
                  </a:solidFill>
                  <a:latin typeface="League Spartan"/>
                  <a:ea typeface="League Spartan"/>
                  <a:cs typeface="League Spartan"/>
                  <a:sym typeface="League Spartan"/>
                </a:rPr>
                <a:t>3</a:t>
              </a:r>
            </a:p>
          </p:txBody>
        </p:sp>
      </p:grpSp>
      <p:grpSp>
        <p:nvGrpSpPr>
          <p:cNvPr id="25" name="Group 25"/>
          <p:cNvGrpSpPr/>
          <p:nvPr/>
        </p:nvGrpSpPr>
        <p:grpSpPr>
          <a:xfrm>
            <a:off x="15361846" y="4707305"/>
            <a:ext cx="1596489" cy="1596489"/>
            <a:chOff x="0" y="0"/>
            <a:chExt cx="2128653" cy="2128653"/>
          </a:xfrm>
        </p:grpSpPr>
        <p:grpSp>
          <p:nvGrpSpPr>
            <p:cNvPr id="26" name="Group 26"/>
            <p:cNvGrpSpPr/>
            <p:nvPr/>
          </p:nvGrpSpPr>
          <p:grpSpPr>
            <a:xfrm>
              <a:off x="0" y="0"/>
              <a:ext cx="2128653" cy="212865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30703" y="365233"/>
              <a:ext cx="1867246" cy="1481887"/>
            </a:xfrm>
            <a:prstGeom prst="rect">
              <a:avLst/>
            </a:prstGeom>
          </p:spPr>
          <p:txBody>
            <a:bodyPr lIns="0" tIns="0" rIns="0" bIns="0" rtlCol="0" anchor="t">
              <a:spAutoFit/>
            </a:bodyPr>
            <a:lstStyle/>
            <a:p>
              <a:pPr algn="ctr">
                <a:lnSpc>
                  <a:spcPts val="9402"/>
                </a:lnSpc>
              </a:pPr>
              <a:r>
                <a:rPr lang="en-US" sz="6715" b="1">
                  <a:solidFill>
                    <a:srgbClr val="000000"/>
                  </a:solidFill>
                  <a:latin typeface="League Spartan"/>
                  <a:ea typeface="League Spartan"/>
                  <a:cs typeface="League Spartan"/>
                  <a:sym typeface="League Spartan"/>
                </a:rPr>
                <a:t>4</a:t>
              </a:r>
            </a:p>
          </p:txBody>
        </p:sp>
      </p:grpSp>
      <p:sp>
        <p:nvSpPr>
          <p:cNvPr id="30" name="TextBox 30"/>
          <p:cNvSpPr txBox="1"/>
          <p:nvPr/>
        </p:nvSpPr>
        <p:spPr>
          <a:xfrm>
            <a:off x="4303540" y="2864717"/>
            <a:ext cx="4247608" cy="1193788"/>
          </a:xfrm>
          <a:prstGeom prst="rect">
            <a:avLst/>
          </a:prstGeom>
        </p:spPr>
        <p:txBody>
          <a:bodyPr lIns="0" tIns="0" rIns="0" bIns="0" rtlCol="0" anchor="t">
            <a:spAutoFit/>
          </a:bodyPr>
          <a:lstStyle/>
          <a:p>
            <a:pPr algn="ctr">
              <a:lnSpc>
                <a:spcPts val="3107"/>
              </a:lnSpc>
              <a:spcBef>
                <a:spcPct val="0"/>
              </a:spcBef>
            </a:pPr>
            <a:r>
              <a:rPr lang="en-US" sz="2800" dirty="0">
                <a:solidFill>
                  <a:srgbClr val="303642"/>
                </a:solidFill>
                <a:latin typeface="Poppins"/>
                <a:ea typeface="Poppins"/>
                <a:cs typeface="Poppins"/>
                <a:sym typeface="Poppins"/>
              </a:rPr>
              <a:t>Poor ergonomics and weight distribution for daily commuting.</a:t>
            </a:r>
          </a:p>
        </p:txBody>
      </p:sp>
      <p:sp>
        <p:nvSpPr>
          <p:cNvPr id="31" name="Freeform 4">
            <a:extLst>
              <a:ext uri="{FF2B5EF4-FFF2-40B4-BE49-F238E27FC236}">
                <a16:creationId xmlns:a16="http://schemas.microsoft.com/office/drawing/2014/main" id="{FFBBCB81-3231-5435-3CE1-C109B841600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2" name="TextBox 5">
            <a:extLst>
              <a:ext uri="{FF2B5EF4-FFF2-40B4-BE49-F238E27FC236}">
                <a16:creationId xmlns:a16="http://schemas.microsoft.com/office/drawing/2014/main" id="{DA2C1127-D224-8C21-CC6F-0F827B1A5EF0}"/>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33" name="Freeform 4">
            <a:extLst>
              <a:ext uri="{FF2B5EF4-FFF2-40B4-BE49-F238E27FC236}">
                <a16:creationId xmlns:a16="http://schemas.microsoft.com/office/drawing/2014/main" id="{82DCDC92-A073-66DD-B79E-00D70C8E69C3}"/>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6" name="TextBox 6"/>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IN" sz="4000" dirty="0">
                <a:latin typeface="Roboto" panose="02000000000000000000" pitchFamily="2" charset="0"/>
                <a:ea typeface="Roboto" panose="02000000000000000000" pitchFamily="2" charset="0"/>
                <a:cs typeface="Roboto" panose="02000000000000000000" pitchFamily="2" charset="0"/>
              </a:rPr>
              <a:t>1. Structural Frame Subsystem –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8" name="Rectangle 7">
            <a:extLst>
              <a:ext uri="{FF2B5EF4-FFF2-40B4-BE49-F238E27FC236}">
                <a16:creationId xmlns:a16="http://schemas.microsoft.com/office/drawing/2014/main" id="{62580036-38B1-8472-C802-382DB46109DC}"/>
              </a:ext>
            </a:extLst>
          </p:cNvPr>
          <p:cNvSpPr/>
          <p:nvPr/>
        </p:nvSpPr>
        <p:spPr>
          <a:xfrm>
            <a:off x="5943600" y="5524500"/>
            <a:ext cx="91440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4121614C-C869-66F2-7421-2349DD687307}"/>
              </a:ext>
            </a:extLst>
          </p:cNvPr>
          <p:cNvSpPr txBox="1"/>
          <p:nvPr/>
        </p:nvSpPr>
        <p:spPr>
          <a:xfrm>
            <a:off x="360947" y="553015"/>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2" name="Table 11">
            <a:extLst>
              <a:ext uri="{FF2B5EF4-FFF2-40B4-BE49-F238E27FC236}">
                <a16:creationId xmlns:a16="http://schemas.microsoft.com/office/drawing/2014/main" id="{A6FD5050-01A3-059C-2B0E-FC59B57A8AE4}"/>
              </a:ext>
            </a:extLst>
          </p:cNvPr>
          <p:cNvGraphicFramePr>
            <a:graphicFrameLocks noGrp="1"/>
          </p:cNvGraphicFramePr>
          <p:nvPr>
            <p:extLst>
              <p:ext uri="{D42A27DB-BD31-4B8C-83A1-F6EECF244321}">
                <p14:modId xmlns:p14="http://schemas.microsoft.com/office/powerpoint/2010/main" val="744264931"/>
              </p:ext>
            </p:extLst>
          </p:nvPr>
        </p:nvGraphicFramePr>
        <p:xfrm>
          <a:off x="685800" y="3149230"/>
          <a:ext cx="14706600" cy="5024644"/>
        </p:xfrm>
        <a:graphic>
          <a:graphicData uri="http://schemas.openxmlformats.org/drawingml/2006/table">
            <a:tbl>
              <a:tblPr firstRow="1" bandRow="1">
                <a:tableStyleId>{69012ECD-51FC-41F1-AA8D-1B2483CD663E}</a:tableStyleId>
              </a:tblPr>
              <a:tblGrid>
                <a:gridCol w="2438400">
                  <a:extLst>
                    <a:ext uri="{9D8B030D-6E8A-4147-A177-3AD203B41FA5}">
                      <a16:colId xmlns:a16="http://schemas.microsoft.com/office/drawing/2014/main" val="2276980789"/>
                    </a:ext>
                  </a:extLst>
                </a:gridCol>
                <a:gridCol w="2438400">
                  <a:extLst>
                    <a:ext uri="{9D8B030D-6E8A-4147-A177-3AD203B41FA5}">
                      <a16:colId xmlns:a16="http://schemas.microsoft.com/office/drawing/2014/main" val="2364619829"/>
                    </a:ext>
                  </a:extLst>
                </a:gridCol>
                <a:gridCol w="4267200">
                  <a:extLst>
                    <a:ext uri="{9D8B030D-6E8A-4147-A177-3AD203B41FA5}">
                      <a16:colId xmlns:a16="http://schemas.microsoft.com/office/drawing/2014/main" val="2605325852"/>
                    </a:ext>
                  </a:extLst>
                </a:gridCol>
                <a:gridCol w="4267200">
                  <a:extLst>
                    <a:ext uri="{9D8B030D-6E8A-4147-A177-3AD203B41FA5}">
                      <a16:colId xmlns:a16="http://schemas.microsoft.com/office/drawing/2014/main" val="2997273722"/>
                    </a:ext>
                  </a:extLst>
                </a:gridCol>
                <a:gridCol w="1295400">
                  <a:extLst>
                    <a:ext uri="{9D8B030D-6E8A-4147-A177-3AD203B41FA5}">
                      <a16:colId xmlns:a16="http://schemas.microsoft.com/office/drawing/2014/main" val="4198280187"/>
                    </a:ext>
                  </a:extLst>
                </a:gridCol>
              </a:tblGrid>
              <a:tr h="521285">
                <a:tc>
                  <a:txBody>
                    <a:bodyPr/>
                    <a:lstStyle/>
                    <a:p>
                      <a:pPr>
                        <a:lnSpc>
                          <a:spcPct val="115000"/>
                        </a:lnSpc>
                        <a:spcAft>
                          <a:spcPts val="1000"/>
                        </a:spcAft>
                        <a:buNone/>
                      </a:pPr>
                      <a:r>
                        <a:rPr lang="en-IN" sz="2400" kern="100" dirty="0">
                          <a:effectLst/>
                        </a:rPr>
                        <a:t>Material Option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Key Features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Pros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Cons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Rank</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4090232"/>
                  </a:ext>
                </a:extLst>
              </a:tr>
              <a:tr h="521285">
                <a:tc>
                  <a:txBody>
                    <a:bodyPr/>
                    <a:lstStyle/>
                    <a:p>
                      <a:pPr>
                        <a:lnSpc>
                          <a:spcPct val="115000"/>
                        </a:lnSpc>
                        <a:spcAft>
                          <a:spcPts val="1000"/>
                        </a:spcAft>
                        <a:buNone/>
                      </a:pPr>
                      <a:r>
                        <a:rPr lang="en-IN" sz="2400" kern="100">
                          <a:effectLst/>
                        </a:rPr>
                        <a:t>Aluminium Alloy 6061-T6</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Lightweight, corrosion-resistant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Good strength–weight ratio, low cost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Moderate fatigue resistance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rPr>
                        <a:t>1</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6764946"/>
                  </a:ext>
                </a:extLst>
              </a:tr>
              <a:tr h="521285">
                <a:tc>
                  <a:txBody>
                    <a:bodyPr/>
                    <a:lstStyle/>
                    <a:p>
                      <a:pPr>
                        <a:lnSpc>
                          <a:spcPct val="115000"/>
                        </a:lnSpc>
                        <a:spcAft>
                          <a:spcPts val="1000"/>
                        </a:spcAft>
                        <a:buNone/>
                      </a:pPr>
                      <a:r>
                        <a:rPr lang="en-IN" sz="2400" kern="100">
                          <a:effectLst/>
                        </a:rPr>
                        <a:t>Carbon Fiber Composite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Ultra-light, high stiffness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Excellent weight reduction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Expensive, complex manufacturing</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rPr>
                        <a:t>2</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8923929"/>
                  </a:ext>
                </a:extLst>
              </a:tr>
              <a:tr h="521285">
                <a:tc>
                  <a:txBody>
                    <a:bodyPr/>
                    <a:lstStyle/>
                    <a:p>
                      <a:pPr>
                        <a:lnSpc>
                          <a:spcPct val="115000"/>
                        </a:lnSpc>
                        <a:spcAft>
                          <a:spcPts val="1000"/>
                        </a:spcAft>
                        <a:buNone/>
                      </a:pPr>
                      <a:r>
                        <a:rPr lang="en-IN" sz="2400" kern="100">
                          <a:effectLst/>
                        </a:rPr>
                        <a:t>Chromoly Steel (Cr–Mo)</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Strong and durable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tough and long-lasting</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Heavier than aluminium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rPr>
                        <a:t>3</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1406217"/>
                  </a:ext>
                </a:extLst>
              </a:tr>
              <a:tr h="521285">
                <a:tc>
                  <a:txBody>
                    <a:bodyPr/>
                    <a:lstStyle/>
                    <a:p>
                      <a:pPr>
                        <a:lnSpc>
                          <a:spcPct val="115000"/>
                        </a:lnSpc>
                        <a:spcAft>
                          <a:spcPts val="1000"/>
                        </a:spcAft>
                        <a:buNone/>
                      </a:pPr>
                      <a:r>
                        <a:rPr lang="en-IN" sz="2400" kern="100">
                          <a:effectLst/>
                        </a:rPr>
                        <a:t>Magnesium Alloy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Lighter than aluminium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 shock absorption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Corrosion-prone, costly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rPr>
                        <a:t>4</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2497502"/>
                  </a:ext>
                </a:extLst>
              </a:tr>
              <a:tr h="521285">
                <a:tc>
                  <a:txBody>
                    <a:bodyPr/>
                    <a:lstStyle/>
                    <a:p>
                      <a:pPr>
                        <a:lnSpc>
                          <a:spcPct val="115000"/>
                        </a:lnSpc>
                        <a:spcAft>
                          <a:spcPts val="1000"/>
                        </a:spcAft>
                        <a:buNone/>
                      </a:pPr>
                      <a:r>
                        <a:rPr lang="en-IN" sz="2400" kern="100">
                          <a:effectLst/>
                        </a:rPr>
                        <a:t>Titanium Alloy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High-end, corrosion-free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Excellent durability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high cost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dirty="0">
                          <a:effectLst/>
                        </a:rPr>
                        <a:t>5</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2881836"/>
                  </a:ext>
                </a:extLst>
              </a:tr>
            </a:tbl>
          </a:graphicData>
        </a:graphic>
      </p:graphicFrame>
      <p:sp>
        <p:nvSpPr>
          <p:cNvPr id="13" name="Freeform 4">
            <a:extLst>
              <a:ext uri="{FF2B5EF4-FFF2-40B4-BE49-F238E27FC236}">
                <a16:creationId xmlns:a16="http://schemas.microsoft.com/office/drawing/2014/main" id="{64EFF385-0134-4CC9-D786-D8C5D1D7F21F}"/>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4" name="TextBox 5">
            <a:extLst>
              <a:ext uri="{FF2B5EF4-FFF2-40B4-BE49-F238E27FC236}">
                <a16:creationId xmlns:a16="http://schemas.microsoft.com/office/drawing/2014/main" id="{A1FD489B-C1E4-9502-95D2-B576CEFC10CF}"/>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5" name="Freeform 4">
            <a:extLst>
              <a:ext uri="{FF2B5EF4-FFF2-40B4-BE49-F238E27FC236}">
                <a16:creationId xmlns:a16="http://schemas.microsoft.com/office/drawing/2014/main" id="{A93EA71E-7F4C-A9BC-907F-7A1A0F78D1A5}"/>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FFF0A-B134-36E4-5C36-FEBD6CFA5B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0FDF5D-59F1-8EDF-DF49-9FE0F78E2DB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6" name="TextBox 6">
            <a:extLst>
              <a:ext uri="{FF2B5EF4-FFF2-40B4-BE49-F238E27FC236}">
                <a16:creationId xmlns:a16="http://schemas.microsoft.com/office/drawing/2014/main" id="{75C53455-AEE3-57E4-ACD8-07DAF8B51CA0}"/>
              </a:ext>
            </a:extLst>
          </p:cNvPr>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a:extLst>
              <a:ext uri="{FF2B5EF4-FFF2-40B4-BE49-F238E27FC236}">
                <a16:creationId xmlns:a16="http://schemas.microsoft.com/office/drawing/2014/main" id="{08C17419-7E63-4F33-AD94-639EC5452001}"/>
              </a:ext>
            </a:extLst>
          </p:cNvPr>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IN" sz="4000" dirty="0">
                <a:latin typeface="Roboto" panose="02000000000000000000" pitchFamily="2" charset="0"/>
                <a:ea typeface="Roboto" panose="02000000000000000000" pitchFamily="2" charset="0"/>
                <a:cs typeface="Roboto" panose="02000000000000000000" pitchFamily="2" charset="0"/>
              </a:rPr>
              <a:t> </a:t>
            </a:r>
            <a:r>
              <a:rPr lang="en-US" sz="4000" dirty="0"/>
              <a:t>2. Drive and Motor Subsystem </a:t>
            </a:r>
            <a:r>
              <a:rPr lang="en-IN" sz="4000" dirty="0">
                <a:latin typeface="Roboto" panose="02000000000000000000" pitchFamily="2" charset="0"/>
                <a:ea typeface="Roboto" panose="02000000000000000000" pitchFamily="2" charset="0"/>
                <a:cs typeface="Roboto" panose="02000000000000000000" pitchFamily="2" charset="0"/>
              </a:rPr>
              <a:t>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8" name="Rectangle 7">
            <a:extLst>
              <a:ext uri="{FF2B5EF4-FFF2-40B4-BE49-F238E27FC236}">
                <a16:creationId xmlns:a16="http://schemas.microsoft.com/office/drawing/2014/main" id="{580C998E-7B77-CDF9-25E5-76ED1846FFD0}"/>
              </a:ext>
            </a:extLst>
          </p:cNvPr>
          <p:cNvSpPr/>
          <p:nvPr/>
        </p:nvSpPr>
        <p:spPr>
          <a:xfrm>
            <a:off x="5943600" y="5524500"/>
            <a:ext cx="91440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AF769F5A-9EB6-7FDA-0696-7C12FDAEF048}"/>
              </a:ext>
            </a:extLst>
          </p:cNvPr>
          <p:cNvSpPr txBox="1"/>
          <p:nvPr/>
        </p:nvSpPr>
        <p:spPr>
          <a:xfrm>
            <a:off x="361950" y="557799"/>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2" name="Table 11">
            <a:extLst>
              <a:ext uri="{FF2B5EF4-FFF2-40B4-BE49-F238E27FC236}">
                <a16:creationId xmlns:a16="http://schemas.microsoft.com/office/drawing/2014/main" id="{A44B224B-F7EB-5483-A6CD-6E82A680456F}"/>
              </a:ext>
            </a:extLst>
          </p:cNvPr>
          <p:cNvGraphicFramePr>
            <a:graphicFrameLocks noGrp="1"/>
          </p:cNvGraphicFramePr>
          <p:nvPr>
            <p:extLst>
              <p:ext uri="{D42A27DB-BD31-4B8C-83A1-F6EECF244321}">
                <p14:modId xmlns:p14="http://schemas.microsoft.com/office/powerpoint/2010/main" val="172662671"/>
              </p:ext>
            </p:extLst>
          </p:nvPr>
        </p:nvGraphicFramePr>
        <p:xfrm>
          <a:off x="685800" y="3149230"/>
          <a:ext cx="14706600" cy="4322649"/>
        </p:xfrm>
        <a:graphic>
          <a:graphicData uri="http://schemas.openxmlformats.org/drawingml/2006/table">
            <a:tbl>
              <a:tblPr firstRow="1" bandRow="1">
                <a:tableStyleId>{69012ECD-51FC-41F1-AA8D-1B2483CD663E}</a:tableStyleId>
              </a:tblPr>
              <a:tblGrid>
                <a:gridCol w="2438400">
                  <a:extLst>
                    <a:ext uri="{9D8B030D-6E8A-4147-A177-3AD203B41FA5}">
                      <a16:colId xmlns:a16="http://schemas.microsoft.com/office/drawing/2014/main" val="2276980789"/>
                    </a:ext>
                  </a:extLst>
                </a:gridCol>
                <a:gridCol w="2438400">
                  <a:extLst>
                    <a:ext uri="{9D8B030D-6E8A-4147-A177-3AD203B41FA5}">
                      <a16:colId xmlns:a16="http://schemas.microsoft.com/office/drawing/2014/main" val="2364619829"/>
                    </a:ext>
                  </a:extLst>
                </a:gridCol>
                <a:gridCol w="4267200">
                  <a:extLst>
                    <a:ext uri="{9D8B030D-6E8A-4147-A177-3AD203B41FA5}">
                      <a16:colId xmlns:a16="http://schemas.microsoft.com/office/drawing/2014/main" val="2605325852"/>
                    </a:ext>
                  </a:extLst>
                </a:gridCol>
                <a:gridCol w="4267200">
                  <a:extLst>
                    <a:ext uri="{9D8B030D-6E8A-4147-A177-3AD203B41FA5}">
                      <a16:colId xmlns:a16="http://schemas.microsoft.com/office/drawing/2014/main" val="2997273722"/>
                    </a:ext>
                  </a:extLst>
                </a:gridCol>
                <a:gridCol w="1295400">
                  <a:extLst>
                    <a:ext uri="{9D8B030D-6E8A-4147-A177-3AD203B41FA5}">
                      <a16:colId xmlns:a16="http://schemas.microsoft.com/office/drawing/2014/main" val="4198280187"/>
                    </a:ext>
                  </a:extLst>
                </a:gridCol>
              </a:tblGrid>
              <a:tr h="521285">
                <a:tc>
                  <a:txBody>
                    <a:bodyPr/>
                    <a:lstStyle/>
                    <a:p>
                      <a:pPr>
                        <a:lnSpc>
                          <a:spcPct val="115000"/>
                        </a:lnSpc>
                        <a:spcAft>
                          <a:spcPts val="1000"/>
                        </a:spcAft>
                        <a:buNone/>
                      </a:pP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Motor Type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b="1" kern="100">
                          <a:effectLst/>
                          <a:latin typeface="Times New Roman" panose="02020603050405020304" pitchFamily="18" charset="0"/>
                          <a:ea typeface="Calibri" panose="020F0502020204030204" pitchFamily="34" charset="0"/>
                          <a:cs typeface="Times New Roman" panose="02020603050405020304" pitchFamily="18" charset="0"/>
                        </a:rPr>
                        <a:t>Key Features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b="1" kern="10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b="1" kern="10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b="1" kern="100">
                          <a:effectLst/>
                          <a:latin typeface="Times New Roman" panose="02020603050405020304" pitchFamily="18" charset="0"/>
                          <a:ea typeface="Calibri" panose="020F0502020204030204" pitchFamily="34" charset="0"/>
                          <a:cs typeface="Times New Roman" panose="02020603050405020304" pitchFamily="18" charset="0"/>
                        </a:rPr>
                        <a:t>Rank</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4090232"/>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Brushless DC (Hub Motor)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Integrated wheel drive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Low maintenance, quiet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Moderate torque, less flexible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820427"/>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Mid-Drive BLDC Motor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Center-mounted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High torque, natural feel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Higher cost, complex chain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4796896"/>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Geared Hub Motor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Internal gear reduction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Better hill climbing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Slight noise, more wear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1563780"/>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Brushed DC Motor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Simple &amp; cheap</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Easy to replace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High maintenance, low efficiency</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4622791"/>
                  </a:ext>
                </a:extLst>
              </a:tr>
            </a:tbl>
          </a:graphicData>
        </a:graphic>
      </p:graphicFrame>
      <p:sp>
        <p:nvSpPr>
          <p:cNvPr id="10" name="Freeform 4">
            <a:extLst>
              <a:ext uri="{FF2B5EF4-FFF2-40B4-BE49-F238E27FC236}">
                <a16:creationId xmlns:a16="http://schemas.microsoft.com/office/drawing/2014/main" id="{37297C53-CCEE-3CEC-338A-E90E85355094}"/>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1" name="TextBox 5">
            <a:extLst>
              <a:ext uri="{FF2B5EF4-FFF2-40B4-BE49-F238E27FC236}">
                <a16:creationId xmlns:a16="http://schemas.microsoft.com/office/drawing/2014/main" id="{BFB40F1D-FF35-D049-E7F7-A4A0E19985B6}"/>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3" name="Freeform 4">
            <a:extLst>
              <a:ext uri="{FF2B5EF4-FFF2-40B4-BE49-F238E27FC236}">
                <a16:creationId xmlns:a16="http://schemas.microsoft.com/office/drawing/2014/main" id="{E599CC7B-A4D4-959F-F931-850DF36E42A1}"/>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263951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978A-8FC5-19A4-5DEB-3EA76B6C73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DABAE3-DC69-AB32-E688-405E77FD957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4" name="Freeform 4">
            <a:extLst>
              <a:ext uri="{FF2B5EF4-FFF2-40B4-BE49-F238E27FC236}">
                <a16:creationId xmlns:a16="http://schemas.microsoft.com/office/drawing/2014/main" id="{4F05AC5D-24EA-558F-7520-0B651126608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5" name="TextBox 5">
            <a:extLst>
              <a:ext uri="{FF2B5EF4-FFF2-40B4-BE49-F238E27FC236}">
                <a16:creationId xmlns:a16="http://schemas.microsoft.com/office/drawing/2014/main" id="{E88CF761-3775-4FA5-B5E5-F0474077E553}"/>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6" name="TextBox 6">
            <a:extLst>
              <a:ext uri="{FF2B5EF4-FFF2-40B4-BE49-F238E27FC236}">
                <a16:creationId xmlns:a16="http://schemas.microsoft.com/office/drawing/2014/main" id="{5232DAD0-A5E7-158F-47EB-690128A9ED4B}"/>
              </a:ext>
            </a:extLst>
          </p:cNvPr>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a:extLst>
              <a:ext uri="{FF2B5EF4-FFF2-40B4-BE49-F238E27FC236}">
                <a16:creationId xmlns:a16="http://schemas.microsoft.com/office/drawing/2014/main" id="{A7C029C0-2409-29F0-BA10-13348CBC0354}"/>
              </a:ext>
            </a:extLst>
          </p:cNvPr>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US" sz="4000" dirty="0"/>
              <a:t>3. Battery and Power Subsystem</a:t>
            </a:r>
            <a:r>
              <a:rPr lang="en-IN" sz="4000" dirty="0">
                <a:latin typeface="Roboto" panose="02000000000000000000" pitchFamily="2" charset="0"/>
                <a:ea typeface="Roboto" panose="02000000000000000000" pitchFamily="2" charset="0"/>
                <a:cs typeface="Roboto" panose="02000000000000000000" pitchFamily="2" charset="0"/>
              </a:rPr>
              <a:t>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9" name="TextBox 8">
            <a:extLst>
              <a:ext uri="{FF2B5EF4-FFF2-40B4-BE49-F238E27FC236}">
                <a16:creationId xmlns:a16="http://schemas.microsoft.com/office/drawing/2014/main" id="{8532D0D6-4D69-19DB-A99E-CC5FF601434E}"/>
              </a:ext>
            </a:extLst>
          </p:cNvPr>
          <p:cNvSpPr txBox="1"/>
          <p:nvPr/>
        </p:nvSpPr>
        <p:spPr>
          <a:xfrm>
            <a:off x="152400" y="347330"/>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0" name="Table 9">
            <a:extLst>
              <a:ext uri="{FF2B5EF4-FFF2-40B4-BE49-F238E27FC236}">
                <a16:creationId xmlns:a16="http://schemas.microsoft.com/office/drawing/2014/main" id="{C1636D9B-7414-1871-BFCB-B54D2F5A7306}"/>
              </a:ext>
            </a:extLst>
          </p:cNvPr>
          <p:cNvGraphicFramePr>
            <a:graphicFrameLocks noGrp="1"/>
          </p:cNvGraphicFramePr>
          <p:nvPr>
            <p:extLst>
              <p:ext uri="{D42A27DB-BD31-4B8C-83A1-F6EECF244321}">
                <p14:modId xmlns:p14="http://schemas.microsoft.com/office/powerpoint/2010/main" val="414785276"/>
              </p:ext>
            </p:extLst>
          </p:nvPr>
        </p:nvGraphicFramePr>
        <p:xfrm>
          <a:off x="838200" y="3223109"/>
          <a:ext cx="10059671" cy="5145830"/>
        </p:xfrm>
        <a:graphic>
          <a:graphicData uri="http://schemas.openxmlformats.org/drawingml/2006/table">
            <a:tbl>
              <a:tblPr firstRow="1" firstCol="1" bandRow="1">
                <a:tableStyleId>{69012ECD-51FC-41F1-AA8D-1B2483CD663E}</a:tableStyleId>
              </a:tblPr>
              <a:tblGrid>
                <a:gridCol w="2820670">
                  <a:extLst>
                    <a:ext uri="{9D8B030D-6E8A-4147-A177-3AD203B41FA5}">
                      <a16:colId xmlns:a16="http://schemas.microsoft.com/office/drawing/2014/main" val="3666360647"/>
                    </a:ext>
                  </a:extLst>
                </a:gridCol>
                <a:gridCol w="2153691">
                  <a:extLst>
                    <a:ext uri="{9D8B030D-6E8A-4147-A177-3AD203B41FA5}">
                      <a16:colId xmlns:a16="http://schemas.microsoft.com/office/drawing/2014/main" val="3319849464"/>
                    </a:ext>
                  </a:extLst>
                </a:gridCol>
                <a:gridCol w="1694492">
                  <a:extLst>
                    <a:ext uri="{9D8B030D-6E8A-4147-A177-3AD203B41FA5}">
                      <a16:colId xmlns:a16="http://schemas.microsoft.com/office/drawing/2014/main" val="4097080587"/>
                    </a:ext>
                  </a:extLst>
                </a:gridCol>
                <a:gridCol w="1695409">
                  <a:extLst>
                    <a:ext uri="{9D8B030D-6E8A-4147-A177-3AD203B41FA5}">
                      <a16:colId xmlns:a16="http://schemas.microsoft.com/office/drawing/2014/main" val="3565463242"/>
                    </a:ext>
                  </a:extLst>
                </a:gridCol>
                <a:gridCol w="1695409">
                  <a:extLst>
                    <a:ext uri="{9D8B030D-6E8A-4147-A177-3AD203B41FA5}">
                      <a16:colId xmlns:a16="http://schemas.microsoft.com/office/drawing/2014/main" val="770478708"/>
                    </a:ext>
                  </a:extLst>
                </a:gridCol>
              </a:tblGrid>
              <a:tr h="802072">
                <a:tc>
                  <a:txBody>
                    <a:bodyPr/>
                    <a:lstStyle/>
                    <a:p>
                      <a:pPr>
                        <a:lnSpc>
                          <a:spcPct val="115000"/>
                        </a:lnSpc>
                        <a:spcAft>
                          <a:spcPts val="1000"/>
                        </a:spcAft>
                        <a:buNone/>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Battery Type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Voltage / Capacity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b="1" kern="10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b="1" kern="10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b="1" kern="100">
                          <a:effectLst/>
                          <a:latin typeface="Times New Roman" panose="02020603050405020304" pitchFamily="18" charset="0"/>
                          <a:ea typeface="Calibri" panose="020F0502020204030204" pitchFamily="34" charset="0"/>
                          <a:cs typeface="Times New Roman" panose="02020603050405020304" pitchFamily="18" charset="0"/>
                        </a:rPr>
                        <a:t>Rank</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5948820"/>
                  </a:ext>
                </a:extLst>
              </a:tr>
              <a:tr h="0">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Lithium-Ion (18650 / 21700 cells)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36–48 V, 10–15 Ah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High energy density, rechargeable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Needs BMS protection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3488767"/>
                  </a:ext>
                </a:extLst>
              </a:tr>
              <a:tr h="1215245">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Lithium Iron Phosphate (LiFePO₄)</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36–48 V, 12 Ah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Long life, thermally stable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Slightly heavier</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1159578"/>
                  </a:ext>
                </a:extLst>
              </a:tr>
              <a:tr h="1046014">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Lead Acid (Sealed)</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24–36 V, 20 Ah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Very low cost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Heavy, low cycle life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044340"/>
                  </a:ext>
                </a:extLst>
              </a:tr>
              <a:tr h="802072">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Solid-State Battery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48 V, 10 Ah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Ultra safe, compact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latin typeface="Times New Roman" panose="02020603050405020304" pitchFamily="18" charset="0"/>
                          <a:ea typeface="Calibri" panose="020F0502020204030204" pitchFamily="34" charset="0"/>
                          <a:cs typeface="Times New Roman" panose="02020603050405020304" pitchFamily="18" charset="0"/>
                        </a:rPr>
                        <a:t>Not yet affordable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2217004"/>
                  </a:ext>
                </a:extLst>
              </a:tr>
            </a:tbl>
          </a:graphicData>
        </a:graphic>
      </p:graphicFrame>
      <p:sp>
        <p:nvSpPr>
          <p:cNvPr id="13" name="Freeform 4">
            <a:extLst>
              <a:ext uri="{FF2B5EF4-FFF2-40B4-BE49-F238E27FC236}">
                <a16:creationId xmlns:a16="http://schemas.microsoft.com/office/drawing/2014/main" id="{93C921C3-42F6-BFF3-473F-1D13474B20E8}"/>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4" name="TextBox 5">
            <a:extLst>
              <a:ext uri="{FF2B5EF4-FFF2-40B4-BE49-F238E27FC236}">
                <a16:creationId xmlns:a16="http://schemas.microsoft.com/office/drawing/2014/main" id="{8414C36C-7295-CB60-22B6-B7A2B0334625}"/>
              </a:ext>
            </a:extLst>
          </p:cNvPr>
          <p:cNvSpPr txBox="1"/>
          <p:nvPr/>
        </p:nvSpPr>
        <p:spPr>
          <a:xfrm>
            <a:off x="360947" y="12754270"/>
            <a:ext cx="18516600" cy="441175"/>
          </a:xfrm>
          <a:prstGeom prst="rect">
            <a:avLst/>
          </a:prstGeom>
        </p:spPr>
        <p:txBody>
          <a:bodyPr lIns="50800" tIns="50800" rIns="50800" bIns="50800" rtlCol="0" anchor="ctr"/>
          <a:lstStyle/>
          <a:p>
            <a:pPr algn="ctr">
              <a:lnSpc>
                <a:spcPts val="2659"/>
              </a:lnSpc>
            </a:pPr>
            <a:endParaRPr/>
          </a:p>
        </p:txBody>
      </p:sp>
    </p:spTree>
    <p:extLst>
      <p:ext uri="{BB962C8B-B14F-4D97-AF65-F5344CB8AC3E}">
        <p14:creationId xmlns:p14="http://schemas.microsoft.com/office/powerpoint/2010/main" val="257321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3A2F-2A6F-00B7-A14A-B2204F8009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DACCA0-EE4F-D34E-A8C1-3A7EFBA2DB5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6" name="TextBox 6">
            <a:extLst>
              <a:ext uri="{FF2B5EF4-FFF2-40B4-BE49-F238E27FC236}">
                <a16:creationId xmlns:a16="http://schemas.microsoft.com/office/drawing/2014/main" id="{2C6E9C21-398D-6A1D-8590-372F5C7951C9}"/>
              </a:ext>
            </a:extLst>
          </p:cNvPr>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a:extLst>
              <a:ext uri="{FF2B5EF4-FFF2-40B4-BE49-F238E27FC236}">
                <a16:creationId xmlns:a16="http://schemas.microsoft.com/office/drawing/2014/main" id="{72E23FF6-C5FC-2CE7-DB17-ACF0BEF7B511}"/>
              </a:ext>
            </a:extLst>
          </p:cNvPr>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US" sz="4000" dirty="0"/>
              <a:t>4. Control and Connectivity Subsystem</a:t>
            </a:r>
            <a:r>
              <a:rPr lang="en-IN" sz="4000" dirty="0">
                <a:latin typeface="Roboto" panose="02000000000000000000" pitchFamily="2" charset="0"/>
                <a:ea typeface="Roboto" panose="02000000000000000000" pitchFamily="2" charset="0"/>
                <a:cs typeface="Roboto" panose="02000000000000000000" pitchFamily="2" charset="0"/>
              </a:rPr>
              <a:t>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8" name="Rectangle 7">
            <a:extLst>
              <a:ext uri="{FF2B5EF4-FFF2-40B4-BE49-F238E27FC236}">
                <a16:creationId xmlns:a16="http://schemas.microsoft.com/office/drawing/2014/main" id="{C31EF722-3EEC-DC5D-6931-C1CBB098E113}"/>
              </a:ext>
            </a:extLst>
          </p:cNvPr>
          <p:cNvSpPr/>
          <p:nvPr/>
        </p:nvSpPr>
        <p:spPr>
          <a:xfrm>
            <a:off x="5943600" y="5524500"/>
            <a:ext cx="91440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5651AF9F-50ED-D790-AE91-8178E9422801}"/>
              </a:ext>
            </a:extLst>
          </p:cNvPr>
          <p:cNvSpPr txBox="1"/>
          <p:nvPr/>
        </p:nvSpPr>
        <p:spPr>
          <a:xfrm>
            <a:off x="685800" y="615497"/>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2" name="Table 11">
            <a:extLst>
              <a:ext uri="{FF2B5EF4-FFF2-40B4-BE49-F238E27FC236}">
                <a16:creationId xmlns:a16="http://schemas.microsoft.com/office/drawing/2014/main" id="{C7331BC6-23C3-3FFA-8151-AF2F1BCDE050}"/>
              </a:ext>
            </a:extLst>
          </p:cNvPr>
          <p:cNvGraphicFramePr>
            <a:graphicFrameLocks noGrp="1"/>
          </p:cNvGraphicFramePr>
          <p:nvPr>
            <p:extLst>
              <p:ext uri="{D42A27DB-BD31-4B8C-83A1-F6EECF244321}">
                <p14:modId xmlns:p14="http://schemas.microsoft.com/office/powerpoint/2010/main" val="3736545154"/>
              </p:ext>
            </p:extLst>
          </p:nvPr>
        </p:nvGraphicFramePr>
        <p:xfrm>
          <a:off x="685800" y="3189338"/>
          <a:ext cx="14706600" cy="5304105"/>
        </p:xfrm>
        <a:graphic>
          <a:graphicData uri="http://schemas.openxmlformats.org/drawingml/2006/table">
            <a:tbl>
              <a:tblPr firstRow="1" bandRow="1">
                <a:tableStyleId>{69012ECD-51FC-41F1-AA8D-1B2483CD663E}</a:tableStyleId>
              </a:tblPr>
              <a:tblGrid>
                <a:gridCol w="2438400">
                  <a:extLst>
                    <a:ext uri="{9D8B030D-6E8A-4147-A177-3AD203B41FA5}">
                      <a16:colId xmlns:a16="http://schemas.microsoft.com/office/drawing/2014/main" val="2276980789"/>
                    </a:ext>
                  </a:extLst>
                </a:gridCol>
                <a:gridCol w="2438400">
                  <a:extLst>
                    <a:ext uri="{9D8B030D-6E8A-4147-A177-3AD203B41FA5}">
                      <a16:colId xmlns:a16="http://schemas.microsoft.com/office/drawing/2014/main" val="2364619829"/>
                    </a:ext>
                  </a:extLst>
                </a:gridCol>
                <a:gridCol w="4267200">
                  <a:extLst>
                    <a:ext uri="{9D8B030D-6E8A-4147-A177-3AD203B41FA5}">
                      <a16:colId xmlns:a16="http://schemas.microsoft.com/office/drawing/2014/main" val="2605325852"/>
                    </a:ext>
                  </a:extLst>
                </a:gridCol>
                <a:gridCol w="4267200">
                  <a:extLst>
                    <a:ext uri="{9D8B030D-6E8A-4147-A177-3AD203B41FA5}">
                      <a16:colId xmlns:a16="http://schemas.microsoft.com/office/drawing/2014/main" val="2997273722"/>
                    </a:ext>
                  </a:extLst>
                </a:gridCol>
                <a:gridCol w="1295400">
                  <a:extLst>
                    <a:ext uri="{9D8B030D-6E8A-4147-A177-3AD203B41FA5}">
                      <a16:colId xmlns:a16="http://schemas.microsoft.com/office/drawing/2014/main" val="4198280187"/>
                    </a:ext>
                  </a:extLst>
                </a:gridCol>
              </a:tblGrid>
              <a:tr h="521285">
                <a:tc>
                  <a:txBody>
                    <a:bodyPr/>
                    <a:lstStyle/>
                    <a:p>
                      <a:pPr>
                        <a:lnSpc>
                          <a:spcPct val="115000"/>
                        </a:lnSpc>
                        <a:spcAft>
                          <a:spcPts val="10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System Option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Rank</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2881836"/>
                  </a:ext>
                </a:extLst>
              </a:tr>
              <a:tr h="0">
                <a:tc>
                  <a:txBody>
                    <a:bodyPr/>
                    <a:lstStyle/>
                    <a:p>
                      <a:pPr>
                        <a:lnSpc>
                          <a:spcPct val="115000"/>
                        </a:lnSpc>
                        <a:spcAft>
                          <a:spcPts val="10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Smart MCU + LCD Display + Bluetooth App</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Real-time speed, battery, GPS</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User-friendly, low cost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Limited advanced analytics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1301296"/>
                  </a:ext>
                </a:extLst>
              </a:tr>
              <a:tr h="521285">
                <a:tc>
                  <a:txBody>
                    <a:bodyPr/>
                    <a:lstStyle/>
                    <a:p>
                      <a:pPr>
                        <a:lnSpc>
                          <a:spcPct val="115000"/>
                        </a:lnSpc>
                        <a:spcAft>
                          <a:spcPts val="10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IoT Cloud Module (4G/Wi-Fi)</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Remote monitoring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Advanced data access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Expensive, needs SIM/internet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5671027"/>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Basic LED Panel Only</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Battery + speed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Cheap, simple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Lacks connectivity</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1733226"/>
                  </a:ext>
                </a:extLst>
              </a:tr>
              <a:tr h="521285">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Touchscreen Dashboard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Color display, GPS map</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Premium appeal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High power draw</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53882044"/>
                  </a:ext>
                </a:extLst>
              </a:tr>
            </a:tbl>
          </a:graphicData>
        </a:graphic>
      </p:graphicFrame>
      <p:sp>
        <p:nvSpPr>
          <p:cNvPr id="10" name="Freeform 4">
            <a:extLst>
              <a:ext uri="{FF2B5EF4-FFF2-40B4-BE49-F238E27FC236}">
                <a16:creationId xmlns:a16="http://schemas.microsoft.com/office/drawing/2014/main" id="{89295570-2CA1-A698-C512-EB9C3B52D44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1" name="TextBox 5">
            <a:extLst>
              <a:ext uri="{FF2B5EF4-FFF2-40B4-BE49-F238E27FC236}">
                <a16:creationId xmlns:a16="http://schemas.microsoft.com/office/drawing/2014/main" id="{EE24ED74-F846-5717-061C-7DFCC61ED5F5}"/>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3" name="Freeform 4">
            <a:extLst>
              <a:ext uri="{FF2B5EF4-FFF2-40B4-BE49-F238E27FC236}">
                <a16:creationId xmlns:a16="http://schemas.microsoft.com/office/drawing/2014/main" id="{9B0E248C-00E2-DEFD-2C15-4C7DB002F72D}"/>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3098433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97A26-BB82-B333-4F85-E39C0FFF091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E9BEC8-0415-16F5-A4C0-C640A4E68A0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6" name="TextBox 6">
            <a:extLst>
              <a:ext uri="{FF2B5EF4-FFF2-40B4-BE49-F238E27FC236}">
                <a16:creationId xmlns:a16="http://schemas.microsoft.com/office/drawing/2014/main" id="{1EB01F0C-E1D9-6350-672F-E45877DFE611}"/>
              </a:ext>
            </a:extLst>
          </p:cNvPr>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a:extLst>
              <a:ext uri="{FF2B5EF4-FFF2-40B4-BE49-F238E27FC236}">
                <a16:creationId xmlns:a16="http://schemas.microsoft.com/office/drawing/2014/main" id="{CDEF717E-A8F9-5426-6AB8-4F219058B72B}"/>
              </a:ext>
            </a:extLst>
          </p:cNvPr>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US" sz="4000" dirty="0"/>
              <a:t>5. Ergonomic and Safety Subsystem</a:t>
            </a:r>
            <a:r>
              <a:rPr lang="en-IN" sz="4000" dirty="0">
                <a:latin typeface="Roboto" panose="02000000000000000000" pitchFamily="2" charset="0"/>
                <a:ea typeface="Roboto" panose="02000000000000000000" pitchFamily="2" charset="0"/>
                <a:cs typeface="Roboto" panose="02000000000000000000" pitchFamily="2" charset="0"/>
              </a:rPr>
              <a:t>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8" name="Rectangle 7">
            <a:extLst>
              <a:ext uri="{FF2B5EF4-FFF2-40B4-BE49-F238E27FC236}">
                <a16:creationId xmlns:a16="http://schemas.microsoft.com/office/drawing/2014/main" id="{91CA9233-60C0-5CB9-A9B1-4CD5EE2A72F5}"/>
              </a:ext>
            </a:extLst>
          </p:cNvPr>
          <p:cNvSpPr/>
          <p:nvPr/>
        </p:nvSpPr>
        <p:spPr>
          <a:xfrm>
            <a:off x="5943600" y="5524500"/>
            <a:ext cx="91440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C6B21EFF-264C-6196-880E-949442DB8005}"/>
              </a:ext>
            </a:extLst>
          </p:cNvPr>
          <p:cNvSpPr txBox="1"/>
          <p:nvPr/>
        </p:nvSpPr>
        <p:spPr>
          <a:xfrm>
            <a:off x="360947" y="776886"/>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6" name="Table 15">
            <a:extLst>
              <a:ext uri="{FF2B5EF4-FFF2-40B4-BE49-F238E27FC236}">
                <a16:creationId xmlns:a16="http://schemas.microsoft.com/office/drawing/2014/main" id="{B6DA8701-AEA1-1F86-2732-4B4AECF7B6E0}"/>
              </a:ext>
            </a:extLst>
          </p:cNvPr>
          <p:cNvGraphicFramePr>
            <a:graphicFrameLocks noGrp="1"/>
          </p:cNvGraphicFramePr>
          <p:nvPr>
            <p:extLst>
              <p:ext uri="{D42A27DB-BD31-4B8C-83A1-F6EECF244321}">
                <p14:modId xmlns:p14="http://schemas.microsoft.com/office/powerpoint/2010/main" val="487120524"/>
              </p:ext>
            </p:extLst>
          </p:nvPr>
        </p:nvGraphicFramePr>
        <p:xfrm>
          <a:off x="1104900" y="3114068"/>
          <a:ext cx="12391644" cy="5673217"/>
        </p:xfrm>
        <a:graphic>
          <a:graphicData uri="http://schemas.openxmlformats.org/drawingml/2006/table">
            <a:tbl>
              <a:tblPr firstRow="1" bandRow="1">
                <a:tableStyleId>{69012ECD-51FC-41F1-AA8D-1B2483CD663E}</a:tableStyleId>
              </a:tblPr>
              <a:tblGrid>
                <a:gridCol w="3048000">
                  <a:extLst>
                    <a:ext uri="{9D8B030D-6E8A-4147-A177-3AD203B41FA5}">
                      <a16:colId xmlns:a16="http://schemas.microsoft.com/office/drawing/2014/main" val="1696938181"/>
                    </a:ext>
                  </a:extLst>
                </a:gridCol>
                <a:gridCol w="4201160">
                  <a:extLst>
                    <a:ext uri="{9D8B030D-6E8A-4147-A177-3AD203B41FA5}">
                      <a16:colId xmlns:a16="http://schemas.microsoft.com/office/drawing/2014/main" val="4281132548"/>
                    </a:ext>
                  </a:extLst>
                </a:gridCol>
                <a:gridCol w="3732784">
                  <a:extLst>
                    <a:ext uri="{9D8B030D-6E8A-4147-A177-3AD203B41FA5}">
                      <a16:colId xmlns:a16="http://schemas.microsoft.com/office/drawing/2014/main" val="3336186616"/>
                    </a:ext>
                  </a:extLst>
                </a:gridCol>
                <a:gridCol w="1409700">
                  <a:extLst>
                    <a:ext uri="{9D8B030D-6E8A-4147-A177-3AD203B41FA5}">
                      <a16:colId xmlns:a16="http://schemas.microsoft.com/office/drawing/2014/main" val="1989461268"/>
                    </a:ext>
                  </a:extLst>
                </a:gridCol>
              </a:tblGrid>
              <a:tr h="370840">
                <a:tc>
                  <a:txBody>
                    <a:bodyPr/>
                    <a:lstStyle/>
                    <a:p>
                      <a:pPr>
                        <a:lnSpc>
                          <a:spcPct val="115000"/>
                        </a:lnSpc>
                        <a:spcAft>
                          <a:spcPts val="1000"/>
                        </a:spcAft>
                        <a:buNone/>
                      </a:pP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Component / Design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Rank</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9125321"/>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Hydraulic Disc Brakes (Front &amp; Rear)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High braking power, safe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Slightly higher cost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177136"/>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Mechanical Disc Brakes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Inexpensive, easy to service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Less efficient under load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8991678"/>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Drum Brakes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Low maintenance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Heavy, poor cooling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4</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0664721"/>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V-Brakes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Cheap and simple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Poor wet performance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5</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9482867"/>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Adjustable Seat + Handleba</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Fits all riders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Slightly heavier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5585514"/>
                  </a:ext>
                </a:extLst>
              </a:tr>
              <a:tr h="370840">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Fixed Geometry</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Lightweight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latin typeface="Times New Roman" panose="02020603050405020304" pitchFamily="18" charset="0"/>
                          <a:ea typeface="Calibri" panose="020F0502020204030204" pitchFamily="34" charset="0"/>
                          <a:cs typeface="Times New Roman" panose="02020603050405020304" pitchFamily="18" charset="0"/>
                        </a:rPr>
                        <a:t>Not adaptable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6</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8396954"/>
                  </a:ext>
                </a:extLst>
              </a:tr>
            </a:tbl>
          </a:graphicData>
        </a:graphic>
      </p:graphicFrame>
      <p:sp>
        <p:nvSpPr>
          <p:cNvPr id="20" name="Freeform 4">
            <a:extLst>
              <a:ext uri="{FF2B5EF4-FFF2-40B4-BE49-F238E27FC236}">
                <a16:creationId xmlns:a16="http://schemas.microsoft.com/office/drawing/2014/main" id="{509AF3E3-5046-E71A-B3B8-7D7F0DC8B70B}"/>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21" name="TextBox 5">
            <a:extLst>
              <a:ext uri="{FF2B5EF4-FFF2-40B4-BE49-F238E27FC236}">
                <a16:creationId xmlns:a16="http://schemas.microsoft.com/office/drawing/2014/main" id="{6570451D-6F29-3269-0C25-D2340B79D1CD}"/>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22" name="Freeform 4">
            <a:extLst>
              <a:ext uri="{FF2B5EF4-FFF2-40B4-BE49-F238E27FC236}">
                <a16:creationId xmlns:a16="http://schemas.microsoft.com/office/drawing/2014/main" id="{E6880ACA-E6F4-37A0-5012-11E446A6D207}"/>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234963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B8CA0-AFF9-9624-FDF6-1A1DC403C0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8F8B71-E930-2DFF-4064-8614C3865CB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IN" sz="4000" dirty="0">
              <a:solidFill>
                <a:srgbClr val="0070C0"/>
              </a:solidFill>
              <a:latin typeface="League Spartan" panose="020B0604020202020204" charset="0"/>
            </a:endParaRPr>
          </a:p>
          <a:p>
            <a:endParaRPr lang="en-IN" sz="4000" dirty="0">
              <a:solidFill>
                <a:srgbClr val="0070C0"/>
              </a:solidFill>
              <a:latin typeface="League Spartan" panose="020B0604020202020204" charset="0"/>
            </a:endParaRPr>
          </a:p>
        </p:txBody>
      </p:sp>
      <p:sp>
        <p:nvSpPr>
          <p:cNvPr id="6" name="TextBox 6">
            <a:extLst>
              <a:ext uri="{FF2B5EF4-FFF2-40B4-BE49-F238E27FC236}">
                <a16:creationId xmlns:a16="http://schemas.microsoft.com/office/drawing/2014/main" id="{D4464835-024B-D265-6341-35ABF895E345}"/>
              </a:ext>
            </a:extLst>
          </p:cNvPr>
          <p:cNvSpPr txBox="1"/>
          <p:nvPr/>
        </p:nvSpPr>
        <p:spPr>
          <a:xfrm>
            <a:off x="11982450" y="1681184"/>
            <a:ext cx="4243380" cy="912915"/>
          </a:xfrm>
          <a:prstGeom prst="rect">
            <a:avLst/>
          </a:prstGeom>
        </p:spPr>
        <p:txBody>
          <a:bodyPr lIns="0" tIns="0" rIns="0" bIns="0" rtlCol="0" anchor="t">
            <a:spAutoFit/>
          </a:bodyPr>
          <a:lstStyle/>
          <a:p>
            <a:pPr algn="l">
              <a:lnSpc>
                <a:spcPts val="7431"/>
              </a:lnSpc>
            </a:pPr>
            <a:endParaRPr lang="en-US" sz="5308" dirty="0">
              <a:solidFill>
                <a:srgbClr val="004AAD"/>
              </a:solidFill>
              <a:latin typeface="League Spartan"/>
              <a:ea typeface="League Spartan"/>
              <a:cs typeface="League Spartan"/>
              <a:sym typeface="League Spartan"/>
            </a:endParaRPr>
          </a:p>
        </p:txBody>
      </p:sp>
      <p:sp>
        <p:nvSpPr>
          <p:cNvPr id="7" name="TextBox 7">
            <a:extLst>
              <a:ext uri="{FF2B5EF4-FFF2-40B4-BE49-F238E27FC236}">
                <a16:creationId xmlns:a16="http://schemas.microsoft.com/office/drawing/2014/main" id="{8E5223BB-C380-0F9C-0478-F10B3D357D8F}"/>
              </a:ext>
            </a:extLst>
          </p:cNvPr>
          <p:cNvSpPr txBox="1"/>
          <p:nvPr/>
        </p:nvSpPr>
        <p:spPr>
          <a:xfrm>
            <a:off x="360947" y="2137641"/>
            <a:ext cx="9661735" cy="820738"/>
          </a:xfrm>
          <a:prstGeom prst="rect">
            <a:avLst/>
          </a:prstGeom>
        </p:spPr>
        <p:txBody>
          <a:bodyPr wrap="square" lIns="0" tIns="0" rIns="0" bIns="0" rtlCol="0" anchor="t">
            <a:spAutoFit/>
          </a:bodyPr>
          <a:lstStyle/>
          <a:p>
            <a:pPr>
              <a:lnSpc>
                <a:spcPts val="7212"/>
              </a:lnSpc>
            </a:pPr>
            <a:r>
              <a:rPr lang="en-US" sz="4000" dirty="0"/>
              <a:t>6. Storage and Utility Subsystem</a:t>
            </a:r>
            <a:r>
              <a:rPr lang="en-IN" sz="4000" dirty="0">
                <a:latin typeface="Roboto" panose="02000000000000000000" pitchFamily="2" charset="0"/>
                <a:ea typeface="Roboto" panose="02000000000000000000" pitchFamily="2" charset="0"/>
                <a:cs typeface="Roboto" panose="02000000000000000000" pitchFamily="2" charset="0"/>
              </a:rPr>
              <a:t> </a:t>
            </a:r>
            <a:endParaRPr lang="en-US" sz="4000" dirty="0">
              <a:solidFill>
                <a:srgbClr val="000000"/>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8" name="Rectangle 7">
            <a:extLst>
              <a:ext uri="{FF2B5EF4-FFF2-40B4-BE49-F238E27FC236}">
                <a16:creationId xmlns:a16="http://schemas.microsoft.com/office/drawing/2014/main" id="{58EBD31D-C916-F8DA-BE81-F3869C04C865}"/>
              </a:ext>
            </a:extLst>
          </p:cNvPr>
          <p:cNvSpPr/>
          <p:nvPr/>
        </p:nvSpPr>
        <p:spPr>
          <a:xfrm>
            <a:off x="5943600" y="5524500"/>
            <a:ext cx="91440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460B2C3C-4A23-B31B-B3FA-C7CEC125D49A}"/>
              </a:ext>
            </a:extLst>
          </p:cNvPr>
          <p:cNvSpPr txBox="1"/>
          <p:nvPr/>
        </p:nvSpPr>
        <p:spPr>
          <a:xfrm>
            <a:off x="340894" y="561843"/>
            <a:ext cx="12877800" cy="2246769"/>
          </a:xfrm>
          <a:prstGeom prst="rect">
            <a:avLst/>
          </a:prstGeom>
          <a:noFill/>
        </p:spPr>
        <p:txBody>
          <a:bodyPr wrap="square" rtlCol="0">
            <a:spAutoFit/>
          </a:bodyPr>
          <a:lstStyle/>
          <a:p>
            <a:r>
              <a:rPr lang="en-IN" sz="4800" dirty="0">
                <a:solidFill>
                  <a:srgbClr val="004AAD"/>
                </a:solidFill>
                <a:latin typeface="League Spartan" panose="020B0604020202020204" charset="0"/>
              </a:rPr>
              <a:t>Combining Sub-Solutions into Subsystems</a:t>
            </a:r>
          </a:p>
          <a:p>
            <a:endParaRPr lang="en-IN" sz="4400" dirty="0">
              <a:solidFill>
                <a:srgbClr val="004AAD"/>
              </a:solidFill>
            </a:endParaRPr>
          </a:p>
        </p:txBody>
      </p:sp>
      <p:graphicFrame>
        <p:nvGraphicFramePr>
          <p:cNvPr id="11" name="Table 10">
            <a:extLst>
              <a:ext uri="{FF2B5EF4-FFF2-40B4-BE49-F238E27FC236}">
                <a16:creationId xmlns:a16="http://schemas.microsoft.com/office/drawing/2014/main" id="{D025248A-5E49-6E84-4316-D913FCE02268}"/>
              </a:ext>
            </a:extLst>
          </p:cNvPr>
          <p:cNvGraphicFramePr>
            <a:graphicFrameLocks noGrp="1"/>
          </p:cNvGraphicFramePr>
          <p:nvPr>
            <p:extLst>
              <p:ext uri="{D42A27DB-BD31-4B8C-83A1-F6EECF244321}">
                <p14:modId xmlns:p14="http://schemas.microsoft.com/office/powerpoint/2010/main" val="3613539885"/>
              </p:ext>
            </p:extLst>
          </p:nvPr>
        </p:nvGraphicFramePr>
        <p:xfrm>
          <a:off x="914400" y="3076295"/>
          <a:ext cx="12896893" cy="5076623"/>
        </p:xfrm>
        <a:graphic>
          <a:graphicData uri="http://schemas.openxmlformats.org/drawingml/2006/table">
            <a:tbl>
              <a:tblPr firstRow="1" firstCol="1" bandRow="1">
                <a:tableStyleId>{69012ECD-51FC-41F1-AA8D-1B2483CD663E}</a:tableStyleId>
              </a:tblPr>
              <a:tblGrid>
                <a:gridCol w="2827481">
                  <a:extLst>
                    <a:ext uri="{9D8B030D-6E8A-4147-A177-3AD203B41FA5}">
                      <a16:colId xmlns:a16="http://schemas.microsoft.com/office/drawing/2014/main" val="394925584"/>
                    </a:ext>
                  </a:extLst>
                </a:gridCol>
                <a:gridCol w="3685667">
                  <a:extLst>
                    <a:ext uri="{9D8B030D-6E8A-4147-A177-3AD203B41FA5}">
                      <a16:colId xmlns:a16="http://schemas.microsoft.com/office/drawing/2014/main" val="1524660802"/>
                    </a:ext>
                  </a:extLst>
                </a:gridCol>
                <a:gridCol w="4595050">
                  <a:extLst>
                    <a:ext uri="{9D8B030D-6E8A-4147-A177-3AD203B41FA5}">
                      <a16:colId xmlns:a16="http://schemas.microsoft.com/office/drawing/2014/main" val="3096438773"/>
                    </a:ext>
                  </a:extLst>
                </a:gridCol>
                <a:gridCol w="1788695">
                  <a:extLst>
                    <a:ext uri="{9D8B030D-6E8A-4147-A177-3AD203B41FA5}">
                      <a16:colId xmlns:a16="http://schemas.microsoft.com/office/drawing/2014/main" val="1339548680"/>
                    </a:ext>
                  </a:extLst>
                </a:gridCol>
              </a:tblGrid>
              <a:tr h="969502">
                <a:tc>
                  <a:txBody>
                    <a:bodyPr/>
                    <a:lstStyle/>
                    <a:p>
                      <a:pPr>
                        <a:lnSpc>
                          <a:spcPct val="115000"/>
                        </a:lnSpc>
                        <a:spcAft>
                          <a:spcPts val="1000"/>
                        </a:spcAft>
                        <a:buNone/>
                      </a:pPr>
                      <a:r>
                        <a:rPr lang="en-IN" sz="2800" kern="100">
                          <a:effectLst/>
                        </a:rPr>
                        <a:t>Storage Option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Pros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Cons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Rank</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8432319"/>
                  </a:ext>
                </a:extLst>
              </a:tr>
              <a:tr h="1215490">
                <a:tc>
                  <a:txBody>
                    <a:bodyPr/>
                    <a:lstStyle/>
                    <a:p>
                      <a:pPr>
                        <a:lnSpc>
                          <a:spcPct val="115000"/>
                        </a:lnSpc>
                        <a:spcAft>
                          <a:spcPts val="1000"/>
                        </a:spcAft>
                        <a:buNone/>
                      </a:pPr>
                      <a:r>
                        <a:rPr lang="en-IN" sz="2800" kern="100">
                          <a:effectLst/>
                        </a:rPr>
                        <a:t>Detachable Rear Box (Plastic/FRP)</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Lightweight, waterproof</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Limited volume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rPr>
                        <a:t>1</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7451966"/>
                  </a:ext>
                </a:extLst>
              </a:tr>
              <a:tr h="969502">
                <a:tc>
                  <a:txBody>
                    <a:bodyPr/>
                    <a:lstStyle/>
                    <a:p>
                      <a:pPr>
                        <a:lnSpc>
                          <a:spcPct val="115000"/>
                        </a:lnSpc>
                        <a:spcAft>
                          <a:spcPts val="1000"/>
                        </a:spcAft>
                        <a:buNone/>
                      </a:pPr>
                      <a:r>
                        <a:rPr lang="en-IN" sz="2800" kern="100">
                          <a:effectLst/>
                        </a:rPr>
                        <a:t>Integrated Cargo Rack (Metal)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Strong, load-bearing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Adds weight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rPr>
                        <a:t>2</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8419575"/>
                  </a:ext>
                </a:extLst>
              </a:tr>
              <a:tr h="847037">
                <a:tc>
                  <a:txBody>
                    <a:bodyPr/>
                    <a:lstStyle/>
                    <a:p>
                      <a:pPr>
                        <a:lnSpc>
                          <a:spcPct val="115000"/>
                        </a:lnSpc>
                        <a:spcAft>
                          <a:spcPts val="1000"/>
                        </a:spcAft>
                        <a:buNone/>
                      </a:pPr>
                      <a:r>
                        <a:rPr lang="en-IN" sz="2800" kern="100">
                          <a:effectLst/>
                        </a:rPr>
                        <a:t>Soft Side Panniers (Fabric)</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Flexible, inexpensive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Not weatherproof</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a:effectLst/>
                        </a:rPr>
                        <a:t>3</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4851272"/>
                  </a:ext>
                </a:extLst>
              </a:tr>
              <a:tr h="969502">
                <a:tc>
                  <a:txBody>
                    <a:bodyPr/>
                    <a:lstStyle/>
                    <a:p>
                      <a:pPr>
                        <a:lnSpc>
                          <a:spcPct val="115000"/>
                        </a:lnSpc>
                        <a:spcAft>
                          <a:spcPts val="1000"/>
                        </a:spcAft>
                        <a:buNone/>
                      </a:pPr>
                      <a:r>
                        <a:rPr lang="en-IN" sz="2800" kern="100">
                          <a:effectLst/>
                        </a:rPr>
                        <a:t>Under-Seat Compartment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Compact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800" kern="100">
                          <a:effectLst/>
                        </a:rPr>
                        <a:t>Small capacity</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800" kern="100" dirty="0">
                          <a:effectLst/>
                        </a:rPr>
                        <a:t>4</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58850641"/>
                  </a:ext>
                </a:extLst>
              </a:tr>
            </a:tbl>
          </a:graphicData>
        </a:graphic>
      </p:graphicFrame>
      <p:sp>
        <p:nvSpPr>
          <p:cNvPr id="13" name="Freeform 4">
            <a:extLst>
              <a:ext uri="{FF2B5EF4-FFF2-40B4-BE49-F238E27FC236}">
                <a16:creationId xmlns:a16="http://schemas.microsoft.com/office/drawing/2014/main" id="{D733C513-0B65-D73D-659C-9A847ACE8D9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4" name="TextBox 5">
            <a:extLst>
              <a:ext uri="{FF2B5EF4-FFF2-40B4-BE49-F238E27FC236}">
                <a16:creationId xmlns:a16="http://schemas.microsoft.com/office/drawing/2014/main" id="{7524C814-6D69-5E30-6B3F-13B703682685}"/>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5" name="Freeform 4">
            <a:extLst>
              <a:ext uri="{FF2B5EF4-FFF2-40B4-BE49-F238E27FC236}">
                <a16:creationId xmlns:a16="http://schemas.microsoft.com/office/drawing/2014/main" id="{A08660AC-966F-5507-85C6-B6156C1B994B}"/>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TextBox 2">
            <a:extLst>
              <a:ext uri="{FF2B5EF4-FFF2-40B4-BE49-F238E27FC236}">
                <a16:creationId xmlns:a16="http://schemas.microsoft.com/office/drawing/2014/main" id="{5125824A-8475-6C78-0A34-32A68C67BC8A}"/>
              </a:ext>
            </a:extLst>
          </p:cNvPr>
          <p:cNvSpPr txBox="1"/>
          <p:nvPr/>
        </p:nvSpPr>
        <p:spPr>
          <a:xfrm>
            <a:off x="914400" y="8737513"/>
            <a:ext cx="6725367" cy="523220"/>
          </a:xfrm>
          <a:prstGeom prst="rect">
            <a:avLst/>
          </a:prstGeom>
          <a:noFill/>
        </p:spPr>
        <p:txBody>
          <a:bodyPr wrap="none" rtlCol="0">
            <a:spAutoFit/>
          </a:bodyPr>
          <a:lstStyle/>
          <a:p>
            <a:r>
              <a:rPr lang="en-IN" sz="2800" b="1" dirty="0">
                <a:latin typeface="Roboto" panose="02000000000000000000" pitchFamily="2" charset="0"/>
                <a:ea typeface="Roboto" panose="02000000000000000000" pitchFamily="2" charset="0"/>
                <a:cs typeface="Roboto" panose="02000000000000000000" pitchFamily="2" charset="0"/>
              </a:rPr>
              <a:t>TOTAL NUMBER OF DESIGN POSSIBLE =7680</a:t>
            </a:r>
          </a:p>
        </p:txBody>
      </p:sp>
    </p:spTree>
    <p:extLst>
      <p:ext uri="{BB962C8B-B14F-4D97-AF65-F5344CB8AC3E}">
        <p14:creationId xmlns:p14="http://schemas.microsoft.com/office/powerpoint/2010/main" val="7355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49DFE93-0F81-9C1A-FFDA-3ADAB1190234}"/>
              </a:ext>
            </a:extLst>
          </p:cNvPr>
          <p:cNvGraphicFramePr>
            <a:graphicFrameLocks noGrp="1"/>
          </p:cNvGraphicFramePr>
          <p:nvPr>
            <p:extLst>
              <p:ext uri="{D42A27DB-BD31-4B8C-83A1-F6EECF244321}">
                <p14:modId xmlns:p14="http://schemas.microsoft.com/office/powerpoint/2010/main" val="3541184465"/>
              </p:ext>
            </p:extLst>
          </p:nvPr>
        </p:nvGraphicFramePr>
        <p:xfrm>
          <a:off x="609600" y="887903"/>
          <a:ext cx="16697422" cy="8749538"/>
        </p:xfrm>
        <a:graphic>
          <a:graphicData uri="http://schemas.openxmlformats.org/drawingml/2006/table">
            <a:tbl>
              <a:tblPr firstRow="1" firstCol="1" bandRow="1">
                <a:tableStyleId>{5C22544A-7EE6-4342-B048-85BDC9FD1C3A}</a:tableStyleId>
              </a:tblPr>
              <a:tblGrid>
                <a:gridCol w="3513535">
                  <a:extLst>
                    <a:ext uri="{9D8B030D-6E8A-4147-A177-3AD203B41FA5}">
                      <a16:colId xmlns:a16="http://schemas.microsoft.com/office/drawing/2014/main" val="1672217583"/>
                    </a:ext>
                  </a:extLst>
                </a:gridCol>
                <a:gridCol w="588010">
                  <a:extLst>
                    <a:ext uri="{9D8B030D-6E8A-4147-A177-3AD203B41FA5}">
                      <a16:colId xmlns:a16="http://schemas.microsoft.com/office/drawing/2014/main" val="1861405936"/>
                    </a:ext>
                  </a:extLst>
                </a:gridCol>
                <a:gridCol w="588010">
                  <a:extLst>
                    <a:ext uri="{9D8B030D-6E8A-4147-A177-3AD203B41FA5}">
                      <a16:colId xmlns:a16="http://schemas.microsoft.com/office/drawing/2014/main" val="2406363024"/>
                    </a:ext>
                  </a:extLst>
                </a:gridCol>
                <a:gridCol w="913078">
                  <a:extLst>
                    <a:ext uri="{9D8B030D-6E8A-4147-A177-3AD203B41FA5}">
                      <a16:colId xmlns:a16="http://schemas.microsoft.com/office/drawing/2014/main" val="3702611195"/>
                    </a:ext>
                  </a:extLst>
                </a:gridCol>
                <a:gridCol w="913078">
                  <a:extLst>
                    <a:ext uri="{9D8B030D-6E8A-4147-A177-3AD203B41FA5}">
                      <a16:colId xmlns:a16="http://schemas.microsoft.com/office/drawing/2014/main" val="3267365769"/>
                    </a:ext>
                  </a:extLst>
                </a:gridCol>
                <a:gridCol w="913078">
                  <a:extLst>
                    <a:ext uri="{9D8B030D-6E8A-4147-A177-3AD203B41FA5}">
                      <a16:colId xmlns:a16="http://schemas.microsoft.com/office/drawing/2014/main" val="1329473481"/>
                    </a:ext>
                  </a:extLst>
                </a:gridCol>
                <a:gridCol w="913078">
                  <a:extLst>
                    <a:ext uri="{9D8B030D-6E8A-4147-A177-3AD203B41FA5}">
                      <a16:colId xmlns:a16="http://schemas.microsoft.com/office/drawing/2014/main" val="2460331522"/>
                    </a:ext>
                  </a:extLst>
                </a:gridCol>
                <a:gridCol w="913078">
                  <a:extLst>
                    <a:ext uri="{9D8B030D-6E8A-4147-A177-3AD203B41FA5}">
                      <a16:colId xmlns:a16="http://schemas.microsoft.com/office/drawing/2014/main" val="1728234311"/>
                    </a:ext>
                  </a:extLst>
                </a:gridCol>
                <a:gridCol w="913078">
                  <a:extLst>
                    <a:ext uri="{9D8B030D-6E8A-4147-A177-3AD203B41FA5}">
                      <a16:colId xmlns:a16="http://schemas.microsoft.com/office/drawing/2014/main" val="2822821511"/>
                    </a:ext>
                  </a:extLst>
                </a:gridCol>
                <a:gridCol w="913078">
                  <a:extLst>
                    <a:ext uri="{9D8B030D-6E8A-4147-A177-3AD203B41FA5}">
                      <a16:colId xmlns:a16="http://schemas.microsoft.com/office/drawing/2014/main" val="1435113494"/>
                    </a:ext>
                  </a:extLst>
                </a:gridCol>
                <a:gridCol w="1127919">
                  <a:extLst>
                    <a:ext uri="{9D8B030D-6E8A-4147-A177-3AD203B41FA5}">
                      <a16:colId xmlns:a16="http://schemas.microsoft.com/office/drawing/2014/main" val="439300215"/>
                    </a:ext>
                  </a:extLst>
                </a:gridCol>
                <a:gridCol w="1104645">
                  <a:extLst>
                    <a:ext uri="{9D8B030D-6E8A-4147-A177-3AD203B41FA5}">
                      <a16:colId xmlns:a16="http://schemas.microsoft.com/office/drawing/2014/main" val="2196991721"/>
                    </a:ext>
                  </a:extLst>
                </a:gridCol>
                <a:gridCol w="1127919">
                  <a:extLst>
                    <a:ext uri="{9D8B030D-6E8A-4147-A177-3AD203B41FA5}">
                      <a16:colId xmlns:a16="http://schemas.microsoft.com/office/drawing/2014/main" val="1230232430"/>
                    </a:ext>
                  </a:extLst>
                </a:gridCol>
                <a:gridCol w="1127919">
                  <a:extLst>
                    <a:ext uri="{9D8B030D-6E8A-4147-A177-3AD203B41FA5}">
                      <a16:colId xmlns:a16="http://schemas.microsoft.com/office/drawing/2014/main" val="2787675898"/>
                    </a:ext>
                  </a:extLst>
                </a:gridCol>
                <a:gridCol w="1127919">
                  <a:extLst>
                    <a:ext uri="{9D8B030D-6E8A-4147-A177-3AD203B41FA5}">
                      <a16:colId xmlns:a16="http://schemas.microsoft.com/office/drawing/2014/main" val="302177720"/>
                    </a:ext>
                  </a:extLst>
                </a:gridCol>
              </a:tblGrid>
              <a:tr h="444478">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Criteria</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C2</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C3</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C4</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C5</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C6</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C7</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C8</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C9</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C10</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C11</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C12</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C13</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C14</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534968388"/>
                  </a:ext>
                </a:extLst>
              </a:tr>
              <a:tr h="444478">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Aluminium Alloy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377225393"/>
                  </a:ext>
                </a:extLst>
              </a:tr>
              <a:tr h="444478">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Carbon Fiber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352517407"/>
                  </a:ext>
                </a:extLst>
              </a:tr>
              <a:tr h="444478">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Chromoly Steel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699586397"/>
                  </a:ext>
                </a:extLst>
              </a:tr>
              <a:tr h="444478">
                <a:tc>
                  <a:txBody>
                    <a:bodyPr/>
                    <a:lstStyle/>
                    <a:p>
                      <a:pPr>
                        <a:lnSpc>
                          <a:spcPct val="115000"/>
                        </a:lnSpc>
                        <a:spcAft>
                          <a:spcPts val="1000"/>
                        </a:spcAft>
                        <a:buNone/>
                      </a:pPr>
                      <a:r>
                        <a:rPr lang="en-IN" sz="2800" kern="100" dirty="0" err="1">
                          <a:effectLst/>
                          <a:latin typeface="Roboto" panose="02000000000000000000" pitchFamily="2" charset="0"/>
                          <a:ea typeface="Roboto" panose="02000000000000000000" pitchFamily="2" charset="0"/>
                          <a:cs typeface="Roboto" panose="02000000000000000000" pitchFamily="2" charset="0"/>
                        </a:rPr>
                        <a:t>MagnesiumAlloy</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982087266"/>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TitaniumAlloy</a:t>
                      </a: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724302010"/>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BrushlessDC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 </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726746389"/>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BLDCMotor</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 </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444194761"/>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GearedHubMotor</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700595319"/>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BrushedDCMotor</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 </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985566891"/>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Smart MCU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 </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214450061"/>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IoT Cloud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736275760"/>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HydraulicDiscBrakes</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 </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685998669"/>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MechanicalDiscBrakes</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609593316"/>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Detachable Rear Box </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986660101"/>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Integrated Cargo Rack</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1104728"/>
                  </a:ext>
                </a:extLst>
              </a:tr>
              <a:tr h="444478">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SELECTION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Y</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557089561"/>
                  </a:ext>
                </a:extLst>
              </a:tr>
            </a:tbl>
          </a:graphicData>
        </a:graphic>
      </p:graphicFrame>
      <p:sp>
        <p:nvSpPr>
          <p:cNvPr id="3" name="Rectangle 1">
            <a:extLst>
              <a:ext uri="{FF2B5EF4-FFF2-40B4-BE49-F238E27FC236}">
                <a16:creationId xmlns:a16="http://schemas.microsoft.com/office/drawing/2014/main" id="{E8E25834-AC35-BD0D-D99B-C89FD3FD8307}"/>
              </a:ext>
            </a:extLst>
          </p:cNvPr>
          <p:cNvSpPr>
            <a:spLocks noChangeArrowheads="1"/>
          </p:cNvSpPr>
          <p:nvPr/>
        </p:nvSpPr>
        <p:spPr bwMode="auto">
          <a:xfrm>
            <a:off x="609600" y="213332"/>
            <a:ext cx="505745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004AAD"/>
                </a:solidFill>
                <a:effectLst/>
                <a:latin typeface="League Spartan" panose="020B0604020202020204" charset="0"/>
                <a:ea typeface="Calibri" panose="020F0502020204030204" pitchFamily="34" charset="0"/>
                <a:cs typeface="Times New Roman" panose="02020603050405020304" pitchFamily="18" charset="0"/>
              </a:rPr>
              <a:t>Selection Matrix</a:t>
            </a:r>
            <a:endParaRPr kumimoji="0" lang="en-US" altLang="en-US" sz="4000" b="0" i="0" u="none" strike="noStrike" cap="none" normalizeH="0" baseline="0" dirty="0">
              <a:ln>
                <a:noFill/>
              </a:ln>
              <a:solidFill>
                <a:srgbClr val="004AAD"/>
              </a:solidFill>
              <a:effectLst/>
              <a:latin typeface="League Spartan"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4" name="Freeform 4">
            <a:extLst>
              <a:ext uri="{FF2B5EF4-FFF2-40B4-BE49-F238E27FC236}">
                <a16:creationId xmlns:a16="http://schemas.microsoft.com/office/drawing/2014/main" id="{5171F3A7-7A79-04A7-398C-622BB48BC027}"/>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5" name="TextBox 5">
            <a:extLst>
              <a:ext uri="{FF2B5EF4-FFF2-40B4-BE49-F238E27FC236}">
                <a16:creationId xmlns:a16="http://schemas.microsoft.com/office/drawing/2014/main" id="{50779F90-8579-B06C-DBD0-4F09780E18E2}"/>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6" name="Freeform 4">
            <a:extLst>
              <a:ext uri="{FF2B5EF4-FFF2-40B4-BE49-F238E27FC236}">
                <a16:creationId xmlns:a16="http://schemas.microsoft.com/office/drawing/2014/main" id="{B17D0247-E79F-154C-F7F7-309FA8FB215A}"/>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4011203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B7D20-BB0B-5496-E8E5-C10BA1543355}"/>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1A5E3349-F83A-C202-8492-57C263C445D7}"/>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2DF96F03-D4F4-8AE4-CC82-2648C5B5E439}"/>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pic>
        <p:nvPicPr>
          <p:cNvPr id="5" name="Picture 4">
            <a:extLst>
              <a:ext uri="{FF2B5EF4-FFF2-40B4-BE49-F238E27FC236}">
                <a16:creationId xmlns:a16="http://schemas.microsoft.com/office/drawing/2014/main" id="{41F67EE4-A2CA-6DA9-124B-046B5EC187EA}"/>
              </a:ext>
            </a:extLst>
          </p:cNvPr>
          <p:cNvPicPr>
            <a:picLocks noChangeAspect="1"/>
          </p:cNvPicPr>
          <p:nvPr/>
        </p:nvPicPr>
        <p:blipFill>
          <a:blip r:embed="rId2">
            <a:extLst>
              <a:ext uri="{28A0092B-C50C-407E-A947-70E740481C1C}">
                <a14:useLocalDpi xmlns:a14="http://schemas.microsoft.com/office/drawing/2010/main" val="0"/>
              </a:ext>
            </a:extLst>
          </a:blip>
          <a:srcRect b="6314"/>
          <a:stretch>
            <a:fillRect/>
          </a:stretch>
        </p:blipFill>
        <p:spPr>
          <a:xfrm>
            <a:off x="0" y="0"/>
            <a:ext cx="18288000" cy="9637441"/>
          </a:xfrm>
          <a:prstGeom prst="rect">
            <a:avLst/>
          </a:prstGeom>
        </p:spPr>
      </p:pic>
    </p:spTree>
    <p:extLst>
      <p:ext uri="{BB962C8B-B14F-4D97-AF65-F5344CB8AC3E}">
        <p14:creationId xmlns:p14="http://schemas.microsoft.com/office/powerpoint/2010/main" val="1358792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882BD1-AE5C-FCBD-5EBD-9D129E692314}"/>
              </a:ext>
            </a:extLst>
          </p:cNvPr>
          <p:cNvSpPr txBox="1"/>
          <p:nvPr/>
        </p:nvSpPr>
        <p:spPr>
          <a:xfrm>
            <a:off x="609600" y="723900"/>
            <a:ext cx="10591800" cy="777136"/>
          </a:xfrm>
          <a:prstGeom prst="rect">
            <a:avLst/>
          </a:prstGeom>
          <a:noFill/>
        </p:spPr>
        <p:txBody>
          <a:bodyPr wrap="square">
            <a:spAutoFit/>
          </a:bodyPr>
          <a:lstStyle/>
          <a:p>
            <a:pPr>
              <a:lnSpc>
                <a:spcPct val="115000"/>
              </a:lnSpc>
              <a:spcAft>
                <a:spcPts val="1000"/>
              </a:spcAft>
              <a:buNone/>
            </a:pPr>
            <a:r>
              <a:rPr lang="en-US" sz="40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Concept Name and Selection criteria</a:t>
            </a:r>
            <a:endParaRPr lang="en-IN" sz="40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6912975-71DA-8803-B105-5FAB68566B0A}"/>
              </a:ext>
            </a:extLst>
          </p:cNvPr>
          <p:cNvGraphicFramePr>
            <a:graphicFrameLocks noGrp="1"/>
          </p:cNvGraphicFramePr>
          <p:nvPr>
            <p:extLst>
              <p:ext uri="{D42A27DB-BD31-4B8C-83A1-F6EECF244321}">
                <p14:modId xmlns:p14="http://schemas.microsoft.com/office/powerpoint/2010/main" val="3833765695"/>
              </p:ext>
            </p:extLst>
          </p:nvPr>
        </p:nvGraphicFramePr>
        <p:xfrm>
          <a:off x="1143000" y="1587638"/>
          <a:ext cx="13106399" cy="7935896"/>
        </p:xfrm>
        <a:graphic>
          <a:graphicData uri="http://schemas.openxmlformats.org/drawingml/2006/table">
            <a:tbl>
              <a:tblPr firstRow="1" firstCol="1" bandRow="1">
                <a:tableStyleId>{5C22544A-7EE6-4342-B048-85BDC9FD1C3A}</a:tableStyleId>
              </a:tblPr>
              <a:tblGrid>
                <a:gridCol w="4073015">
                  <a:extLst>
                    <a:ext uri="{9D8B030D-6E8A-4147-A177-3AD203B41FA5}">
                      <a16:colId xmlns:a16="http://schemas.microsoft.com/office/drawing/2014/main" val="1305188585"/>
                    </a:ext>
                  </a:extLst>
                </a:gridCol>
                <a:gridCol w="5814276">
                  <a:extLst>
                    <a:ext uri="{9D8B030D-6E8A-4147-A177-3AD203B41FA5}">
                      <a16:colId xmlns:a16="http://schemas.microsoft.com/office/drawing/2014/main" val="788891097"/>
                    </a:ext>
                  </a:extLst>
                </a:gridCol>
                <a:gridCol w="3219108">
                  <a:extLst>
                    <a:ext uri="{9D8B030D-6E8A-4147-A177-3AD203B41FA5}">
                      <a16:colId xmlns:a16="http://schemas.microsoft.com/office/drawing/2014/main" val="510467311"/>
                    </a:ext>
                  </a:extLst>
                </a:gridCol>
              </a:tblGrid>
              <a:tr h="615536">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Model Name</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Reason for Selection/Rejection</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Selection</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176951454"/>
                  </a:ext>
                </a:extLst>
              </a:tr>
              <a:tr h="404454">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Lite 350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Affordable &amp; practical</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111437524"/>
                  </a:ext>
                </a:extLst>
              </a:tr>
              <a:tr h="612336">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Solar 350 S</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Sustainable energy integration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888346805"/>
                  </a:ext>
                </a:extLst>
              </a:tr>
              <a:tr h="404454">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X Swap</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Modular &amp; fleet-ready</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592983209"/>
                  </a:ext>
                </a:extLst>
              </a:tr>
              <a:tr h="404454">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Fold</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Compact and ergonomic</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303658492"/>
                  </a:ext>
                </a:extLst>
              </a:tr>
              <a:tr h="404454">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Cargo</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Utility and load handling</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895297283"/>
                  </a:ext>
                </a:extLst>
              </a:tr>
              <a:tr h="612336">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Eco-Ride R Sport</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Performance and innovation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YES</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4006865798"/>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Ultra Ti 500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Excessive cost</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831123935"/>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Mag 300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Material corrosion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996687187"/>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Metro Basic</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Heavy, outdated</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554749483"/>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Cloud X IoT</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Overly complex, costly</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933024549"/>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Urban 200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Lacks smart features</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887665482"/>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EcoMax</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Fragile solar design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472773177"/>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Alpha Gear 350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Weak braking, no regen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957140699"/>
                  </a:ext>
                </a:extLst>
              </a:tr>
              <a:tr h="404454">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City Com 250</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Poor tech integration</a:t>
                      </a:r>
                    </a:p>
                  </a:txBody>
                  <a:tcPr marL="68580" marR="68580" marT="0" marB="0"/>
                </a:tc>
                <a:tc>
                  <a:txBody>
                    <a:bodyPr/>
                    <a:lstStyle/>
                    <a:p>
                      <a:pPr>
                        <a:lnSpc>
                          <a:spcPct val="115000"/>
                        </a:lnSpc>
                        <a:spcAft>
                          <a:spcPts val="1000"/>
                        </a:spcAft>
                        <a:buNone/>
                      </a:pPr>
                      <a:r>
                        <a:rPr lang="en-US" sz="2800" kern="100">
                          <a:effectLst/>
                          <a:latin typeface="Roboto" panose="02000000000000000000" pitchFamily="2" charset="0"/>
                          <a:ea typeface="Roboto" panose="02000000000000000000" pitchFamily="2" charset="0"/>
                          <a:cs typeface="Roboto" panose="02000000000000000000" pitchFamily="2" charset="0"/>
                        </a:rPr>
                        <a:t>NO</a:t>
                      </a:r>
                      <a:endParaRPr lang="en-IN" sz="28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028015575"/>
                  </a:ext>
                </a:extLst>
              </a:tr>
              <a:tr h="612336">
                <a:tc>
                  <a:txBody>
                    <a:bodyPr/>
                    <a:lstStyle/>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Mini Fold+</a:t>
                      </a:r>
                    </a:p>
                  </a:txBody>
                  <a:tcPr marL="68580" marR="68580" marT="0" marB="0"/>
                </a:tc>
                <a:tc>
                  <a:txBody>
                    <a:bodyPr/>
                    <a:lstStyle/>
                    <a:p>
                      <a:pPr>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Structural overheating risk</a:t>
                      </a:r>
                    </a:p>
                  </a:txBody>
                  <a:tcPr marL="68580" marR="68580" marT="0" marB="0"/>
                </a:tc>
                <a:tc>
                  <a:txBody>
                    <a:bodyPr/>
                    <a:lstStyle/>
                    <a:p>
                      <a:pPr>
                        <a:lnSpc>
                          <a:spcPct val="115000"/>
                        </a:lnSpc>
                        <a:spcAft>
                          <a:spcPts val="1000"/>
                        </a:spcAft>
                        <a:buNone/>
                      </a:pPr>
                      <a:r>
                        <a:rPr lang="en-US" sz="2800" kern="100" dirty="0">
                          <a:effectLst/>
                          <a:latin typeface="Roboto" panose="02000000000000000000" pitchFamily="2" charset="0"/>
                          <a:ea typeface="Roboto" panose="02000000000000000000" pitchFamily="2" charset="0"/>
                          <a:cs typeface="Roboto" panose="02000000000000000000" pitchFamily="2" charset="0"/>
                        </a:rPr>
                        <a:t>NO</a:t>
                      </a:r>
                      <a:endParaRPr lang="en-IN" sz="28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719411513"/>
                  </a:ext>
                </a:extLst>
              </a:tr>
            </a:tbl>
          </a:graphicData>
        </a:graphic>
      </p:graphicFrame>
      <p:sp>
        <p:nvSpPr>
          <p:cNvPr id="7" name="Freeform 4">
            <a:extLst>
              <a:ext uri="{FF2B5EF4-FFF2-40B4-BE49-F238E27FC236}">
                <a16:creationId xmlns:a16="http://schemas.microsoft.com/office/drawing/2014/main" id="{C41A281D-6EC7-0FC4-2FE5-BDA42347BA63}"/>
              </a:ext>
            </a:extLst>
          </p:cNvPr>
          <p:cNvSpPr/>
          <p:nvPr/>
        </p:nvSpPr>
        <p:spPr>
          <a:xfrm>
            <a:off x="-114300" y="10066262"/>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8" name="TextBox 5">
            <a:extLst>
              <a:ext uri="{FF2B5EF4-FFF2-40B4-BE49-F238E27FC236}">
                <a16:creationId xmlns:a16="http://schemas.microsoft.com/office/drawing/2014/main" id="{B312D810-534A-351F-18B0-AD0705C4E7EB}"/>
              </a:ext>
            </a:extLst>
          </p:cNvPr>
          <p:cNvSpPr txBox="1"/>
          <p:nvPr/>
        </p:nvSpPr>
        <p:spPr>
          <a:xfrm>
            <a:off x="-114300" y="9885437"/>
            <a:ext cx="18516600" cy="441175"/>
          </a:xfrm>
          <a:prstGeom prst="rect">
            <a:avLst/>
          </a:prstGeom>
        </p:spPr>
        <p:txBody>
          <a:bodyPr lIns="50800" tIns="50800" rIns="50800" bIns="50800" rtlCol="0" anchor="ctr"/>
          <a:lstStyle/>
          <a:p>
            <a:pPr algn="ctr">
              <a:lnSpc>
                <a:spcPts val="2659"/>
              </a:lnSpc>
            </a:pPr>
            <a:endParaRPr/>
          </a:p>
        </p:txBody>
      </p:sp>
      <p:sp>
        <p:nvSpPr>
          <p:cNvPr id="9" name="Freeform 4">
            <a:extLst>
              <a:ext uri="{FF2B5EF4-FFF2-40B4-BE49-F238E27FC236}">
                <a16:creationId xmlns:a16="http://schemas.microsoft.com/office/drawing/2014/main" id="{4CC10C87-3A26-023F-EE90-A8F64812A009}"/>
              </a:ext>
            </a:extLst>
          </p:cNvPr>
          <p:cNvSpPr/>
          <p:nvPr/>
        </p:nvSpPr>
        <p:spPr>
          <a:xfrm>
            <a:off x="-120162" y="9715500"/>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15092814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B43E65-9629-195B-2CC3-BA3302B02CAF}"/>
              </a:ext>
            </a:extLst>
          </p:cNvPr>
          <p:cNvSpPr txBox="1"/>
          <p:nvPr/>
        </p:nvSpPr>
        <p:spPr>
          <a:xfrm>
            <a:off x="914400" y="495300"/>
            <a:ext cx="11734800" cy="777136"/>
          </a:xfrm>
          <a:prstGeom prst="rect">
            <a:avLst/>
          </a:prstGeom>
          <a:noFill/>
        </p:spPr>
        <p:txBody>
          <a:bodyPr wrap="square">
            <a:spAutoFit/>
          </a:bodyPr>
          <a:lstStyle/>
          <a:p>
            <a:pPr>
              <a:lnSpc>
                <a:spcPct val="115000"/>
              </a:lnSpc>
              <a:spcAft>
                <a:spcPts val="1000"/>
              </a:spcAft>
              <a:buNone/>
            </a:pPr>
            <a:r>
              <a:rPr lang="en-US" sz="40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Concept Generation and Evaluation</a:t>
            </a:r>
            <a:endParaRPr lang="en-IN" sz="40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420892DF-FB63-E3CB-BCF6-FEC81BD843EF}"/>
              </a:ext>
            </a:extLst>
          </p:cNvPr>
          <p:cNvGraphicFramePr>
            <a:graphicFrameLocks noGrp="1"/>
          </p:cNvGraphicFramePr>
          <p:nvPr>
            <p:extLst>
              <p:ext uri="{D42A27DB-BD31-4B8C-83A1-F6EECF244321}">
                <p14:modId xmlns:p14="http://schemas.microsoft.com/office/powerpoint/2010/main" val="1691866178"/>
              </p:ext>
            </p:extLst>
          </p:nvPr>
        </p:nvGraphicFramePr>
        <p:xfrm>
          <a:off x="54219" y="1863420"/>
          <a:ext cx="18167838" cy="7745212"/>
        </p:xfrm>
        <a:graphic>
          <a:graphicData uri="http://schemas.openxmlformats.org/drawingml/2006/table">
            <a:tbl>
              <a:tblPr firstRow="1" firstCol="1" bandRow="1">
                <a:tableStyleId>{5C22544A-7EE6-4342-B048-85BDC9FD1C3A}</a:tableStyleId>
              </a:tblPr>
              <a:tblGrid>
                <a:gridCol w="3209244">
                  <a:extLst>
                    <a:ext uri="{9D8B030D-6E8A-4147-A177-3AD203B41FA5}">
                      <a16:colId xmlns:a16="http://schemas.microsoft.com/office/drawing/2014/main" val="959370954"/>
                    </a:ext>
                  </a:extLst>
                </a:gridCol>
                <a:gridCol w="2136414">
                  <a:extLst>
                    <a:ext uri="{9D8B030D-6E8A-4147-A177-3AD203B41FA5}">
                      <a16:colId xmlns:a16="http://schemas.microsoft.com/office/drawing/2014/main" val="3305325733"/>
                    </a:ext>
                  </a:extLst>
                </a:gridCol>
                <a:gridCol w="2136414">
                  <a:extLst>
                    <a:ext uri="{9D8B030D-6E8A-4147-A177-3AD203B41FA5}">
                      <a16:colId xmlns:a16="http://schemas.microsoft.com/office/drawing/2014/main" val="3857370769"/>
                    </a:ext>
                  </a:extLst>
                </a:gridCol>
                <a:gridCol w="2136414">
                  <a:extLst>
                    <a:ext uri="{9D8B030D-6E8A-4147-A177-3AD203B41FA5}">
                      <a16:colId xmlns:a16="http://schemas.microsoft.com/office/drawing/2014/main" val="2076501454"/>
                    </a:ext>
                  </a:extLst>
                </a:gridCol>
                <a:gridCol w="2136414">
                  <a:extLst>
                    <a:ext uri="{9D8B030D-6E8A-4147-A177-3AD203B41FA5}">
                      <a16:colId xmlns:a16="http://schemas.microsoft.com/office/drawing/2014/main" val="1086045159"/>
                    </a:ext>
                  </a:extLst>
                </a:gridCol>
                <a:gridCol w="2136414">
                  <a:extLst>
                    <a:ext uri="{9D8B030D-6E8A-4147-A177-3AD203B41FA5}">
                      <a16:colId xmlns:a16="http://schemas.microsoft.com/office/drawing/2014/main" val="73806831"/>
                    </a:ext>
                  </a:extLst>
                </a:gridCol>
                <a:gridCol w="2138262">
                  <a:extLst>
                    <a:ext uri="{9D8B030D-6E8A-4147-A177-3AD203B41FA5}">
                      <a16:colId xmlns:a16="http://schemas.microsoft.com/office/drawing/2014/main" val="2509047981"/>
                    </a:ext>
                  </a:extLst>
                </a:gridCol>
                <a:gridCol w="2138262">
                  <a:extLst>
                    <a:ext uri="{9D8B030D-6E8A-4147-A177-3AD203B41FA5}">
                      <a16:colId xmlns:a16="http://schemas.microsoft.com/office/drawing/2014/main" val="1018290825"/>
                    </a:ext>
                  </a:extLst>
                </a:gridCol>
              </a:tblGrid>
              <a:tr h="855948">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Evaluation Criteria</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Weight (%)</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1</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2</a:t>
                      </a:r>
                    </a:p>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 </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3</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4</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5</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6</a:t>
                      </a:r>
                    </a:p>
                  </a:txBody>
                  <a:tcPr marL="68580" marR="68580" marT="0" marB="0"/>
                </a:tc>
                <a:extLst>
                  <a:ext uri="{0D108BD9-81ED-4DB2-BD59-A6C34878D82A}">
                    <a16:rowId xmlns:a16="http://schemas.microsoft.com/office/drawing/2014/main" val="2482399806"/>
                  </a:ext>
                </a:extLst>
              </a:tr>
              <a:tr h="736879">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Concept Name</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 </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Lite</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Solar</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X Swap</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Fold</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Cargo</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R Sport</a:t>
                      </a:r>
                    </a:p>
                  </a:txBody>
                  <a:tcPr marL="68580" marR="68580" marT="0" marB="0"/>
                </a:tc>
                <a:extLst>
                  <a:ext uri="{0D108BD9-81ED-4DB2-BD59-A6C34878D82A}">
                    <a16:rowId xmlns:a16="http://schemas.microsoft.com/office/drawing/2014/main" val="3759661398"/>
                  </a:ext>
                </a:extLst>
              </a:tr>
              <a:tr h="542456">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Lightweight, durable</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780480921"/>
                  </a:ext>
                </a:extLst>
              </a:tr>
              <a:tr h="740739">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Pedal-to charge / regeneration</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22.7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1072560648"/>
                  </a:ext>
                </a:extLst>
              </a:tr>
              <a:tr h="542456">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Pedal assist + throttle</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13.3</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177601655"/>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Solar charging</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4284954362"/>
                  </a:ext>
                </a:extLst>
              </a:tr>
              <a:tr h="542456">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Replaceable battery</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363299445"/>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GPS tracking</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5</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721102603"/>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Braking safety</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4066198679"/>
                  </a:ext>
                </a:extLst>
              </a:tr>
              <a:tr h="542456">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Puncture resistant tyres</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011434487"/>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Storage</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4</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4</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3874006614"/>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Affordability</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9</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795729364"/>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Total</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100</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68.6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51.38</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79.93</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71.06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69.6</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71.73</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191122168"/>
                  </a:ext>
                </a:extLst>
              </a:tr>
              <a:tr h="359165">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Rank</a:t>
                      </a: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 </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5th</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6th</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dirty="0">
                          <a:effectLst/>
                          <a:latin typeface="Roboto" panose="02000000000000000000" pitchFamily="2" charset="0"/>
                          <a:ea typeface="Roboto" panose="02000000000000000000" pitchFamily="2" charset="0"/>
                          <a:cs typeface="Roboto" panose="02000000000000000000" pitchFamily="2" charset="0"/>
                        </a:rPr>
                        <a:t>1st</a:t>
                      </a:r>
                      <a:endParaRPr lang="en-IN" sz="24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3rd</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a:effectLst/>
                          <a:latin typeface="Roboto" panose="02000000000000000000" pitchFamily="2" charset="0"/>
                          <a:ea typeface="Roboto" panose="02000000000000000000" pitchFamily="2" charset="0"/>
                          <a:cs typeface="Roboto" panose="02000000000000000000" pitchFamily="2" charset="0"/>
                        </a:rPr>
                        <a:t>4th</a:t>
                      </a:r>
                      <a:endParaRPr lang="en-IN" sz="2400" kern="10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tc>
                  <a:txBody>
                    <a:bodyPr/>
                    <a:lstStyle/>
                    <a:p>
                      <a:pPr>
                        <a:lnSpc>
                          <a:spcPct val="115000"/>
                        </a:lnSpc>
                        <a:spcAft>
                          <a:spcPts val="1000"/>
                        </a:spcAft>
                        <a:buNone/>
                      </a:pPr>
                      <a:r>
                        <a:rPr lang="en-US" sz="2400" kern="100" dirty="0">
                          <a:effectLst/>
                          <a:latin typeface="Roboto" panose="02000000000000000000" pitchFamily="2" charset="0"/>
                          <a:ea typeface="Roboto" panose="02000000000000000000" pitchFamily="2" charset="0"/>
                          <a:cs typeface="Roboto" panose="02000000000000000000" pitchFamily="2" charset="0"/>
                        </a:rPr>
                        <a:t>2nd</a:t>
                      </a:r>
                      <a:endParaRPr lang="en-IN" sz="2400" kern="1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tc>
                <a:extLst>
                  <a:ext uri="{0D108BD9-81ED-4DB2-BD59-A6C34878D82A}">
                    <a16:rowId xmlns:a16="http://schemas.microsoft.com/office/drawing/2014/main" val="289632659"/>
                  </a:ext>
                </a:extLst>
              </a:tr>
            </a:tbl>
          </a:graphicData>
        </a:graphic>
      </p:graphicFrame>
      <p:sp>
        <p:nvSpPr>
          <p:cNvPr id="7" name="Freeform 4">
            <a:extLst>
              <a:ext uri="{FF2B5EF4-FFF2-40B4-BE49-F238E27FC236}">
                <a16:creationId xmlns:a16="http://schemas.microsoft.com/office/drawing/2014/main" id="{3EBD8E2A-0946-49AF-4856-825D6275303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8" name="TextBox 5">
            <a:extLst>
              <a:ext uri="{FF2B5EF4-FFF2-40B4-BE49-F238E27FC236}">
                <a16:creationId xmlns:a16="http://schemas.microsoft.com/office/drawing/2014/main" id="{55643345-E788-652A-A140-95B3CC74286A}"/>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9" name="Freeform 4">
            <a:extLst>
              <a:ext uri="{FF2B5EF4-FFF2-40B4-BE49-F238E27FC236}">
                <a16:creationId xmlns:a16="http://schemas.microsoft.com/office/drawing/2014/main" id="{9B0E3DCF-C3EE-4BD6-02B7-C9AFA8C446BB}"/>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4896628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E50A1-CA43-3DBF-F7E0-129978D10A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95C56C-FA0D-69A6-2060-ADF7DF71CAD4}"/>
              </a:ext>
            </a:extLst>
          </p:cNvPr>
          <p:cNvSpPr txBox="1"/>
          <p:nvPr/>
        </p:nvSpPr>
        <p:spPr>
          <a:xfrm>
            <a:off x="501316" y="99214"/>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4CED4D1-B4FF-C6E5-F85B-A2E6E62F4F3B}"/>
              </a:ext>
            </a:extLst>
          </p:cNvPr>
          <p:cNvSpPr txBox="1"/>
          <p:nvPr/>
        </p:nvSpPr>
        <p:spPr>
          <a:xfrm>
            <a:off x="501316" y="915598"/>
            <a:ext cx="10928684" cy="622799"/>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Concept 1 – Eco-Ride 350 Lite (Urban Basic Edition)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A5D158FB-63F4-4411-6352-D600D820D1D8}"/>
              </a:ext>
            </a:extLst>
          </p:cNvPr>
          <p:cNvSpPr txBox="1"/>
          <p:nvPr/>
        </p:nvSpPr>
        <p:spPr>
          <a:xfrm>
            <a:off x="621871" y="1670498"/>
            <a:ext cx="9144000" cy="490199"/>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User focus: Budget commuters, students, short-range users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CA8B2FC-41D2-11AB-4629-CCE8BDDFA2FE}"/>
              </a:ext>
            </a:extLst>
          </p:cNvPr>
          <p:cNvSpPr txBox="1"/>
          <p:nvPr/>
        </p:nvSpPr>
        <p:spPr>
          <a:xfrm>
            <a:off x="495629" y="5659533"/>
            <a:ext cx="9144000" cy="3255058"/>
          </a:xfrm>
          <a:prstGeom prst="rect">
            <a:avLst/>
          </a:prstGeom>
          <a:noFill/>
        </p:spPr>
        <p:txBody>
          <a:bodyPr wrap="square">
            <a:spAutoFit/>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Key Features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Lightweight aluminium frame (≤18 kg) for daily urban mobility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Pedal-assist and throttle combo (350 W motor)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Fixed battery (36 V 12 Ah) with plug-in charging only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Basic GPS tracking and LED dashboard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Puncture-resistant tyres and mechanical disc brakes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9830BC88-93E6-BE71-F279-FF739C10658C}"/>
              </a:ext>
            </a:extLst>
          </p:cNvPr>
          <p:cNvSpPr txBox="1"/>
          <p:nvPr/>
        </p:nvSpPr>
        <p:spPr>
          <a:xfrm>
            <a:off x="8648371" y="2458446"/>
            <a:ext cx="9144000" cy="1467902"/>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Rationale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Scores high in affordability (9) and lightweight design (7). No solar or regen keeps cost low.</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Freeform 4">
            <a:extLst>
              <a:ext uri="{FF2B5EF4-FFF2-40B4-BE49-F238E27FC236}">
                <a16:creationId xmlns:a16="http://schemas.microsoft.com/office/drawing/2014/main" id="{1FFB8263-BFD5-ADD9-E942-06043CDAF450}"/>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8" name="TextBox 5">
            <a:extLst>
              <a:ext uri="{FF2B5EF4-FFF2-40B4-BE49-F238E27FC236}">
                <a16:creationId xmlns:a16="http://schemas.microsoft.com/office/drawing/2014/main" id="{18E1A473-B6C6-BF82-42BE-48B16F83123E}"/>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9" name="Freeform 4">
            <a:extLst>
              <a:ext uri="{FF2B5EF4-FFF2-40B4-BE49-F238E27FC236}">
                <a16:creationId xmlns:a16="http://schemas.microsoft.com/office/drawing/2014/main" id="{EE996703-61E3-0B97-ACDF-C5919E38ABC3}"/>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5" name="TextBox 4">
            <a:extLst>
              <a:ext uri="{FF2B5EF4-FFF2-40B4-BE49-F238E27FC236}">
                <a16:creationId xmlns:a16="http://schemas.microsoft.com/office/drawing/2014/main" id="{6D12B7FF-DC57-53C5-3BFA-7C43C07309EB}"/>
              </a:ext>
            </a:extLst>
          </p:cNvPr>
          <p:cNvSpPr txBox="1"/>
          <p:nvPr/>
        </p:nvSpPr>
        <p:spPr>
          <a:xfrm>
            <a:off x="495629" y="2365178"/>
            <a:ext cx="9260006" cy="3247877"/>
          </a:xfrm>
          <a:prstGeom prst="rect">
            <a:avLst/>
          </a:prstGeom>
          <a:noFill/>
        </p:spPr>
        <p:txBody>
          <a:bodyPr wrap="square">
            <a:spAutoFit/>
          </a:bodyPr>
          <a:lstStyle/>
          <a:p>
            <a:pPr>
              <a:lnSpc>
                <a:spcPct val="115000"/>
              </a:lnSpc>
              <a:spcAft>
                <a:spcPts val="1000"/>
              </a:spcAft>
              <a:buNone/>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Pros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Cheapest model; easy to service</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Ideal for college or campus use</a:t>
            </a:r>
          </a:p>
          <a:p>
            <a:pPr>
              <a:lnSpc>
                <a:spcPct val="115000"/>
              </a:lnSpc>
              <a:spcAft>
                <a:spcPts val="1000"/>
              </a:spcAft>
              <a:buNone/>
            </a:pP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 Cons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No regenerative or solar capability</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Roboto" panose="02000000000000000000" pitchFamily="2" charset="0"/>
                <a:cs typeface="Times New Roman" panose="02020603050405020304" pitchFamily="18" charset="0"/>
              </a:rPr>
              <a:t>Moderate range (~70 km)</a:t>
            </a:r>
          </a:p>
        </p:txBody>
      </p:sp>
    </p:spTree>
    <p:extLst>
      <p:ext uri="{BB962C8B-B14F-4D97-AF65-F5344CB8AC3E}">
        <p14:creationId xmlns:p14="http://schemas.microsoft.com/office/powerpoint/2010/main" val="76471191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EADD-5558-19C9-DFB8-E23C7AA222E6}"/>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D926571D-1590-5C47-0B13-E8868EBD4032}"/>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B8A125C1-DE5A-3FE4-C092-A92D810B3BA6}"/>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6" name="TextBox 5">
            <a:extLst>
              <a:ext uri="{FF2B5EF4-FFF2-40B4-BE49-F238E27FC236}">
                <a16:creationId xmlns:a16="http://schemas.microsoft.com/office/drawing/2014/main" id="{13D52537-BD38-6377-425F-039CEBA76A64}"/>
              </a:ext>
            </a:extLst>
          </p:cNvPr>
          <p:cNvSpPr txBox="1"/>
          <p:nvPr/>
        </p:nvSpPr>
        <p:spPr>
          <a:xfrm>
            <a:off x="501316" y="915598"/>
            <a:ext cx="10928684" cy="622799"/>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Concept 1 – Eco-Ride 350 Lite (Urban Basic Edition)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7" name="Picture 26">
            <a:extLst>
              <a:ext uri="{FF2B5EF4-FFF2-40B4-BE49-F238E27FC236}">
                <a16:creationId xmlns:a16="http://schemas.microsoft.com/office/drawing/2014/main" id="{BBA641D1-10DB-BCDB-34EB-1EE1D57F9ACC}"/>
              </a:ext>
            </a:extLst>
          </p:cNvPr>
          <p:cNvPicPr>
            <a:picLocks noChangeAspect="1"/>
          </p:cNvPicPr>
          <p:nvPr/>
        </p:nvPicPr>
        <p:blipFill>
          <a:blip r:embed="rId3">
            <a:extLst>
              <a:ext uri="{28A0092B-C50C-407E-A947-70E740481C1C}">
                <a14:useLocalDpi xmlns:a14="http://schemas.microsoft.com/office/drawing/2010/main" val="0"/>
              </a:ext>
            </a:extLst>
          </a:blip>
          <a:srcRect l="18605" t="3189" r="4651"/>
          <a:stretch>
            <a:fillRect/>
          </a:stretch>
        </p:blipFill>
        <p:spPr>
          <a:xfrm>
            <a:off x="1066800" y="2812455"/>
            <a:ext cx="6765758" cy="4662090"/>
          </a:xfrm>
          <a:prstGeom prst="rect">
            <a:avLst/>
          </a:prstGeom>
        </p:spPr>
      </p:pic>
      <p:pic>
        <p:nvPicPr>
          <p:cNvPr id="29" name="Picture 28">
            <a:extLst>
              <a:ext uri="{FF2B5EF4-FFF2-40B4-BE49-F238E27FC236}">
                <a16:creationId xmlns:a16="http://schemas.microsoft.com/office/drawing/2014/main" id="{47E0A40C-3983-BB1E-1790-E6A9E6ED72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00" y="2568694"/>
            <a:ext cx="7772400" cy="5149612"/>
          </a:xfrm>
          <a:prstGeom prst="rect">
            <a:avLst/>
          </a:prstGeom>
        </p:spPr>
      </p:pic>
    </p:spTree>
    <p:extLst>
      <p:ext uri="{BB962C8B-B14F-4D97-AF65-F5344CB8AC3E}">
        <p14:creationId xmlns:p14="http://schemas.microsoft.com/office/powerpoint/2010/main" val="12945242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4CD6-E5AC-75BB-DC9E-9662B51D4B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9537C6-FDAC-C4A9-A477-C759D9D57EC7}"/>
              </a:ext>
            </a:extLst>
          </p:cNvPr>
          <p:cNvSpPr txBox="1"/>
          <p:nvPr/>
        </p:nvSpPr>
        <p:spPr>
          <a:xfrm>
            <a:off x="501316" y="99214"/>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BB0FDF1-47F8-CBA0-7BFF-6D009D5C9FA2}"/>
              </a:ext>
            </a:extLst>
          </p:cNvPr>
          <p:cNvSpPr txBox="1"/>
          <p:nvPr/>
        </p:nvSpPr>
        <p:spPr>
          <a:xfrm>
            <a:off x="501316" y="915598"/>
            <a:ext cx="10928684" cy="622799"/>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Concept 2 – </a:t>
            </a:r>
            <a:r>
              <a:rPr lang="en-IN" dirty="0"/>
              <a:t>– </a:t>
            </a:r>
            <a:r>
              <a:rPr lang="en-IN" sz="3200" b="1" dirty="0">
                <a:latin typeface="Times New Roman" panose="02020603050405020304" pitchFamily="18" charset="0"/>
                <a:cs typeface="Times New Roman" panose="02020603050405020304" pitchFamily="18" charset="0"/>
              </a:rPr>
              <a:t>Eco-Ride Solar 350 S (Eco-Premium Edition</a:t>
            </a:r>
            <a:r>
              <a:rPr lang="en-IN" dirty="0"/>
              <a: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12F1442-1D56-BC98-4F77-BF392FCDAC3C}"/>
              </a:ext>
            </a:extLst>
          </p:cNvPr>
          <p:cNvSpPr txBox="1"/>
          <p:nvPr/>
        </p:nvSpPr>
        <p:spPr>
          <a:xfrm>
            <a:off x="533400" y="1523156"/>
            <a:ext cx="91440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User focus: Environment-friendly riders, off-grid users</a:t>
            </a:r>
          </a:p>
        </p:txBody>
      </p:sp>
      <p:sp>
        <p:nvSpPr>
          <p:cNvPr id="10" name="TextBox 9">
            <a:extLst>
              <a:ext uri="{FF2B5EF4-FFF2-40B4-BE49-F238E27FC236}">
                <a16:creationId xmlns:a16="http://schemas.microsoft.com/office/drawing/2014/main" id="{0714C7E7-E242-BDDC-A88F-12DCBD75011D}"/>
              </a:ext>
            </a:extLst>
          </p:cNvPr>
          <p:cNvSpPr txBox="1"/>
          <p:nvPr/>
        </p:nvSpPr>
        <p:spPr>
          <a:xfrm>
            <a:off x="563880" y="5828649"/>
            <a:ext cx="9144000" cy="2641492"/>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Key Features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Flexible solar film integrated on rear box (≈30 W)</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Plug + solar dual charging system</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Standard 350 W BLDC motor with pedal-assist + throttle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GPS + regenerative controller</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LED dashboard with solar status indicator</a:t>
            </a:r>
          </a:p>
          <a:p>
            <a:pPr>
              <a:lnSpc>
                <a:spcPct val="115000"/>
              </a:lnSpc>
              <a:spcAft>
                <a:spcPts val="10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DE8CE9DA-11E2-6A27-962F-D3137C34CCE6}"/>
              </a:ext>
            </a:extLst>
          </p:cNvPr>
          <p:cNvSpPr txBox="1"/>
          <p:nvPr/>
        </p:nvSpPr>
        <p:spPr>
          <a:xfrm>
            <a:off x="9109705" y="2166602"/>
            <a:ext cx="9144000" cy="830997"/>
          </a:xfrm>
          <a:prstGeom prst="rect">
            <a:avLst/>
          </a:prstGeom>
          <a:noFill/>
        </p:spPr>
        <p:txBody>
          <a:bodyPr wrap="square">
            <a:spAutoFit/>
          </a:bodyPr>
          <a:lstStyle/>
          <a:p>
            <a:r>
              <a:rPr lang="en-IN" dirty="0"/>
              <a:t> </a:t>
            </a:r>
            <a:r>
              <a:rPr lang="en-IN" sz="2400" dirty="0">
                <a:latin typeface="Times New Roman" panose="02020603050405020304" pitchFamily="18" charset="0"/>
                <a:cs typeface="Times New Roman" panose="02020603050405020304" pitchFamily="18" charset="0"/>
              </a:rPr>
              <a:t>Rationale</a:t>
            </a:r>
          </a:p>
          <a:p>
            <a:r>
              <a:rPr lang="en-IN" sz="2400" dirty="0">
                <a:latin typeface="Times New Roman" panose="02020603050405020304" pitchFamily="18" charset="0"/>
                <a:cs typeface="Times New Roman" panose="02020603050405020304" pitchFamily="18" charset="0"/>
              </a:rPr>
              <a:t>High solar-charging score (7) and strong eco-identity</a:t>
            </a:r>
            <a:r>
              <a:rPr lang="en-IN" dirty="0">
                <a:latin typeface="Times New Roman" panose="02020603050405020304" pitchFamily="18" charset="0"/>
                <a:cs typeface="Times New Roman" panose="02020603050405020304" pitchFamily="18" charset="0"/>
              </a:rPr>
              <a:t>.</a:t>
            </a:r>
          </a:p>
        </p:txBody>
      </p:sp>
      <p:sp>
        <p:nvSpPr>
          <p:cNvPr id="17" name="Freeform 4">
            <a:extLst>
              <a:ext uri="{FF2B5EF4-FFF2-40B4-BE49-F238E27FC236}">
                <a16:creationId xmlns:a16="http://schemas.microsoft.com/office/drawing/2014/main" id="{461AE9CF-F8D3-9CE8-09CF-89A78724A82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8" name="TextBox 5">
            <a:extLst>
              <a:ext uri="{FF2B5EF4-FFF2-40B4-BE49-F238E27FC236}">
                <a16:creationId xmlns:a16="http://schemas.microsoft.com/office/drawing/2014/main" id="{E86D5749-A8F7-703D-B53D-C5A9B3FAD6E2}"/>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9" name="Freeform 4">
            <a:extLst>
              <a:ext uri="{FF2B5EF4-FFF2-40B4-BE49-F238E27FC236}">
                <a16:creationId xmlns:a16="http://schemas.microsoft.com/office/drawing/2014/main" id="{9E63FCEA-3DE9-09AA-6BE5-C41A974B2E30}"/>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5" name="TextBox 4">
            <a:extLst>
              <a:ext uri="{FF2B5EF4-FFF2-40B4-BE49-F238E27FC236}">
                <a16:creationId xmlns:a16="http://schemas.microsoft.com/office/drawing/2014/main" id="{3B60377C-846E-6B7B-F9F6-AFDC6B677FCE}"/>
              </a:ext>
            </a:extLst>
          </p:cNvPr>
          <p:cNvSpPr txBox="1"/>
          <p:nvPr/>
        </p:nvSpPr>
        <p:spPr>
          <a:xfrm>
            <a:off x="563880" y="2165646"/>
            <a:ext cx="9265920" cy="3255058"/>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Pros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Solar recharge adds 10–15 km/day</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Lower running cost, ideal for eco-conscious buyers</a:t>
            </a: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Cons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Slightly higher price (solar integration cost)</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Heavier by ~1.5 kg</a:t>
            </a:r>
          </a:p>
        </p:txBody>
      </p:sp>
    </p:spTree>
    <p:extLst>
      <p:ext uri="{BB962C8B-B14F-4D97-AF65-F5344CB8AC3E}">
        <p14:creationId xmlns:p14="http://schemas.microsoft.com/office/powerpoint/2010/main" val="329223368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441076D4-9D0F-F890-910A-2F6B28F17DD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76CA0A85-E326-25DB-F54D-4B46A79CBA8D}"/>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pic>
        <p:nvPicPr>
          <p:cNvPr id="7" name="Picture 6">
            <a:extLst>
              <a:ext uri="{FF2B5EF4-FFF2-40B4-BE49-F238E27FC236}">
                <a16:creationId xmlns:a16="http://schemas.microsoft.com/office/drawing/2014/main" id="{5D8EC855-A0F7-B6EC-1659-E61E24EF31CB}"/>
              </a:ext>
            </a:extLst>
          </p:cNvPr>
          <p:cNvPicPr>
            <a:picLocks noChangeAspect="1"/>
          </p:cNvPicPr>
          <p:nvPr/>
        </p:nvPicPr>
        <p:blipFill>
          <a:blip r:embed="rId3">
            <a:extLst>
              <a:ext uri="{28A0092B-C50C-407E-A947-70E740481C1C}">
                <a14:useLocalDpi xmlns:a14="http://schemas.microsoft.com/office/drawing/2010/main" val="0"/>
              </a:ext>
            </a:extLst>
          </a:blip>
          <a:srcRect l="24321" t="13703" r="13457" b="52222"/>
          <a:stretch>
            <a:fillRect/>
          </a:stretch>
        </p:blipFill>
        <p:spPr>
          <a:xfrm>
            <a:off x="1066800" y="2936012"/>
            <a:ext cx="7086600" cy="5788887"/>
          </a:xfrm>
          <a:prstGeom prst="rect">
            <a:avLst/>
          </a:prstGeom>
        </p:spPr>
      </p:pic>
      <p:sp>
        <p:nvSpPr>
          <p:cNvPr id="8" name="TextBox 7">
            <a:extLst>
              <a:ext uri="{FF2B5EF4-FFF2-40B4-BE49-F238E27FC236}">
                <a16:creationId xmlns:a16="http://schemas.microsoft.com/office/drawing/2014/main" id="{E6264E36-4F06-31D4-B34A-BE415A928A61}"/>
              </a:ext>
            </a:extLst>
          </p:cNvPr>
          <p:cNvSpPr txBox="1"/>
          <p:nvPr/>
        </p:nvSpPr>
        <p:spPr>
          <a:xfrm>
            <a:off x="501316" y="915598"/>
            <a:ext cx="10928684" cy="622799"/>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Concept 2 – </a:t>
            </a:r>
            <a:r>
              <a:rPr lang="en-IN" dirty="0"/>
              <a:t>– </a:t>
            </a:r>
            <a:r>
              <a:rPr lang="en-IN" sz="3200" b="1" dirty="0">
                <a:latin typeface="Times New Roman" panose="02020603050405020304" pitchFamily="18" charset="0"/>
                <a:cs typeface="Times New Roman" panose="02020603050405020304" pitchFamily="18" charset="0"/>
              </a:rPr>
              <a:t>Eco-Ride Solar 350 S (Eco-Premium Edition</a:t>
            </a:r>
            <a:r>
              <a:rPr lang="en-IN" dirty="0"/>
              <a: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976ECAE3-67FD-AC47-9125-D88C99BDA0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8800" y="2705100"/>
            <a:ext cx="7772400" cy="6358463"/>
          </a:xfrm>
          <a:prstGeom prst="rect">
            <a:avLst/>
          </a:prstGeom>
        </p:spPr>
      </p:pic>
    </p:spTree>
    <p:extLst>
      <p:ext uri="{BB962C8B-B14F-4D97-AF65-F5344CB8AC3E}">
        <p14:creationId xmlns:p14="http://schemas.microsoft.com/office/powerpoint/2010/main" val="29410408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2120AC-A53A-F154-28CD-CE770326BD69}"/>
              </a:ext>
            </a:extLst>
          </p:cNvPr>
          <p:cNvSpPr txBox="1"/>
          <p:nvPr/>
        </p:nvSpPr>
        <p:spPr>
          <a:xfrm>
            <a:off x="553452" y="912052"/>
            <a:ext cx="12857747" cy="619657"/>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Roboto" panose="02000000000000000000" pitchFamily="2" charset="0"/>
                <a:cs typeface="Times New Roman" panose="02020603050405020304" pitchFamily="18" charset="0"/>
              </a:rPr>
              <a:t>Concept 3 – Eco-Ride X Swap (Swappable-Battery Fleet Edition</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5921F78-DF41-5B24-BB79-6F9AEEAFD261}"/>
              </a:ext>
            </a:extLst>
          </p:cNvPr>
          <p:cNvSpPr txBox="1"/>
          <p:nvPr/>
        </p:nvSpPr>
        <p:spPr>
          <a:xfrm>
            <a:off x="553453" y="1562100"/>
            <a:ext cx="9144000" cy="490199"/>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User focus: Delivery, rental, or heavy-use riders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55A0606-C28C-DA9D-EE8D-E48C5806E4BF}"/>
              </a:ext>
            </a:extLst>
          </p:cNvPr>
          <p:cNvSpPr txBox="1"/>
          <p:nvPr/>
        </p:nvSpPr>
        <p:spPr>
          <a:xfrm>
            <a:off x="501316" y="5836514"/>
            <a:ext cx="9144000" cy="3255058"/>
          </a:xfrm>
          <a:prstGeom prst="rect">
            <a:avLst/>
          </a:prstGeom>
          <a:noFill/>
        </p:spPr>
        <p:txBody>
          <a:bodyPr wrap="square">
            <a:spAutoFit/>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Key Features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Replaceable 48 V 15 Ah battery (slide-out drawer)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Regenerative braking + throttle assist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500 W hub motor (higher torque for load)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Dual-disc hydraulic brakes with brake-cut sensor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GPS-enabled tracking for fleet management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4179E88-AC09-5E6A-66C6-0E634CCE0CFA}"/>
              </a:ext>
            </a:extLst>
          </p:cNvPr>
          <p:cNvSpPr txBox="1"/>
          <p:nvPr/>
        </p:nvSpPr>
        <p:spPr>
          <a:xfrm>
            <a:off x="7239000" y="1665144"/>
            <a:ext cx="9144000" cy="1043171"/>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Rationale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Top scores in replaceable battery (8), regen (8), and safety (9).</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5D10D47D-E49D-89A0-E017-D48A41B40671}"/>
              </a:ext>
            </a:extLst>
          </p:cNvPr>
          <p:cNvSpPr txBox="1"/>
          <p:nvPr/>
        </p:nvSpPr>
        <p:spPr>
          <a:xfrm>
            <a:off x="501316" y="2199376"/>
            <a:ext cx="9144000" cy="1596143"/>
          </a:xfrm>
          <a:prstGeom prst="rect">
            <a:avLst/>
          </a:prstGeom>
          <a:noFill/>
        </p:spPr>
        <p:txBody>
          <a:bodyPr wrap="square">
            <a:spAutoFit/>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Continuous use with battery swapping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Best for delivery or rental applications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1B91EDA9-9F48-2974-3521-66768DB374C2}"/>
              </a:ext>
            </a:extLst>
          </p:cNvPr>
          <p:cNvSpPr txBox="1"/>
          <p:nvPr/>
        </p:nvSpPr>
        <p:spPr>
          <a:xfrm>
            <a:off x="553453" y="3866118"/>
            <a:ext cx="9144000" cy="1596143"/>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Heavier frame (~22 kg)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Complex battery mechanism increases cost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Freeform 4">
            <a:extLst>
              <a:ext uri="{FF2B5EF4-FFF2-40B4-BE49-F238E27FC236}">
                <a16:creationId xmlns:a16="http://schemas.microsoft.com/office/drawing/2014/main" id="{B99AE31E-7FA3-BA01-6F55-99992A204631}"/>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7" name="TextBox 5">
            <a:extLst>
              <a:ext uri="{FF2B5EF4-FFF2-40B4-BE49-F238E27FC236}">
                <a16:creationId xmlns:a16="http://schemas.microsoft.com/office/drawing/2014/main" id="{B3BF0D35-F11E-8C1D-7C18-8DA968778759}"/>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8" name="Freeform 4">
            <a:extLst>
              <a:ext uri="{FF2B5EF4-FFF2-40B4-BE49-F238E27FC236}">
                <a16:creationId xmlns:a16="http://schemas.microsoft.com/office/drawing/2014/main" id="{E8A0C718-F80C-E3B2-949C-E5477FCACD65}"/>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21" name="TextBox 20">
            <a:extLst>
              <a:ext uri="{FF2B5EF4-FFF2-40B4-BE49-F238E27FC236}">
                <a16:creationId xmlns:a16="http://schemas.microsoft.com/office/drawing/2014/main" id="{48E439B9-C05F-9A65-57D4-C12CFF8D7513}"/>
              </a:ext>
            </a:extLst>
          </p:cNvPr>
          <p:cNvSpPr txBox="1"/>
          <p:nvPr/>
        </p:nvSpPr>
        <p:spPr>
          <a:xfrm>
            <a:off x="501316" y="99214"/>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1150223"/>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E0955-DE4C-C8BF-E16F-CD82D88F4298}"/>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41C27C52-8110-A390-8B3C-4D836588F91B}"/>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ABEE72BC-8E42-8314-AA12-3266F9AA0062}"/>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4" name="TextBox 3">
            <a:extLst>
              <a:ext uri="{FF2B5EF4-FFF2-40B4-BE49-F238E27FC236}">
                <a16:creationId xmlns:a16="http://schemas.microsoft.com/office/drawing/2014/main" id="{C04CA9A6-A1DE-F1AE-F1DA-51E600874EBB}"/>
              </a:ext>
            </a:extLst>
          </p:cNvPr>
          <p:cNvSpPr txBox="1"/>
          <p:nvPr/>
        </p:nvSpPr>
        <p:spPr>
          <a:xfrm>
            <a:off x="501316" y="915598"/>
            <a:ext cx="10928684" cy="622799"/>
          </a:xfrm>
          <a:prstGeom prst="rect">
            <a:avLst/>
          </a:prstGeom>
          <a:noFill/>
        </p:spPr>
        <p:txBody>
          <a:bodyPr wrap="square">
            <a:spAutoFit/>
          </a:bodyPr>
          <a:lstStyle/>
          <a:p>
            <a:pPr>
              <a:lnSpc>
                <a:spcPct val="115000"/>
              </a:lnSpc>
              <a:spcAft>
                <a:spcPts val="1000"/>
              </a:spcAft>
              <a:buNone/>
            </a:pP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Concept </a:t>
            </a:r>
            <a:r>
              <a:rPr lang="en-IN" sz="3200" b="1" kern="100" dirty="0">
                <a:latin typeface="Times New Roman" panose="02020603050405020304" pitchFamily="18" charset="0"/>
                <a:ea typeface="Calibri" panose="020F0502020204030204" pitchFamily="34" charset="0"/>
                <a:cs typeface="Times New Roman" panose="02020603050405020304" pitchFamily="18" charset="0"/>
              </a:rPr>
              <a:t>3</a:t>
            </a:r>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dirty="0"/>
              <a:t>– </a:t>
            </a:r>
            <a:r>
              <a:rPr lang="en-IN" sz="3200" b="1" dirty="0">
                <a:latin typeface="Times New Roman" panose="02020603050405020304" pitchFamily="18" charset="0"/>
                <a:cs typeface="Times New Roman" panose="02020603050405020304" pitchFamily="18" charset="0"/>
              </a:rPr>
              <a:t>Eco-Ride Solar 350 S (Eco-Premium Edition</a:t>
            </a:r>
            <a:r>
              <a:rPr lang="en-IN" dirty="0"/>
              <a: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A43CE494-51C8-6ACF-5D53-9E7C1E001720}"/>
              </a:ext>
            </a:extLst>
          </p:cNvPr>
          <p:cNvPicPr>
            <a:picLocks noChangeAspect="1"/>
          </p:cNvPicPr>
          <p:nvPr/>
        </p:nvPicPr>
        <p:blipFill>
          <a:blip r:embed="rId3">
            <a:extLst>
              <a:ext uri="{28A0092B-C50C-407E-A947-70E740481C1C}">
                <a14:useLocalDpi xmlns:a14="http://schemas.microsoft.com/office/drawing/2010/main" val="0"/>
              </a:ext>
            </a:extLst>
          </a:blip>
          <a:srcRect l="7530" t="14955" r="12470" b="11430"/>
          <a:stretch>
            <a:fillRect/>
          </a:stretch>
        </p:blipFill>
        <p:spPr>
          <a:xfrm>
            <a:off x="914400" y="1798747"/>
            <a:ext cx="6172200" cy="7572655"/>
          </a:xfrm>
          <a:prstGeom prst="rect">
            <a:avLst/>
          </a:prstGeom>
        </p:spPr>
      </p:pic>
      <p:pic>
        <p:nvPicPr>
          <p:cNvPr id="8" name="Picture 7">
            <a:extLst>
              <a:ext uri="{FF2B5EF4-FFF2-40B4-BE49-F238E27FC236}">
                <a16:creationId xmlns:a16="http://schemas.microsoft.com/office/drawing/2014/main" id="{8AD3FE1D-0F06-A973-A077-AEAF15D15F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8138" y="1928921"/>
            <a:ext cx="7506730" cy="7312305"/>
          </a:xfrm>
          <a:prstGeom prst="rect">
            <a:avLst/>
          </a:prstGeom>
        </p:spPr>
      </p:pic>
    </p:spTree>
    <p:extLst>
      <p:ext uri="{BB962C8B-B14F-4D97-AF65-F5344CB8AC3E}">
        <p14:creationId xmlns:p14="http://schemas.microsoft.com/office/powerpoint/2010/main" val="3897194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95A06-08E0-BF15-F1A5-2FD362AFBA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FE8008-E4F9-7E84-9E67-752D3DE318CD}"/>
              </a:ext>
            </a:extLst>
          </p:cNvPr>
          <p:cNvSpPr txBox="1"/>
          <p:nvPr/>
        </p:nvSpPr>
        <p:spPr>
          <a:xfrm>
            <a:off x="533400" y="920073"/>
            <a:ext cx="9144000" cy="584775"/>
          </a:xfrm>
          <a:prstGeom prst="rect">
            <a:avLst/>
          </a:prstGeom>
          <a:noFill/>
        </p:spPr>
        <p:txBody>
          <a:bodyPr wrap="square">
            <a:spAutoFit/>
          </a:bodyPr>
          <a:lstStyle/>
          <a:p>
            <a:r>
              <a:rPr lang="en-IN" sz="3200" b="1" dirty="0">
                <a:effectLst/>
                <a:latin typeface="Times New Roman" panose="02020603050405020304" pitchFamily="18" charset="0"/>
                <a:ea typeface="Calibri" panose="020F0502020204030204" pitchFamily="34" charset="0"/>
              </a:rPr>
              <a:t>Concept 4 – Eco-Ride Fold 350</a:t>
            </a:r>
            <a:endParaRPr lang="en-IN" dirty="0"/>
          </a:p>
        </p:txBody>
      </p:sp>
      <p:sp>
        <p:nvSpPr>
          <p:cNvPr id="6" name="TextBox 5">
            <a:extLst>
              <a:ext uri="{FF2B5EF4-FFF2-40B4-BE49-F238E27FC236}">
                <a16:creationId xmlns:a16="http://schemas.microsoft.com/office/drawing/2014/main" id="{E0663F1F-2CC8-1DA5-4298-997EACE741E8}"/>
              </a:ext>
            </a:extLst>
          </p:cNvPr>
          <p:cNvSpPr txBox="1"/>
          <p:nvPr/>
        </p:nvSpPr>
        <p:spPr>
          <a:xfrm>
            <a:off x="545432" y="1562100"/>
            <a:ext cx="9144000" cy="461665"/>
          </a:xfrm>
          <a:prstGeom prst="rect">
            <a:avLst/>
          </a:prstGeom>
          <a:noFill/>
        </p:spPr>
        <p:txBody>
          <a:bodyPr wrap="square">
            <a:spAutoFit/>
          </a:bodyPr>
          <a:lstStyle/>
          <a:p>
            <a:r>
              <a:rPr lang="en-IN" sz="2400" dirty="0">
                <a:effectLst/>
                <a:latin typeface="Times New Roman" panose="02020603050405020304" pitchFamily="18" charset="0"/>
                <a:ea typeface="Calibri" panose="020F0502020204030204" pitchFamily="34" charset="0"/>
              </a:rPr>
              <a:t>User focus: Apartment dwellers, train/metro commuters</a:t>
            </a:r>
            <a:endParaRPr lang="en-IN" sz="2400" dirty="0"/>
          </a:p>
        </p:txBody>
      </p:sp>
      <p:sp>
        <p:nvSpPr>
          <p:cNvPr id="8" name="TextBox 7">
            <a:extLst>
              <a:ext uri="{FF2B5EF4-FFF2-40B4-BE49-F238E27FC236}">
                <a16:creationId xmlns:a16="http://schemas.microsoft.com/office/drawing/2014/main" id="{097BB393-55D7-D736-80B6-090A223B5A51}"/>
              </a:ext>
            </a:extLst>
          </p:cNvPr>
          <p:cNvSpPr txBox="1"/>
          <p:nvPr/>
        </p:nvSpPr>
        <p:spPr>
          <a:xfrm>
            <a:off x="545432" y="5874744"/>
            <a:ext cx="9144000" cy="3255058"/>
          </a:xfrm>
          <a:prstGeom prst="rect">
            <a:avLst/>
          </a:prstGeom>
          <a:noFill/>
        </p:spPr>
        <p:txBody>
          <a:bodyPr wrap="square">
            <a:spAutoFit/>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Key Features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Quick-fold alloy frame (fold in 20 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Pedal-assist + throttle; small 350 W motor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Integrated storage box (8 L) under seat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Optional solar lid for trickle charging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Soft-grip ergonomics and adjustable seat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5965111-A891-4E7A-7D2A-68BD1B995550}"/>
              </a:ext>
            </a:extLst>
          </p:cNvPr>
          <p:cNvSpPr txBox="1"/>
          <p:nvPr/>
        </p:nvSpPr>
        <p:spPr>
          <a:xfrm>
            <a:off x="7772400" y="1007016"/>
            <a:ext cx="9144000" cy="1043171"/>
          </a:xfrm>
          <a:prstGeom prst="rect">
            <a:avLst/>
          </a:prstGeom>
          <a:noFill/>
        </p:spPr>
        <p:txBody>
          <a:bodyPr wrap="square">
            <a:spAutoFit/>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Rationale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Excels in storage (8) and compact design (8); balanced all-rounder.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B84C783-ACDD-6675-7B62-B7627A117E44}"/>
              </a:ext>
            </a:extLst>
          </p:cNvPr>
          <p:cNvSpPr txBox="1"/>
          <p:nvPr/>
        </p:nvSpPr>
        <p:spPr>
          <a:xfrm>
            <a:off x="545432" y="2323284"/>
            <a:ext cx="9144000" cy="1596143"/>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Pros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Portable, light (≤18 kg folded)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Perfect for short mixed transport routes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BF2A44F8-7949-A8FA-6A09-6389145FE649}"/>
              </a:ext>
            </a:extLst>
          </p:cNvPr>
          <p:cNvSpPr txBox="1"/>
          <p:nvPr/>
        </p:nvSpPr>
        <p:spPr>
          <a:xfrm>
            <a:off x="545432" y="4079729"/>
            <a:ext cx="9144000" cy="1596143"/>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Moderate braking power (score 6)</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Limited range (~60–70 km)</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Freeform 4">
            <a:extLst>
              <a:ext uri="{FF2B5EF4-FFF2-40B4-BE49-F238E27FC236}">
                <a16:creationId xmlns:a16="http://schemas.microsoft.com/office/drawing/2014/main" id="{2E3C1413-CC1A-B81D-9ED4-5925835B99A0}"/>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6" name="TextBox 5">
            <a:extLst>
              <a:ext uri="{FF2B5EF4-FFF2-40B4-BE49-F238E27FC236}">
                <a16:creationId xmlns:a16="http://schemas.microsoft.com/office/drawing/2014/main" id="{29171B2E-A62C-96FF-F028-E2235F80E79F}"/>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7" name="Freeform 4">
            <a:extLst>
              <a:ext uri="{FF2B5EF4-FFF2-40B4-BE49-F238E27FC236}">
                <a16:creationId xmlns:a16="http://schemas.microsoft.com/office/drawing/2014/main" id="{4CD0DB1D-E749-4FE7-87CB-95AA4F3234D3}"/>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8" name="TextBox 17">
            <a:extLst>
              <a:ext uri="{FF2B5EF4-FFF2-40B4-BE49-F238E27FC236}">
                <a16:creationId xmlns:a16="http://schemas.microsoft.com/office/drawing/2014/main" id="{2FFD087B-935E-5ABA-DA0E-9F530EEE6DF2}"/>
              </a:ext>
            </a:extLst>
          </p:cNvPr>
          <p:cNvSpPr txBox="1"/>
          <p:nvPr/>
        </p:nvSpPr>
        <p:spPr>
          <a:xfrm>
            <a:off x="501316" y="99214"/>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44165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F727-CC13-9BD7-76DD-1590BFD094E9}"/>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77B93CE3-FE02-73D4-3F75-F409063031F0}"/>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CAC9B4ED-08F5-2A81-C337-214F8ED04271}"/>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pic>
        <p:nvPicPr>
          <p:cNvPr id="5" name="Picture 4">
            <a:extLst>
              <a:ext uri="{FF2B5EF4-FFF2-40B4-BE49-F238E27FC236}">
                <a16:creationId xmlns:a16="http://schemas.microsoft.com/office/drawing/2014/main" id="{C490E766-8075-6846-A4F5-3A59128C034B}"/>
              </a:ext>
            </a:extLst>
          </p:cNvPr>
          <p:cNvPicPr>
            <a:picLocks noChangeAspect="1"/>
          </p:cNvPicPr>
          <p:nvPr/>
        </p:nvPicPr>
        <p:blipFill>
          <a:blip r:embed="rId3">
            <a:extLst>
              <a:ext uri="{28A0092B-C50C-407E-A947-70E740481C1C}">
                <a14:useLocalDpi xmlns:a14="http://schemas.microsoft.com/office/drawing/2010/main" val="0"/>
              </a:ext>
            </a:extLst>
          </a:blip>
          <a:srcRect l="4568" t="44074" r="17407" b="10000"/>
          <a:stretch>
            <a:fillRect/>
          </a:stretch>
        </p:blipFill>
        <p:spPr>
          <a:xfrm>
            <a:off x="762000" y="2938017"/>
            <a:ext cx="6553200" cy="4724400"/>
          </a:xfrm>
          <a:prstGeom prst="rect">
            <a:avLst/>
          </a:prstGeom>
        </p:spPr>
      </p:pic>
      <p:sp>
        <p:nvSpPr>
          <p:cNvPr id="6" name="TextBox 5">
            <a:extLst>
              <a:ext uri="{FF2B5EF4-FFF2-40B4-BE49-F238E27FC236}">
                <a16:creationId xmlns:a16="http://schemas.microsoft.com/office/drawing/2014/main" id="{548A978C-E87D-B859-D29B-756F042E3D53}"/>
              </a:ext>
            </a:extLst>
          </p:cNvPr>
          <p:cNvSpPr txBox="1"/>
          <p:nvPr/>
        </p:nvSpPr>
        <p:spPr>
          <a:xfrm>
            <a:off x="533400" y="920073"/>
            <a:ext cx="9144000" cy="584775"/>
          </a:xfrm>
          <a:prstGeom prst="rect">
            <a:avLst/>
          </a:prstGeom>
          <a:noFill/>
        </p:spPr>
        <p:txBody>
          <a:bodyPr wrap="square">
            <a:spAutoFit/>
          </a:bodyPr>
          <a:lstStyle/>
          <a:p>
            <a:r>
              <a:rPr lang="en-IN" sz="3200" b="1" dirty="0">
                <a:effectLst/>
                <a:latin typeface="Times New Roman" panose="02020603050405020304" pitchFamily="18" charset="0"/>
                <a:ea typeface="Calibri" panose="020F0502020204030204" pitchFamily="34" charset="0"/>
              </a:rPr>
              <a:t>Concept 4 – Eco-Ride Fold 350</a:t>
            </a:r>
            <a:endParaRPr lang="en-IN" dirty="0"/>
          </a:p>
        </p:txBody>
      </p:sp>
      <p:pic>
        <p:nvPicPr>
          <p:cNvPr id="8" name="Picture 7">
            <a:extLst>
              <a:ext uri="{FF2B5EF4-FFF2-40B4-BE49-F238E27FC236}">
                <a16:creationId xmlns:a16="http://schemas.microsoft.com/office/drawing/2014/main" id="{6F23308F-D133-9B9D-2359-6C7A6845C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2600" y="2363291"/>
            <a:ext cx="7506730" cy="5873852"/>
          </a:xfrm>
          <a:prstGeom prst="rect">
            <a:avLst/>
          </a:prstGeom>
        </p:spPr>
      </p:pic>
    </p:spTree>
    <p:extLst>
      <p:ext uri="{BB962C8B-B14F-4D97-AF65-F5344CB8AC3E}">
        <p14:creationId xmlns:p14="http://schemas.microsoft.com/office/powerpoint/2010/main" val="19998885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D29B-071D-7E7F-CD20-2DE2D8CF40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ADF34F-10AA-3F2C-73D6-A94DA1D0D314}"/>
              </a:ext>
            </a:extLst>
          </p:cNvPr>
          <p:cNvSpPr txBox="1"/>
          <p:nvPr/>
        </p:nvSpPr>
        <p:spPr>
          <a:xfrm>
            <a:off x="501316" y="943826"/>
            <a:ext cx="9144000" cy="584775"/>
          </a:xfrm>
          <a:prstGeom prst="rect">
            <a:avLst/>
          </a:prstGeom>
          <a:noFill/>
        </p:spPr>
        <p:txBody>
          <a:bodyPr wrap="square">
            <a:spAutoFit/>
          </a:bodyPr>
          <a:lstStyle/>
          <a:p>
            <a:r>
              <a:rPr lang="en-IN" sz="3200" b="1" dirty="0">
                <a:effectLst/>
                <a:latin typeface="Times New Roman" panose="02020603050405020304" pitchFamily="18" charset="0"/>
                <a:ea typeface="Calibri" panose="020F0502020204030204" pitchFamily="34" charset="0"/>
              </a:rPr>
              <a:t>Concept 4 – </a:t>
            </a:r>
            <a:r>
              <a:rPr lang="en-IN" sz="3200" b="1" dirty="0">
                <a:latin typeface="Times New Roman" panose="02020603050405020304" pitchFamily="18" charset="0"/>
                <a:cs typeface="Times New Roman" panose="02020603050405020304" pitchFamily="18" charset="0"/>
              </a:rPr>
              <a:t>Eco-Ride Cargo 350 C </a:t>
            </a:r>
          </a:p>
        </p:txBody>
      </p:sp>
      <p:sp>
        <p:nvSpPr>
          <p:cNvPr id="6" name="TextBox 5">
            <a:extLst>
              <a:ext uri="{FF2B5EF4-FFF2-40B4-BE49-F238E27FC236}">
                <a16:creationId xmlns:a16="http://schemas.microsoft.com/office/drawing/2014/main" id="{9D870C84-9526-9539-A881-CA599857AF06}"/>
              </a:ext>
            </a:extLst>
          </p:cNvPr>
          <p:cNvSpPr txBox="1"/>
          <p:nvPr/>
        </p:nvSpPr>
        <p:spPr>
          <a:xfrm>
            <a:off x="545432" y="1733267"/>
            <a:ext cx="9144000"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User focus: Delivery workers, campus logistics, shop owners</a:t>
            </a:r>
          </a:p>
          <a:p>
            <a:endParaRPr lang="en-IN" sz="2400" dirty="0"/>
          </a:p>
        </p:txBody>
      </p:sp>
      <p:sp>
        <p:nvSpPr>
          <p:cNvPr id="8" name="TextBox 7">
            <a:extLst>
              <a:ext uri="{FF2B5EF4-FFF2-40B4-BE49-F238E27FC236}">
                <a16:creationId xmlns:a16="http://schemas.microsoft.com/office/drawing/2014/main" id="{5ED6178D-87A8-5FDB-CD7C-D0F79B7259F3}"/>
              </a:ext>
            </a:extLst>
          </p:cNvPr>
          <p:cNvSpPr txBox="1"/>
          <p:nvPr/>
        </p:nvSpPr>
        <p:spPr>
          <a:xfrm>
            <a:off x="545432" y="5874744"/>
            <a:ext cx="9144000" cy="2677656"/>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Key Features</a:t>
            </a:r>
          </a:p>
          <a:p>
            <a:pPr marL="457200" lvl="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Reinforced frame; load capacity up to 180 kg</a:t>
            </a:r>
          </a:p>
          <a:p>
            <a:pPr marL="457200" lvl="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500 W motor with regenerative braking</a:t>
            </a:r>
          </a:p>
          <a:p>
            <a:pPr marL="457200" lvl="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Dual-battery option for longer operation</a:t>
            </a:r>
          </a:p>
          <a:p>
            <a:pPr marL="457200" lvl="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Extended rear rack with modular cargo box</a:t>
            </a:r>
          </a:p>
          <a:p>
            <a:pPr marL="457200" lvl="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Hydraulic brakes + puncture-resistant tyres</a:t>
            </a:r>
          </a:p>
        </p:txBody>
      </p:sp>
      <p:sp>
        <p:nvSpPr>
          <p:cNvPr id="10" name="TextBox 9">
            <a:extLst>
              <a:ext uri="{FF2B5EF4-FFF2-40B4-BE49-F238E27FC236}">
                <a16:creationId xmlns:a16="http://schemas.microsoft.com/office/drawing/2014/main" id="{BF6A5511-51E1-751D-6517-87B29D9113B8}"/>
              </a:ext>
            </a:extLst>
          </p:cNvPr>
          <p:cNvSpPr txBox="1"/>
          <p:nvPr/>
        </p:nvSpPr>
        <p:spPr>
          <a:xfrm>
            <a:off x="8305800" y="1485838"/>
            <a:ext cx="9144000" cy="830997"/>
          </a:xfrm>
          <a:prstGeom prst="rect">
            <a:avLst/>
          </a:prstGeom>
          <a:noFill/>
        </p:spPr>
        <p:txBody>
          <a:bodyPr wrap="square">
            <a:spAutoFit/>
          </a:bodyPr>
          <a:lstStyle/>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t> </a:t>
            </a:r>
            <a:r>
              <a:rPr lang="en-IN" sz="2400" dirty="0">
                <a:latin typeface="Times New Roman" panose="02020603050405020304" pitchFamily="18" charset="0"/>
                <a:cs typeface="Times New Roman" panose="02020603050405020304" pitchFamily="18" charset="0"/>
              </a:rPr>
              <a:t>Rationale</a:t>
            </a:r>
          </a:p>
          <a:p>
            <a:r>
              <a:rPr lang="en-IN" sz="2400" dirty="0">
                <a:latin typeface="Times New Roman" panose="02020603050405020304" pitchFamily="18" charset="0"/>
                <a:cs typeface="Times New Roman" panose="02020603050405020304" pitchFamily="18" charset="0"/>
              </a:rPr>
              <a:t>Strong scores in regen (8), battery (8), and braking (8).</a:t>
            </a:r>
          </a:p>
        </p:txBody>
      </p:sp>
      <p:sp>
        <p:nvSpPr>
          <p:cNvPr id="15" name="Freeform 4">
            <a:extLst>
              <a:ext uri="{FF2B5EF4-FFF2-40B4-BE49-F238E27FC236}">
                <a16:creationId xmlns:a16="http://schemas.microsoft.com/office/drawing/2014/main" id="{8ACE02FF-809D-304C-56B3-95350876EA23}"/>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6" name="TextBox 5">
            <a:extLst>
              <a:ext uri="{FF2B5EF4-FFF2-40B4-BE49-F238E27FC236}">
                <a16:creationId xmlns:a16="http://schemas.microsoft.com/office/drawing/2014/main" id="{AE8ECB4F-1277-E299-BC22-38BAA151BF79}"/>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7" name="Freeform 4">
            <a:extLst>
              <a:ext uri="{FF2B5EF4-FFF2-40B4-BE49-F238E27FC236}">
                <a16:creationId xmlns:a16="http://schemas.microsoft.com/office/drawing/2014/main" id="{EBD57001-08FC-95F5-4499-25F0990E267E}"/>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8" name="TextBox 17">
            <a:extLst>
              <a:ext uri="{FF2B5EF4-FFF2-40B4-BE49-F238E27FC236}">
                <a16:creationId xmlns:a16="http://schemas.microsoft.com/office/drawing/2014/main" id="{F7F02442-A1C7-5468-34E2-53BBF6F647CC}"/>
              </a:ext>
            </a:extLst>
          </p:cNvPr>
          <p:cNvSpPr txBox="1"/>
          <p:nvPr/>
        </p:nvSpPr>
        <p:spPr>
          <a:xfrm>
            <a:off x="501316" y="99214"/>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84967E8-DC6A-0394-8C7D-27815DB797CE}"/>
              </a:ext>
            </a:extLst>
          </p:cNvPr>
          <p:cNvSpPr txBox="1"/>
          <p:nvPr/>
        </p:nvSpPr>
        <p:spPr>
          <a:xfrm>
            <a:off x="545432" y="2407247"/>
            <a:ext cx="9264316" cy="3255058"/>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Pros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Powerful torque; great for cargo applications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Long range (100–130 km combined mode)</a:t>
            </a: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Cons</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Heavy (~25 kg)</a:t>
            </a: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Not ideal for everyday commuting</a:t>
            </a:r>
          </a:p>
        </p:txBody>
      </p:sp>
    </p:spTree>
    <p:extLst>
      <p:ext uri="{BB962C8B-B14F-4D97-AF65-F5344CB8AC3E}">
        <p14:creationId xmlns:p14="http://schemas.microsoft.com/office/powerpoint/2010/main" val="270352387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8BC67-DF82-FCBC-937F-A8EE8B09314D}"/>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91351844-5763-B8BE-278D-F9EB0D30166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6CA70DD1-5BCE-390B-66D8-93E761AD7350}"/>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pic>
        <p:nvPicPr>
          <p:cNvPr id="5" name="Picture 4">
            <a:extLst>
              <a:ext uri="{FF2B5EF4-FFF2-40B4-BE49-F238E27FC236}">
                <a16:creationId xmlns:a16="http://schemas.microsoft.com/office/drawing/2014/main" id="{BB6FBE67-FE11-A3F5-197D-A3A817088817}"/>
              </a:ext>
            </a:extLst>
          </p:cNvPr>
          <p:cNvPicPr>
            <a:picLocks noChangeAspect="1"/>
          </p:cNvPicPr>
          <p:nvPr/>
        </p:nvPicPr>
        <p:blipFill>
          <a:blip r:embed="rId2">
            <a:extLst>
              <a:ext uri="{28A0092B-C50C-407E-A947-70E740481C1C}">
                <a14:useLocalDpi xmlns:a14="http://schemas.microsoft.com/office/drawing/2010/main" val="0"/>
              </a:ext>
            </a:extLst>
          </a:blip>
          <a:srcRect l="13331"/>
          <a:stretch>
            <a:fillRect/>
          </a:stretch>
        </p:blipFill>
        <p:spPr>
          <a:xfrm>
            <a:off x="381000" y="2476500"/>
            <a:ext cx="9296400" cy="6057900"/>
          </a:xfrm>
          <a:prstGeom prst="rect">
            <a:avLst/>
          </a:prstGeom>
        </p:spPr>
      </p:pic>
      <p:pic>
        <p:nvPicPr>
          <p:cNvPr id="7" name="Picture 6">
            <a:extLst>
              <a:ext uri="{FF2B5EF4-FFF2-40B4-BE49-F238E27FC236}">
                <a16:creationId xmlns:a16="http://schemas.microsoft.com/office/drawing/2014/main" id="{64D7ECCA-A661-8CBE-20D1-2CB93A006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3732" y="2476500"/>
            <a:ext cx="7506730" cy="6248400"/>
          </a:xfrm>
          <a:prstGeom prst="rect">
            <a:avLst/>
          </a:prstGeom>
        </p:spPr>
      </p:pic>
      <p:sp>
        <p:nvSpPr>
          <p:cNvPr id="8" name="TextBox 7">
            <a:extLst>
              <a:ext uri="{FF2B5EF4-FFF2-40B4-BE49-F238E27FC236}">
                <a16:creationId xmlns:a16="http://schemas.microsoft.com/office/drawing/2014/main" id="{053E0F71-13D0-056F-F5D4-C8F5D229819B}"/>
              </a:ext>
            </a:extLst>
          </p:cNvPr>
          <p:cNvSpPr txBox="1"/>
          <p:nvPr/>
        </p:nvSpPr>
        <p:spPr>
          <a:xfrm>
            <a:off x="501316" y="943826"/>
            <a:ext cx="9144000" cy="584775"/>
          </a:xfrm>
          <a:prstGeom prst="rect">
            <a:avLst/>
          </a:prstGeom>
          <a:noFill/>
        </p:spPr>
        <p:txBody>
          <a:bodyPr wrap="square">
            <a:spAutoFit/>
          </a:bodyPr>
          <a:lstStyle/>
          <a:p>
            <a:r>
              <a:rPr lang="en-IN" sz="3200" b="1" dirty="0">
                <a:effectLst/>
                <a:latin typeface="Times New Roman" panose="02020603050405020304" pitchFamily="18" charset="0"/>
                <a:ea typeface="Calibri" panose="020F0502020204030204" pitchFamily="34" charset="0"/>
              </a:rPr>
              <a:t>Concept 4 – </a:t>
            </a:r>
            <a:r>
              <a:rPr lang="en-IN" sz="3200" b="1" dirty="0">
                <a:latin typeface="Times New Roman" panose="02020603050405020304" pitchFamily="18" charset="0"/>
                <a:cs typeface="Times New Roman" panose="02020603050405020304" pitchFamily="18" charset="0"/>
              </a:rPr>
              <a:t>Eco-Ride Cargo 350 C </a:t>
            </a:r>
          </a:p>
        </p:txBody>
      </p:sp>
    </p:spTree>
    <p:extLst>
      <p:ext uri="{BB962C8B-B14F-4D97-AF65-F5344CB8AC3E}">
        <p14:creationId xmlns:p14="http://schemas.microsoft.com/office/powerpoint/2010/main" val="27141483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EF55-33B1-BCC8-1EFB-3FC61B8CF9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5C10C2-CBDB-D52F-1991-320B18D342F4}"/>
              </a:ext>
            </a:extLst>
          </p:cNvPr>
          <p:cNvSpPr txBox="1"/>
          <p:nvPr/>
        </p:nvSpPr>
        <p:spPr>
          <a:xfrm>
            <a:off x="533400" y="1257300"/>
            <a:ext cx="11582400" cy="584775"/>
          </a:xfrm>
          <a:prstGeom prst="rect">
            <a:avLst/>
          </a:prstGeom>
          <a:noFill/>
        </p:spPr>
        <p:txBody>
          <a:bodyPr wrap="square">
            <a:spAutoFit/>
          </a:bodyPr>
          <a:lstStyle/>
          <a:p>
            <a:r>
              <a:rPr lang="en-IN" sz="3200" b="1" dirty="0">
                <a:latin typeface="Times New Roman" panose="02020603050405020304" pitchFamily="18" charset="0"/>
                <a:ea typeface="Calibri" panose="020F0502020204030204" pitchFamily="34" charset="0"/>
              </a:rPr>
              <a:t>Concept 6 – </a:t>
            </a:r>
            <a:r>
              <a:rPr lang="en-IN" sz="3200" b="1" dirty="0">
                <a:effectLst/>
                <a:latin typeface="Times New Roman" panose="02020603050405020304" pitchFamily="18" charset="0"/>
                <a:ea typeface="Calibri" panose="020F0502020204030204" pitchFamily="34" charset="0"/>
              </a:rPr>
              <a:t>Eco-Ride R Sport (Performance Edition</a:t>
            </a:r>
            <a:r>
              <a:rPr lang="en-IN" sz="1800" dirty="0">
                <a:effectLst/>
                <a:latin typeface="Times New Roman" panose="02020603050405020304" pitchFamily="18" charset="0"/>
                <a:ea typeface="Calibri" panose="020F0502020204030204" pitchFamily="34" charset="0"/>
              </a:rPr>
              <a:t>)</a:t>
            </a:r>
            <a:endParaRPr lang="en-IN" dirty="0"/>
          </a:p>
        </p:txBody>
      </p:sp>
      <p:sp>
        <p:nvSpPr>
          <p:cNvPr id="6" name="TextBox 5">
            <a:extLst>
              <a:ext uri="{FF2B5EF4-FFF2-40B4-BE49-F238E27FC236}">
                <a16:creationId xmlns:a16="http://schemas.microsoft.com/office/drawing/2014/main" id="{15F7ECB0-A1F1-85F2-6A0C-CD877B8E02CA}"/>
              </a:ext>
            </a:extLst>
          </p:cNvPr>
          <p:cNvSpPr txBox="1"/>
          <p:nvPr/>
        </p:nvSpPr>
        <p:spPr>
          <a:xfrm>
            <a:off x="533400" y="1972906"/>
            <a:ext cx="9144000" cy="490199"/>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User focus: Enthusiasts and premium buyers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AB9B2E1F-95BD-5AFD-C9F3-286886C6E1CA}"/>
              </a:ext>
            </a:extLst>
          </p:cNvPr>
          <p:cNvSpPr txBox="1"/>
          <p:nvPr/>
        </p:nvSpPr>
        <p:spPr>
          <a:xfrm>
            <a:off x="534537" y="6179646"/>
            <a:ext cx="9144000" cy="3255058"/>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Key Features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500 W mid-drive motor with torque + cadence sensor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Regenerative braking, swappable battery, throttle-assist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TFT display with app connectivity and GPS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Streamlined carbon-composite frame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Dual hydraulic disc brakes, sporty suspension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0B0FD0FB-2C2D-8C58-E06B-AB5949ECEA53}"/>
              </a:ext>
            </a:extLst>
          </p:cNvPr>
          <p:cNvSpPr txBox="1"/>
          <p:nvPr/>
        </p:nvSpPr>
        <p:spPr>
          <a:xfrm>
            <a:off x="497305" y="2541975"/>
            <a:ext cx="6132095" cy="1596143"/>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Pros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High performance, 35–40 km/h top speed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Attractive, sporty design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CDF8AF57-611D-6201-1C8E-389792468896}"/>
              </a:ext>
            </a:extLst>
          </p:cNvPr>
          <p:cNvSpPr txBox="1"/>
          <p:nvPr/>
        </p:nvSpPr>
        <p:spPr>
          <a:xfrm>
            <a:off x="473242" y="4290354"/>
            <a:ext cx="9144000" cy="1596143"/>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Costlier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Slightly heavier motor assembly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Freeform 4">
            <a:extLst>
              <a:ext uri="{FF2B5EF4-FFF2-40B4-BE49-F238E27FC236}">
                <a16:creationId xmlns:a16="http://schemas.microsoft.com/office/drawing/2014/main" id="{CBC595EC-DBA1-738A-A4B4-26DD80F3AA3C}"/>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4" name="TextBox 5">
            <a:extLst>
              <a:ext uri="{FF2B5EF4-FFF2-40B4-BE49-F238E27FC236}">
                <a16:creationId xmlns:a16="http://schemas.microsoft.com/office/drawing/2014/main" id="{C6332DAC-5441-4305-A8B5-748B8FA6D688}"/>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15" name="Freeform 4">
            <a:extLst>
              <a:ext uri="{FF2B5EF4-FFF2-40B4-BE49-F238E27FC236}">
                <a16:creationId xmlns:a16="http://schemas.microsoft.com/office/drawing/2014/main" id="{B0817FC9-559E-5663-349A-6BBC30916D86}"/>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6" name="TextBox 15">
            <a:extLst>
              <a:ext uri="{FF2B5EF4-FFF2-40B4-BE49-F238E27FC236}">
                <a16:creationId xmlns:a16="http://schemas.microsoft.com/office/drawing/2014/main" id="{E9D79827-0133-FC70-2F61-8DB21D4FBC23}"/>
              </a:ext>
            </a:extLst>
          </p:cNvPr>
          <p:cNvSpPr txBox="1"/>
          <p:nvPr/>
        </p:nvSpPr>
        <p:spPr>
          <a:xfrm>
            <a:off x="497305" y="341836"/>
            <a:ext cx="9144000" cy="689099"/>
          </a:xfrm>
          <a:prstGeom prst="rect">
            <a:avLst/>
          </a:prstGeom>
          <a:noFill/>
        </p:spPr>
        <p:txBody>
          <a:bodyPr wrap="square">
            <a:spAutoFit/>
          </a:bodyPr>
          <a:lstStyle/>
          <a:p>
            <a:pPr>
              <a:lnSpc>
                <a:spcPct val="115000"/>
              </a:lnSpc>
              <a:spcAft>
                <a:spcPts val="1000"/>
              </a:spcAft>
              <a:buNone/>
            </a:pPr>
            <a:r>
              <a:rPr lang="en-US" sz="36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DESIGN:</a:t>
            </a:r>
            <a:endParaRPr lang="en-IN" sz="36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CBCC9F2A-4F4C-DB6F-3F4B-06C7A0F0846F}"/>
              </a:ext>
            </a:extLst>
          </p:cNvPr>
          <p:cNvSpPr txBox="1"/>
          <p:nvPr/>
        </p:nvSpPr>
        <p:spPr>
          <a:xfrm>
            <a:off x="7026444" y="2062424"/>
            <a:ext cx="9264316" cy="1043171"/>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Rationale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Strong scores in regen (8), battery (8), and braking (8).</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6442255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2FCE-A85B-475A-7B26-0A560A3A84E7}"/>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DBD56AC7-7232-33F2-4DCA-05B161A6343A}"/>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64C1C1DF-0A5F-A27B-83F8-E143DC5797FE}"/>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4" name="TextBox 3">
            <a:extLst>
              <a:ext uri="{FF2B5EF4-FFF2-40B4-BE49-F238E27FC236}">
                <a16:creationId xmlns:a16="http://schemas.microsoft.com/office/drawing/2014/main" id="{BED4CEBA-FAD6-F33E-4634-E0FA81354FA3}"/>
              </a:ext>
            </a:extLst>
          </p:cNvPr>
          <p:cNvSpPr txBox="1"/>
          <p:nvPr/>
        </p:nvSpPr>
        <p:spPr>
          <a:xfrm>
            <a:off x="533400" y="1028700"/>
            <a:ext cx="11582400" cy="584775"/>
          </a:xfrm>
          <a:prstGeom prst="rect">
            <a:avLst/>
          </a:prstGeom>
          <a:noFill/>
        </p:spPr>
        <p:txBody>
          <a:bodyPr wrap="square">
            <a:spAutoFit/>
          </a:bodyPr>
          <a:lstStyle/>
          <a:p>
            <a:r>
              <a:rPr lang="en-IN" sz="3200" b="1" dirty="0">
                <a:latin typeface="Times New Roman" panose="02020603050405020304" pitchFamily="18" charset="0"/>
                <a:ea typeface="Calibri" panose="020F0502020204030204" pitchFamily="34" charset="0"/>
              </a:rPr>
              <a:t>Concept 6 – </a:t>
            </a:r>
            <a:r>
              <a:rPr lang="en-IN" sz="3200" b="1" dirty="0">
                <a:effectLst/>
                <a:latin typeface="Times New Roman" panose="02020603050405020304" pitchFamily="18" charset="0"/>
                <a:ea typeface="Calibri" panose="020F0502020204030204" pitchFamily="34" charset="0"/>
              </a:rPr>
              <a:t>Eco-Ride R Sport (Performance Edition</a:t>
            </a:r>
            <a:r>
              <a:rPr lang="en-IN" sz="1800" dirty="0">
                <a:effectLst/>
                <a:latin typeface="Times New Roman" panose="02020603050405020304" pitchFamily="18" charset="0"/>
                <a:ea typeface="Calibri" panose="020F0502020204030204" pitchFamily="34" charset="0"/>
              </a:rPr>
              <a:t>)</a:t>
            </a:r>
            <a:endParaRPr lang="en-IN" dirty="0"/>
          </a:p>
        </p:txBody>
      </p:sp>
      <p:pic>
        <p:nvPicPr>
          <p:cNvPr id="6" name="Picture 5">
            <a:extLst>
              <a:ext uri="{FF2B5EF4-FFF2-40B4-BE49-F238E27FC236}">
                <a16:creationId xmlns:a16="http://schemas.microsoft.com/office/drawing/2014/main" id="{3CD66B90-20C7-B462-02F1-B718283A82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458767"/>
            <a:ext cx="8115300" cy="6069284"/>
          </a:xfrm>
          <a:prstGeom prst="rect">
            <a:avLst/>
          </a:prstGeom>
        </p:spPr>
      </p:pic>
      <p:pic>
        <p:nvPicPr>
          <p:cNvPr id="8" name="Picture 7">
            <a:extLst>
              <a:ext uri="{FF2B5EF4-FFF2-40B4-BE49-F238E27FC236}">
                <a16:creationId xmlns:a16="http://schemas.microsoft.com/office/drawing/2014/main" id="{A3183F0D-5224-9708-DFEC-E90B56603E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5400" y="1758949"/>
            <a:ext cx="8839200" cy="7010400"/>
          </a:xfrm>
          <a:prstGeom prst="rect">
            <a:avLst/>
          </a:prstGeom>
        </p:spPr>
      </p:pic>
    </p:spTree>
    <p:extLst>
      <p:ext uri="{BB962C8B-B14F-4D97-AF65-F5344CB8AC3E}">
        <p14:creationId xmlns:p14="http://schemas.microsoft.com/office/powerpoint/2010/main" val="13988095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6AC90-0E46-9E41-C0B6-A201710590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2CDD4F-3D41-6FAC-3655-29C5E065ADB5}"/>
              </a:ext>
            </a:extLst>
          </p:cNvPr>
          <p:cNvSpPr txBox="1"/>
          <p:nvPr/>
        </p:nvSpPr>
        <p:spPr>
          <a:xfrm>
            <a:off x="381000" y="249480"/>
            <a:ext cx="9144000" cy="1463286"/>
          </a:xfrm>
          <a:prstGeom prst="rect">
            <a:avLst/>
          </a:prstGeom>
          <a:noFill/>
        </p:spPr>
        <p:txBody>
          <a:bodyPr wrap="square">
            <a:spAutoFit/>
          </a:bodyPr>
          <a:lstStyle/>
          <a:p>
            <a:pPr>
              <a:lnSpc>
                <a:spcPct val="115000"/>
              </a:lnSpc>
              <a:spcAft>
                <a:spcPts val="1000"/>
              </a:spcAft>
              <a:buNone/>
            </a:pPr>
            <a:r>
              <a:rPr lang="en-US" sz="40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Benefits and Limitations of Each Concept</a:t>
            </a:r>
            <a:endParaRPr lang="en-IN" sz="40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400A302-5FC5-83D9-970B-8E7584055EC5}"/>
              </a:ext>
            </a:extLst>
          </p:cNvPr>
          <p:cNvGraphicFramePr>
            <a:graphicFrameLocks noGrp="1"/>
          </p:cNvGraphicFramePr>
          <p:nvPr>
            <p:extLst>
              <p:ext uri="{D42A27DB-BD31-4B8C-83A1-F6EECF244321}">
                <p14:modId xmlns:p14="http://schemas.microsoft.com/office/powerpoint/2010/main" val="2754650037"/>
              </p:ext>
            </p:extLst>
          </p:nvPr>
        </p:nvGraphicFramePr>
        <p:xfrm>
          <a:off x="381000" y="1773099"/>
          <a:ext cx="16840201" cy="7757830"/>
        </p:xfrm>
        <a:graphic>
          <a:graphicData uri="http://schemas.openxmlformats.org/drawingml/2006/table">
            <a:tbl>
              <a:tblPr firstRow="1" firstCol="1" bandRow="1">
                <a:tableStyleId>{5C22544A-7EE6-4342-B048-85BDC9FD1C3A}</a:tableStyleId>
              </a:tblPr>
              <a:tblGrid>
                <a:gridCol w="5612183">
                  <a:extLst>
                    <a:ext uri="{9D8B030D-6E8A-4147-A177-3AD203B41FA5}">
                      <a16:colId xmlns:a16="http://schemas.microsoft.com/office/drawing/2014/main" val="2025934516"/>
                    </a:ext>
                  </a:extLst>
                </a:gridCol>
                <a:gridCol w="5614009">
                  <a:extLst>
                    <a:ext uri="{9D8B030D-6E8A-4147-A177-3AD203B41FA5}">
                      <a16:colId xmlns:a16="http://schemas.microsoft.com/office/drawing/2014/main" val="2456732445"/>
                    </a:ext>
                  </a:extLst>
                </a:gridCol>
                <a:gridCol w="5614009">
                  <a:extLst>
                    <a:ext uri="{9D8B030D-6E8A-4147-A177-3AD203B41FA5}">
                      <a16:colId xmlns:a16="http://schemas.microsoft.com/office/drawing/2014/main" val="642499118"/>
                    </a:ext>
                  </a:extLst>
                </a:gridCol>
              </a:tblGrid>
              <a:tr h="434434">
                <a:tc>
                  <a:txBody>
                    <a:bodyPr/>
                    <a:lstStyle/>
                    <a:p>
                      <a:pPr>
                        <a:lnSpc>
                          <a:spcPct val="115000"/>
                        </a:lnSpc>
                        <a:spcAft>
                          <a:spcPts val="1000"/>
                        </a:spcAft>
                        <a:buNone/>
                      </a:pPr>
                      <a:r>
                        <a:rPr lang="en-US" sz="2800" kern="100" dirty="0">
                          <a:effectLst/>
                        </a:rPr>
                        <a:t>Model</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US" sz="2800" kern="100">
                          <a:effectLst/>
                        </a:rPr>
                        <a:t>Benefits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US" sz="2800" kern="100" dirty="0">
                          <a:effectLst/>
                        </a:rPr>
                        <a:t>Limitation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extLst>
                  <a:ext uri="{0D108BD9-81ED-4DB2-BD59-A6C34878D82A}">
                    <a16:rowId xmlns:a16="http://schemas.microsoft.com/office/drawing/2014/main" val="1494672453"/>
                  </a:ext>
                </a:extLst>
              </a:tr>
              <a:tr h="1357531">
                <a:tc>
                  <a:txBody>
                    <a:bodyPr/>
                    <a:lstStyle/>
                    <a:p>
                      <a:pPr>
                        <a:lnSpc>
                          <a:spcPct val="115000"/>
                        </a:lnSpc>
                        <a:spcAft>
                          <a:spcPts val="1000"/>
                        </a:spcAft>
                        <a:buNone/>
                      </a:pPr>
                      <a:r>
                        <a:rPr lang="en-IN" sz="2800" kern="100" dirty="0">
                          <a:effectLst/>
                        </a:rPr>
                        <a:t>Eco-Ride Lite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Lightweight ,Low cost ,Easy maintenance, Simple motor ,Safe tyres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No regen, No solar, Short range, Few smart features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extLst>
                  <a:ext uri="{0D108BD9-81ED-4DB2-BD59-A6C34878D82A}">
                    <a16:rowId xmlns:a16="http://schemas.microsoft.com/office/drawing/2014/main" val="3337867078"/>
                  </a:ext>
                </a:extLst>
              </a:tr>
              <a:tr h="895982">
                <a:tc>
                  <a:txBody>
                    <a:bodyPr/>
                    <a:lstStyle/>
                    <a:p>
                      <a:pPr>
                        <a:lnSpc>
                          <a:spcPct val="115000"/>
                        </a:lnSpc>
                        <a:spcAft>
                          <a:spcPts val="1000"/>
                        </a:spcAft>
                        <a:buNone/>
                      </a:pPr>
                      <a:r>
                        <a:rPr lang="en-IN" sz="2800" kern="100" dirty="0">
                          <a:effectLst/>
                        </a:rPr>
                        <a:t>Eco-Ride Solar</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Solar charging, Eco-friendly, Dual charging ,Premium look, Sustainable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Weather dependent, Heavier, Costly, Low regeneration</a:t>
                      </a:r>
                    </a:p>
                  </a:txBody>
                  <a:tcPr marL="32760" marR="32760" marT="0" marB="0"/>
                </a:tc>
                <a:extLst>
                  <a:ext uri="{0D108BD9-81ED-4DB2-BD59-A6C34878D82A}">
                    <a16:rowId xmlns:a16="http://schemas.microsoft.com/office/drawing/2014/main" val="3162220407"/>
                  </a:ext>
                </a:extLst>
              </a:tr>
              <a:tr h="1357531">
                <a:tc>
                  <a:txBody>
                    <a:bodyPr/>
                    <a:lstStyle/>
                    <a:p>
                      <a:pPr>
                        <a:lnSpc>
                          <a:spcPct val="115000"/>
                        </a:lnSpc>
                        <a:spcAft>
                          <a:spcPts val="1000"/>
                        </a:spcAft>
                        <a:buNone/>
                      </a:pPr>
                      <a:r>
                        <a:rPr lang="en-IN" sz="2800" kern="100" dirty="0">
                          <a:effectLst/>
                        </a:rPr>
                        <a:t>Eco-Ride X Swap</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Swappable, battery Regenerative, braking, GPS tracking, High safety, Fleet-friendly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High cost, Heavy frame, Complex wiring, Needs infrastructure</a:t>
                      </a:r>
                    </a:p>
                  </a:txBody>
                  <a:tcPr marL="32760" marR="32760" marT="0" marB="0"/>
                </a:tc>
                <a:extLst>
                  <a:ext uri="{0D108BD9-81ED-4DB2-BD59-A6C34878D82A}">
                    <a16:rowId xmlns:a16="http://schemas.microsoft.com/office/drawing/2014/main" val="2383647589"/>
                  </a:ext>
                </a:extLst>
              </a:tr>
              <a:tr h="895982">
                <a:tc>
                  <a:txBody>
                    <a:bodyPr/>
                    <a:lstStyle/>
                    <a:p>
                      <a:pPr>
                        <a:lnSpc>
                          <a:spcPct val="115000"/>
                        </a:lnSpc>
                        <a:spcAft>
                          <a:spcPts val="1000"/>
                        </a:spcAft>
                        <a:buNone/>
                      </a:pPr>
                      <a:r>
                        <a:rPr lang="en-IN" sz="2800" kern="100" dirty="0">
                          <a:effectLst/>
                        </a:rPr>
                        <a:t>Eco-Ride Fold</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Foldable, Compact, Portable, Ergonomic, Easy storage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Lower range, Less stability, Weak brakes, High maintenance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extLst>
                  <a:ext uri="{0D108BD9-81ED-4DB2-BD59-A6C34878D82A}">
                    <a16:rowId xmlns:a16="http://schemas.microsoft.com/office/drawing/2014/main" val="2768602623"/>
                  </a:ext>
                </a:extLst>
              </a:tr>
              <a:tr h="895982">
                <a:tc>
                  <a:txBody>
                    <a:bodyPr/>
                    <a:lstStyle/>
                    <a:p>
                      <a:pPr>
                        <a:lnSpc>
                          <a:spcPct val="115000"/>
                        </a:lnSpc>
                        <a:spcAft>
                          <a:spcPts val="1000"/>
                        </a:spcAft>
                        <a:buNone/>
                      </a:pPr>
                      <a:r>
                        <a:rPr lang="en-IN" sz="2800" kern="100" dirty="0">
                          <a:effectLst/>
                        </a:rPr>
                        <a:t>Eco-Ride Cargo</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Heavy-duty, High load, Dual battery, Strong brakes, Durable frame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Very heavy, Less efficient, Expensive Bulky design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extLst>
                  <a:ext uri="{0D108BD9-81ED-4DB2-BD59-A6C34878D82A}">
                    <a16:rowId xmlns:a16="http://schemas.microsoft.com/office/drawing/2014/main" val="3414866873"/>
                  </a:ext>
                </a:extLst>
              </a:tr>
              <a:tr h="1551340">
                <a:tc>
                  <a:txBody>
                    <a:bodyPr/>
                    <a:lstStyle/>
                    <a:p>
                      <a:pPr>
                        <a:lnSpc>
                          <a:spcPct val="115000"/>
                        </a:lnSpc>
                        <a:spcAft>
                          <a:spcPts val="1000"/>
                        </a:spcAft>
                        <a:buNone/>
                      </a:pPr>
                      <a:r>
                        <a:rPr lang="en-IN" sz="2800" kern="100" dirty="0">
                          <a:effectLst/>
                        </a:rPr>
                        <a:t>Eco-Ride R Sport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 High power, Stylish design, Smart display GPS + App Fast charging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tc>
                  <a:txBody>
                    <a:bodyPr/>
                    <a:lstStyle/>
                    <a:p>
                      <a:pPr>
                        <a:lnSpc>
                          <a:spcPct val="115000"/>
                        </a:lnSpc>
                        <a:spcAft>
                          <a:spcPts val="1000"/>
                        </a:spcAft>
                        <a:buNone/>
                      </a:pPr>
                      <a:r>
                        <a:rPr lang="en-IN" sz="2800" kern="100" dirty="0">
                          <a:effectLst/>
                        </a:rPr>
                        <a:t>Expensive, Complex system, Niche market, Hard maintenance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760" marR="32760" marT="0" marB="0"/>
                </a:tc>
                <a:extLst>
                  <a:ext uri="{0D108BD9-81ED-4DB2-BD59-A6C34878D82A}">
                    <a16:rowId xmlns:a16="http://schemas.microsoft.com/office/drawing/2014/main" val="2872827551"/>
                  </a:ext>
                </a:extLst>
              </a:tr>
            </a:tbl>
          </a:graphicData>
        </a:graphic>
      </p:graphicFrame>
      <p:sp>
        <p:nvSpPr>
          <p:cNvPr id="6" name="Freeform 4">
            <a:extLst>
              <a:ext uri="{FF2B5EF4-FFF2-40B4-BE49-F238E27FC236}">
                <a16:creationId xmlns:a16="http://schemas.microsoft.com/office/drawing/2014/main" id="{0FFAE90F-607F-C5CE-277E-A201780228DF}"/>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7" name="TextBox 5">
            <a:extLst>
              <a:ext uri="{FF2B5EF4-FFF2-40B4-BE49-F238E27FC236}">
                <a16:creationId xmlns:a16="http://schemas.microsoft.com/office/drawing/2014/main" id="{185A021E-8E45-D6E3-1F38-77A9DD1D48E2}"/>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8" name="Freeform 4">
            <a:extLst>
              <a:ext uri="{FF2B5EF4-FFF2-40B4-BE49-F238E27FC236}">
                <a16:creationId xmlns:a16="http://schemas.microsoft.com/office/drawing/2014/main" id="{91EC0CE0-7A08-8CF4-21BC-B4B8CC222B92}"/>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202519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4BAD24-620B-D9E9-828D-B35A05E67925}"/>
              </a:ext>
            </a:extLst>
          </p:cNvPr>
          <p:cNvSpPr txBox="1"/>
          <p:nvPr/>
        </p:nvSpPr>
        <p:spPr>
          <a:xfrm>
            <a:off x="533400" y="876300"/>
            <a:ext cx="9144000" cy="755400"/>
          </a:xfrm>
          <a:prstGeom prst="rect">
            <a:avLst/>
          </a:prstGeom>
          <a:noFill/>
        </p:spPr>
        <p:txBody>
          <a:bodyPr wrap="square">
            <a:spAutoFit/>
          </a:bodyPr>
          <a:lstStyle/>
          <a:p>
            <a:pPr>
              <a:lnSpc>
                <a:spcPct val="115000"/>
              </a:lnSpc>
              <a:spcAft>
                <a:spcPts val="1000"/>
              </a:spcAft>
              <a:buNone/>
            </a:pPr>
            <a:r>
              <a:rPr lang="en-US" sz="4000" b="1" kern="100" dirty="0">
                <a:solidFill>
                  <a:srgbClr val="004AAD"/>
                </a:solidFill>
                <a:effectLst/>
                <a:latin typeface="Times New Roman" panose="02020603050405020304" pitchFamily="18" charset="0"/>
                <a:ea typeface="Calibri" panose="020F0502020204030204" pitchFamily="34" charset="0"/>
                <a:cs typeface="Times New Roman" panose="02020603050405020304" pitchFamily="18" charset="0"/>
              </a:rPr>
              <a:t>Concept Improvement and Refinement</a:t>
            </a:r>
            <a:endParaRPr lang="en-IN" sz="4000" kern="100" dirty="0">
              <a:solidFill>
                <a:srgbClr val="004AA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0298F3C-6BEA-5914-FF40-A21EF7BD8F50}"/>
              </a:ext>
            </a:extLst>
          </p:cNvPr>
          <p:cNvSpPr txBox="1"/>
          <p:nvPr/>
        </p:nvSpPr>
        <p:spPr>
          <a:xfrm>
            <a:off x="533400" y="1485900"/>
            <a:ext cx="15544800" cy="2666756"/>
          </a:xfrm>
          <a:prstGeom prst="rect">
            <a:avLst/>
          </a:prstGeom>
          <a:noFill/>
        </p:spPr>
        <p:txBody>
          <a:bodyPr wrap="square">
            <a:spAutoFit/>
          </a:bodyPr>
          <a:lstStyle/>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Concept 3 (Swappable) is selected as the base for final design improvement due to its modularity and broad usability.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Improvements include adopting the solar charging system (from Concept 2), enhancing frame aesthetics (from Concept 6), and introducing compact folding features (from Concept 4). The final optimized concept achieves high range, flexibility, and user comfort while remaining cost-effective.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31FD463-7D26-82FD-278A-EBB6E3C328E7}"/>
              </a:ext>
            </a:extLst>
          </p:cNvPr>
          <p:cNvGraphicFramePr>
            <a:graphicFrameLocks noGrp="1"/>
          </p:cNvGraphicFramePr>
          <p:nvPr>
            <p:extLst>
              <p:ext uri="{D42A27DB-BD31-4B8C-83A1-F6EECF244321}">
                <p14:modId xmlns:p14="http://schemas.microsoft.com/office/powerpoint/2010/main" val="3731494575"/>
              </p:ext>
            </p:extLst>
          </p:nvPr>
        </p:nvGraphicFramePr>
        <p:xfrm>
          <a:off x="762000" y="4792335"/>
          <a:ext cx="10690818" cy="3428999"/>
        </p:xfrm>
        <a:graphic>
          <a:graphicData uri="http://schemas.openxmlformats.org/drawingml/2006/table">
            <a:tbl>
              <a:tblPr firstRow="1" firstCol="1" bandRow="1">
                <a:tableStyleId>{5C22544A-7EE6-4342-B048-85BDC9FD1C3A}</a:tableStyleId>
              </a:tblPr>
              <a:tblGrid>
                <a:gridCol w="3068698">
                  <a:extLst>
                    <a:ext uri="{9D8B030D-6E8A-4147-A177-3AD203B41FA5}">
                      <a16:colId xmlns:a16="http://schemas.microsoft.com/office/drawing/2014/main" val="2285174389"/>
                    </a:ext>
                  </a:extLst>
                </a:gridCol>
                <a:gridCol w="3691406">
                  <a:extLst>
                    <a:ext uri="{9D8B030D-6E8A-4147-A177-3AD203B41FA5}">
                      <a16:colId xmlns:a16="http://schemas.microsoft.com/office/drawing/2014/main" val="3508750043"/>
                    </a:ext>
                  </a:extLst>
                </a:gridCol>
                <a:gridCol w="3930714">
                  <a:extLst>
                    <a:ext uri="{9D8B030D-6E8A-4147-A177-3AD203B41FA5}">
                      <a16:colId xmlns:a16="http://schemas.microsoft.com/office/drawing/2014/main" val="980451313"/>
                    </a:ext>
                  </a:extLst>
                </a:gridCol>
              </a:tblGrid>
              <a:tr h="425308">
                <a:tc>
                  <a:txBody>
                    <a:bodyPr/>
                    <a:lstStyle/>
                    <a:p>
                      <a:pPr>
                        <a:lnSpc>
                          <a:spcPct val="115000"/>
                        </a:lnSpc>
                        <a:spcAft>
                          <a:spcPts val="1000"/>
                        </a:spcAft>
                        <a:buNone/>
                      </a:pPr>
                      <a:r>
                        <a:rPr lang="en-IN" sz="2400" kern="100" dirty="0">
                          <a:effectLst/>
                        </a:rPr>
                        <a:t>Subsystem</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Best Solution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Reason for Selection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5331941"/>
                  </a:ext>
                </a:extLst>
              </a:tr>
              <a:tr h="425308">
                <a:tc>
                  <a:txBody>
                    <a:bodyPr/>
                    <a:lstStyle/>
                    <a:p>
                      <a:pPr>
                        <a:lnSpc>
                          <a:spcPct val="115000"/>
                        </a:lnSpc>
                        <a:spcAft>
                          <a:spcPts val="1000"/>
                        </a:spcAft>
                        <a:buNone/>
                      </a:pPr>
                      <a:r>
                        <a:rPr lang="en-IN" sz="2400" kern="100" dirty="0">
                          <a:effectLst/>
                        </a:rPr>
                        <a:t>Structural Frame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Aluminium Alloy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Light, strong, low cost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1631071"/>
                  </a:ext>
                </a:extLst>
              </a:tr>
              <a:tr h="425308">
                <a:tc>
                  <a:txBody>
                    <a:bodyPr/>
                    <a:lstStyle/>
                    <a:p>
                      <a:pPr>
                        <a:lnSpc>
                          <a:spcPct val="115000"/>
                        </a:lnSpc>
                        <a:spcAft>
                          <a:spcPts val="1000"/>
                        </a:spcAft>
                        <a:buNone/>
                      </a:pPr>
                      <a:r>
                        <a:rPr lang="en-IN" sz="2400" kern="100" dirty="0">
                          <a:effectLst/>
                        </a:rPr>
                        <a:t>Drive &amp; Motor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BLDC Hub Motor</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Efficient, low maintenance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2435988"/>
                  </a:ext>
                </a:extLst>
              </a:tr>
              <a:tr h="425308">
                <a:tc>
                  <a:txBody>
                    <a:bodyPr/>
                    <a:lstStyle/>
                    <a:p>
                      <a:pPr>
                        <a:lnSpc>
                          <a:spcPct val="115000"/>
                        </a:lnSpc>
                        <a:spcAft>
                          <a:spcPts val="1000"/>
                        </a:spcAft>
                        <a:buNone/>
                      </a:pPr>
                      <a:r>
                        <a:rPr lang="en-IN" sz="2400" kern="100" dirty="0">
                          <a:effectLst/>
                        </a:rPr>
                        <a:t>Battery &amp; Power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Li-ion (18650)</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 density, reliable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1916041"/>
                  </a:ext>
                </a:extLst>
              </a:tr>
              <a:tr h="425308">
                <a:tc>
                  <a:txBody>
                    <a:bodyPr/>
                    <a:lstStyle/>
                    <a:p>
                      <a:pPr>
                        <a:lnSpc>
                          <a:spcPct val="115000"/>
                        </a:lnSpc>
                        <a:spcAft>
                          <a:spcPts val="1000"/>
                        </a:spcAft>
                        <a:buNone/>
                      </a:pPr>
                      <a:r>
                        <a:rPr lang="en-IN" sz="2400" kern="100" dirty="0">
                          <a:effectLst/>
                        </a:rPr>
                        <a:t>Control &amp; Connectivity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MCU + LCD + App</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Modern,affordable,connected</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8984036"/>
                  </a:ext>
                </a:extLst>
              </a:tr>
              <a:tr h="877151">
                <a:tc>
                  <a:txBody>
                    <a:bodyPr/>
                    <a:lstStyle/>
                    <a:p>
                      <a:pPr>
                        <a:lnSpc>
                          <a:spcPct val="115000"/>
                        </a:lnSpc>
                        <a:spcAft>
                          <a:spcPts val="1000"/>
                        </a:spcAft>
                        <a:buNone/>
                      </a:pPr>
                      <a:r>
                        <a:rPr lang="en-IN" sz="2400" kern="100" dirty="0">
                          <a:effectLst/>
                        </a:rPr>
                        <a:t>Ergonomic &amp; Safety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HydraulicBrakes + AdjustableSeat </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Safe, comfortable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18847979"/>
                  </a:ext>
                </a:extLst>
              </a:tr>
              <a:tr h="425308">
                <a:tc>
                  <a:txBody>
                    <a:bodyPr/>
                    <a:lstStyle/>
                    <a:p>
                      <a:pPr>
                        <a:lnSpc>
                          <a:spcPct val="115000"/>
                        </a:lnSpc>
                        <a:spcAft>
                          <a:spcPts val="1000"/>
                        </a:spcAft>
                        <a:buNone/>
                      </a:pPr>
                      <a:r>
                        <a:rPr lang="en-IN" sz="2400" kern="100" dirty="0">
                          <a:effectLst/>
                        </a:rPr>
                        <a:t>Storage &amp; Utility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Detachable FRP Box</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Light, modular, weatherproof</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8848387"/>
                  </a:ext>
                </a:extLst>
              </a:tr>
            </a:tbl>
          </a:graphicData>
        </a:graphic>
      </p:graphicFrame>
    </p:spTree>
    <p:extLst>
      <p:ext uri="{BB962C8B-B14F-4D97-AF65-F5344CB8AC3E}">
        <p14:creationId xmlns:p14="http://schemas.microsoft.com/office/powerpoint/2010/main" val="230524949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86BEA0-DADC-22A9-291A-E128D085147C}"/>
              </a:ext>
            </a:extLst>
          </p:cNvPr>
          <p:cNvSpPr txBox="1"/>
          <p:nvPr/>
        </p:nvSpPr>
        <p:spPr>
          <a:xfrm>
            <a:off x="533400" y="876300"/>
            <a:ext cx="14706600" cy="707886"/>
          </a:xfrm>
          <a:prstGeom prst="rect">
            <a:avLst/>
          </a:prstGeom>
          <a:noFill/>
        </p:spPr>
        <p:txBody>
          <a:bodyPr wrap="square">
            <a:spAutoFit/>
          </a:bodyPr>
          <a:lstStyle/>
          <a:p>
            <a:r>
              <a:rPr lang="en-US" sz="4000" b="1" dirty="0">
                <a:solidFill>
                  <a:srgbClr val="004AAD"/>
                </a:solidFill>
                <a:effectLst/>
                <a:latin typeface="League Spartan" panose="020B0604020202020204" charset="0"/>
                <a:ea typeface="Calibri" panose="020F0502020204030204" pitchFamily="34" charset="0"/>
              </a:rPr>
              <a:t>Product Testing Suggestions for Eco-Ride Subsystems</a:t>
            </a:r>
            <a:endParaRPr lang="en-IN" sz="4000" dirty="0">
              <a:solidFill>
                <a:srgbClr val="004AAD"/>
              </a:solidFill>
              <a:latin typeface="League Spartan" panose="020B0604020202020204" charset="0"/>
            </a:endParaRPr>
          </a:p>
        </p:txBody>
      </p:sp>
      <p:sp>
        <p:nvSpPr>
          <p:cNvPr id="5" name="TextBox 4">
            <a:extLst>
              <a:ext uri="{FF2B5EF4-FFF2-40B4-BE49-F238E27FC236}">
                <a16:creationId xmlns:a16="http://schemas.microsoft.com/office/drawing/2014/main" id="{940E5458-CA2A-2AF2-AA54-7686CA9C8EDB}"/>
              </a:ext>
            </a:extLst>
          </p:cNvPr>
          <p:cNvSpPr txBox="1"/>
          <p:nvPr/>
        </p:nvSpPr>
        <p:spPr>
          <a:xfrm>
            <a:off x="557462" y="2019300"/>
            <a:ext cx="11939337" cy="5511637"/>
          </a:xfrm>
          <a:prstGeom prst="rect">
            <a:avLst/>
          </a:prstGeom>
          <a:noFill/>
        </p:spPr>
        <p:txBody>
          <a:bodyPr wrap="square">
            <a:spAutoFit/>
          </a:bodyPr>
          <a:lstStyle/>
          <a:p>
            <a:pPr>
              <a:lnSpc>
                <a:spcPct val="115000"/>
              </a:lnSpc>
              <a:spcAft>
                <a:spcPts val="10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1. Frame Testing – Static and dynamic load tests up to 150 kg.</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2. Motor &amp; Drive – Efficiency and regenerative braking tests over 100 cycles.</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3. Battery System – Thermal and endurance tests (charge–discharge over 500 cycles).</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4. Solar Module – Exposure and efficiency testing under various irradiance levels.</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5. Ergonomic Assessment – Rider posture trials across height range (150–190 cm).</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6. Brake &amp; Safety – Stopping distance ≤3 m at 25 km/h; fatigue test over 1000 stops.</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7. App &amp; GPS – Real-time tracking latency and reliability test.</a:t>
            </a:r>
            <a:b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8. Folding and Assembly – 500-cycle fatigue test on joints and hinges.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reeform 4">
            <a:extLst>
              <a:ext uri="{FF2B5EF4-FFF2-40B4-BE49-F238E27FC236}">
                <a16:creationId xmlns:a16="http://schemas.microsoft.com/office/drawing/2014/main" id="{A47D42C3-9BD2-4844-C0ED-79BFCE4C4861}"/>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7" name="TextBox 5">
            <a:extLst>
              <a:ext uri="{FF2B5EF4-FFF2-40B4-BE49-F238E27FC236}">
                <a16:creationId xmlns:a16="http://schemas.microsoft.com/office/drawing/2014/main" id="{8060ACE0-843E-01BF-3479-4189805FAA90}"/>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8" name="Freeform 4">
            <a:extLst>
              <a:ext uri="{FF2B5EF4-FFF2-40B4-BE49-F238E27FC236}">
                <a16:creationId xmlns:a16="http://schemas.microsoft.com/office/drawing/2014/main" id="{707FD166-F1A3-21AB-9919-69530E28B0A9}"/>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169434859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4300" y="-3140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grpSp>
        <p:nvGrpSpPr>
          <p:cNvPr id="3" name="Group 3"/>
          <p:cNvGrpSpPr/>
          <p:nvPr/>
        </p:nvGrpSpPr>
        <p:grpSpPr>
          <a:xfrm>
            <a:off x="-698500" y="3124200"/>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741400" y="3124200"/>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933297" y="3191597"/>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 YOU</a:t>
            </a:r>
          </a:p>
        </p:txBody>
      </p:sp>
      <p:sp>
        <p:nvSpPr>
          <p:cNvPr id="13" name="TextBox 13"/>
          <p:cNvSpPr txBox="1"/>
          <p:nvPr/>
        </p:nvSpPr>
        <p:spPr>
          <a:xfrm>
            <a:off x="7347826" y="6846823"/>
            <a:ext cx="3592349" cy="535981"/>
          </a:xfrm>
          <a:prstGeom prst="rect">
            <a:avLst/>
          </a:prstGeom>
        </p:spPr>
        <p:txBody>
          <a:bodyPr lIns="0" tIns="0" rIns="0" bIns="0" rtlCol="0" anchor="t">
            <a:spAutoFit/>
          </a:bodyPr>
          <a:lstStyle/>
          <a:p>
            <a:pPr algn="ctr">
              <a:lnSpc>
                <a:spcPts val="4408"/>
              </a:lnSpc>
            </a:pPr>
            <a:r>
              <a:rPr lang="en-US" sz="3148">
                <a:solidFill>
                  <a:srgbClr val="FFFFFF"/>
                </a:solidFill>
                <a:latin typeface="League Spartan"/>
                <a:ea typeface="League Spartan"/>
                <a:cs typeface="League Spartan"/>
                <a:sym typeface="League Spartan"/>
              </a:rPr>
              <a:t>VISIT US</a:t>
            </a:r>
          </a:p>
        </p:txBody>
      </p:sp>
      <p:sp>
        <p:nvSpPr>
          <p:cNvPr id="18" name="Freeform 4">
            <a:extLst>
              <a:ext uri="{FF2B5EF4-FFF2-40B4-BE49-F238E27FC236}">
                <a16:creationId xmlns:a16="http://schemas.microsoft.com/office/drawing/2014/main" id="{5CBADC76-EC14-DAAD-0626-D58DA97D8B7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9" name="TextBox 5">
            <a:extLst>
              <a:ext uri="{FF2B5EF4-FFF2-40B4-BE49-F238E27FC236}">
                <a16:creationId xmlns:a16="http://schemas.microsoft.com/office/drawing/2014/main" id="{ECBD8D0E-E7F2-0AB6-70FD-39B84C3C4BDF}"/>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20" name="Freeform 4">
            <a:extLst>
              <a:ext uri="{FF2B5EF4-FFF2-40B4-BE49-F238E27FC236}">
                <a16:creationId xmlns:a16="http://schemas.microsoft.com/office/drawing/2014/main" id="{EE9F72E2-B98B-5C47-1AA0-F5C531E14D6E}"/>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B7C5-7C0A-75FA-2216-98E6BE72F05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85BF04-102C-A82A-8EC4-2DB59F76ECB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TextBox 3">
            <a:extLst>
              <a:ext uri="{FF2B5EF4-FFF2-40B4-BE49-F238E27FC236}">
                <a16:creationId xmlns:a16="http://schemas.microsoft.com/office/drawing/2014/main" id="{5A087C0F-B71B-0CE7-023A-1E7626ADBC70}"/>
              </a:ext>
            </a:extLst>
          </p:cNvPr>
          <p:cNvSpPr txBox="1"/>
          <p:nvPr/>
        </p:nvSpPr>
        <p:spPr>
          <a:xfrm>
            <a:off x="1857649" y="4511675"/>
            <a:ext cx="14609694" cy="1360082"/>
          </a:xfrm>
          <a:prstGeom prst="rect">
            <a:avLst/>
          </a:prstGeom>
        </p:spPr>
        <p:txBody>
          <a:bodyPr lIns="0" tIns="0" rIns="0" bIns="0" rtlCol="0" anchor="t">
            <a:spAutoFit/>
          </a:bodyPr>
          <a:lstStyle/>
          <a:p>
            <a:pPr algn="ctr">
              <a:lnSpc>
                <a:spcPts val="11134"/>
              </a:lnSpc>
            </a:pPr>
            <a:r>
              <a:rPr lang="en-US" sz="7953" b="1">
                <a:solidFill>
                  <a:srgbClr val="004AAD"/>
                </a:solidFill>
                <a:latin typeface="League Spartan"/>
                <a:ea typeface="League Spartan"/>
                <a:cs typeface="League Spartan"/>
                <a:sym typeface="League Spartan"/>
              </a:rPr>
              <a:t>ECO-RIDE ELECTRIC CYCLE</a:t>
            </a:r>
          </a:p>
        </p:txBody>
      </p:sp>
      <p:grpSp>
        <p:nvGrpSpPr>
          <p:cNvPr id="4" name="Group 4">
            <a:extLst>
              <a:ext uri="{FF2B5EF4-FFF2-40B4-BE49-F238E27FC236}">
                <a16:creationId xmlns:a16="http://schemas.microsoft.com/office/drawing/2014/main" id="{CAF2CA64-BE20-73A8-00F9-1720DEF85561}"/>
              </a:ext>
            </a:extLst>
          </p:cNvPr>
          <p:cNvGrpSpPr/>
          <p:nvPr/>
        </p:nvGrpSpPr>
        <p:grpSpPr>
          <a:xfrm>
            <a:off x="-1130300" y="4057750"/>
            <a:ext cx="3086100" cy="2171499"/>
            <a:chOff x="0" y="0"/>
            <a:chExt cx="812800" cy="571917"/>
          </a:xfrm>
        </p:grpSpPr>
        <p:sp>
          <p:nvSpPr>
            <p:cNvPr id="5" name="Freeform 5">
              <a:extLst>
                <a:ext uri="{FF2B5EF4-FFF2-40B4-BE49-F238E27FC236}">
                  <a16:creationId xmlns:a16="http://schemas.microsoft.com/office/drawing/2014/main" id="{C10CA9DC-BF16-D038-4210-5A4B8521360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6" name="TextBox 6">
              <a:extLst>
                <a:ext uri="{FF2B5EF4-FFF2-40B4-BE49-F238E27FC236}">
                  <a16:creationId xmlns:a16="http://schemas.microsoft.com/office/drawing/2014/main" id="{08D8472A-B7B3-6262-691D-5B7EBF1C40C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30852F59-BD60-EBE7-747B-50D8B90C7B78}"/>
              </a:ext>
            </a:extLst>
          </p:cNvPr>
          <p:cNvSpPr txBox="1"/>
          <p:nvPr/>
        </p:nvSpPr>
        <p:spPr>
          <a:xfrm>
            <a:off x="2334959" y="3528848"/>
            <a:ext cx="12636409" cy="913044"/>
          </a:xfrm>
          <a:prstGeom prst="rect">
            <a:avLst/>
          </a:prstGeom>
        </p:spPr>
        <p:txBody>
          <a:bodyPr lIns="0" tIns="0" rIns="0" bIns="0" rtlCol="0" anchor="t">
            <a:spAutoFit/>
          </a:bodyPr>
          <a:lstStyle/>
          <a:p>
            <a:pPr algn="ctr">
              <a:lnSpc>
                <a:spcPts val="7424"/>
              </a:lnSpc>
            </a:pPr>
            <a:r>
              <a:rPr lang="en-US" sz="5303" b="1" dirty="0">
                <a:solidFill>
                  <a:srgbClr val="303642"/>
                </a:solidFill>
                <a:latin typeface="Roboto Bold"/>
                <a:ea typeface="Roboto Bold"/>
                <a:cs typeface="Roboto Bold"/>
                <a:sym typeface="Roboto Bold"/>
              </a:rPr>
              <a:t>PODUCT DESIGN - CASE STUDY 4</a:t>
            </a:r>
          </a:p>
        </p:txBody>
      </p:sp>
      <p:sp>
        <p:nvSpPr>
          <p:cNvPr id="8" name="TextBox 8">
            <a:extLst>
              <a:ext uri="{FF2B5EF4-FFF2-40B4-BE49-F238E27FC236}">
                <a16:creationId xmlns:a16="http://schemas.microsoft.com/office/drawing/2014/main" id="{700D5CE0-909C-147C-D168-61C441325232}"/>
              </a:ext>
            </a:extLst>
          </p:cNvPr>
          <p:cNvSpPr txBox="1"/>
          <p:nvPr/>
        </p:nvSpPr>
        <p:spPr>
          <a:xfrm>
            <a:off x="10567496" y="8172952"/>
            <a:ext cx="8526827" cy="1085348"/>
          </a:xfrm>
          <a:prstGeom prst="rect">
            <a:avLst/>
          </a:prstGeom>
        </p:spPr>
        <p:txBody>
          <a:bodyPr lIns="0" tIns="0" rIns="0" bIns="0" rtlCol="0" anchor="t">
            <a:spAutoFit/>
          </a:bodyPr>
          <a:lstStyle/>
          <a:p>
            <a:pPr algn="ctr">
              <a:lnSpc>
                <a:spcPts val="4227"/>
              </a:lnSpc>
            </a:pPr>
            <a:r>
              <a:rPr lang="en-US" sz="3019">
                <a:solidFill>
                  <a:srgbClr val="303642"/>
                </a:solidFill>
                <a:latin typeface="Poppins"/>
                <a:ea typeface="Poppins"/>
                <a:cs typeface="Poppins"/>
                <a:sym typeface="Poppins"/>
              </a:rPr>
              <a:t>NAME - LAWANYA</a:t>
            </a:r>
          </a:p>
          <a:p>
            <a:pPr algn="ctr">
              <a:lnSpc>
                <a:spcPts val="4227"/>
              </a:lnSpc>
              <a:spcBef>
                <a:spcPct val="0"/>
              </a:spcBef>
            </a:pPr>
            <a:r>
              <a:rPr lang="en-US" sz="3019">
                <a:solidFill>
                  <a:srgbClr val="303642"/>
                </a:solidFill>
                <a:latin typeface="Poppins"/>
                <a:ea typeface="Poppins"/>
                <a:cs typeface="Poppins"/>
                <a:sym typeface="Poppins"/>
              </a:rPr>
              <a:t>EN NUMB.-BT23CME042</a:t>
            </a:r>
          </a:p>
        </p:txBody>
      </p:sp>
      <p:grpSp>
        <p:nvGrpSpPr>
          <p:cNvPr id="9" name="Group 9">
            <a:extLst>
              <a:ext uri="{FF2B5EF4-FFF2-40B4-BE49-F238E27FC236}">
                <a16:creationId xmlns:a16="http://schemas.microsoft.com/office/drawing/2014/main" id="{373B7D80-263B-E9F1-9F44-47025669EC07}"/>
              </a:ext>
            </a:extLst>
          </p:cNvPr>
          <p:cNvGrpSpPr/>
          <p:nvPr/>
        </p:nvGrpSpPr>
        <p:grpSpPr>
          <a:xfrm>
            <a:off x="16467343" y="4057750"/>
            <a:ext cx="3086100" cy="2171499"/>
            <a:chOff x="0" y="0"/>
            <a:chExt cx="812800" cy="571917"/>
          </a:xfrm>
        </p:grpSpPr>
        <p:sp>
          <p:nvSpPr>
            <p:cNvPr id="10" name="Freeform 10">
              <a:extLst>
                <a:ext uri="{FF2B5EF4-FFF2-40B4-BE49-F238E27FC236}">
                  <a16:creationId xmlns:a16="http://schemas.microsoft.com/office/drawing/2014/main" id="{C3CD9903-75F8-55C9-C1DC-B03517BE180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11" name="TextBox 11">
              <a:extLst>
                <a:ext uri="{FF2B5EF4-FFF2-40B4-BE49-F238E27FC236}">
                  <a16:creationId xmlns:a16="http://schemas.microsoft.com/office/drawing/2014/main" id="{FDC5E6AE-A7D5-1F3B-64A9-924109F6D6F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1134464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2B0632B9-427C-8F0D-B4FA-D926BF4D5E77}"/>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F7C3DC8B-9E9B-412E-79EC-E935F140B2E2}"/>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BECDC8A6-98C5-4CF5-EB04-A85C0FB9A679}"/>
              </a:ext>
            </a:extLst>
          </p:cNvPr>
          <p:cNvSpPr txBox="1"/>
          <p:nvPr/>
        </p:nvSpPr>
        <p:spPr>
          <a:xfrm>
            <a:off x="1676400" y="952500"/>
            <a:ext cx="9264316" cy="845616"/>
          </a:xfrm>
          <a:prstGeom prst="rect">
            <a:avLst/>
          </a:prstGeom>
          <a:noFill/>
        </p:spPr>
        <p:txBody>
          <a:bodyPr wrap="square">
            <a:spAutoFit/>
          </a:bodyPr>
          <a:lstStyle/>
          <a:p>
            <a:pPr>
              <a:lnSpc>
                <a:spcPct val="115000"/>
              </a:lnSpc>
              <a:spcAft>
                <a:spcPts val="1000"/>
              </a:spcAft>
              <a:buNone/>
            </a:pPr>
            <a:r>
              <a:rPr lang="en-IN" sz="44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Objective and Scope</a:t>
            </a:r>
            <a:endParaRPr lang="en-IN" sz="44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3D433C0-D977-2E32-04F6-2326BC3B49AE}"/>
              </a:ext>
            </a:extLst>
          </p:cNvPr>
          <p:cNvSpPr txBox="1"/>
          <p:nvPr/>
        </p:nvSpPr>
        <p:spPr>
          <a:xfrm>
            <a:off x="1676400" y="2171700"/>
            <a:ext cx="14554200" cy="6154057"/>
          </a:xfrm>
          <a:prstGeom prst="rect">
            <a:avLst/>
          </a:prstGeom>
          <a:noFill/>
        </p:spPr>
        <p:txBody>
          <a:bodyPr wrap="square">
            <a:spAutoFit/>
          </a:bodyPr>
          <a:lstStyle/>
          <a:p>
            <a:pPr>
              <a:lnSpc>
                <a:spcPct val="115000"/>
              </a:lnSpc>
              <a:spcAft>
                <a:spcPts val="1000"/>
              </a:spcAft>
              <a:buNone/>
            </a:pPr>
            <a:r>
              <a:rPr lang="en-IN" sz="2800" b="1" kern="100" dirty="0">
                <a:effectLst/>
                <a:latin typeface="Roboto" panose="02000000000000000000" pitchFamily="2" charset="0"/>
                <a:ea typeface="Roboto" panose="02000000000000000000" pitchFamily="2" charset="0"/>
                <a:cs typeface="Roboto" panose="02000000000000000000" pitchFamily="2" charset="0"/>
              </a:rPr>
              <a:t>Shape &amp; Contour:</a:t>
            </a:r>
            <a:r>
              <a:rPr lang="en-IN" sz="2800" kern="100" dirty="0">
                <a:effectLst/>
                <a:latin typeface="Roboto" panose="02000000000000000000" pitchFamily="2" charset="0"/>
                <a:ea typeface="Roboto" panose="02000000000000000000" pitchFamily="2" charset="0"/>
                <a:cs typeface="Roboto" panose="02000000000000000000" pitchFamily="2" charset="0"/>
              </a:rPr>
              <a:t> Replacing angular tube connections with continuous curves for a flowing frame silhouette.</a:t>
            </a:r>
          </a:p>
          <a:p>
            <a:pPr>
              <a:lnSpc>
                <a:spcPct val="115000"/>
              </a:lnSpc>
              <a:spcAft>
                <a:spcPts val="1000"/>
              </a:spcAft>
              <a:buNone/>
            </a:pPr>
            <a:r>
              <a:rPr lang="en-IN" sz="2800" b="1" kern="100" dirty="0">
                <a:effectLst/>
                <a:latin typeface="Roboto" panose="02000000000000000000" pitchFamily="2" charset="0"/>
                <a:ea typeface="Roboto" panose="02000000000000000000" pitchFamily="2" charset="0"/>
                <a:cs typeface="Roboto" panose="02000000000000000000" pitchFamily="2" charset="0"/>
              </a:rPr>
              <a:t>Proportion &amp; Balance:</a:t>
            </a:r>
            <a:r>
              <a:rPr lang="en-IN" sz="2800" kern="100" dirty="0">
                <a:effectLst/>
                <a:latin typeface="Roboto" panose="02000000000000000000" pitchFamily="2" charset="0"/>
                <a:ea typeface="Roboto" panose="02000000000000000000" pitchFamily="2" charset="0"/>
                <a:cs typeface="Roboto" panose="02000000000000000000" pitchFamily="2" charset="0"/>
              </a:rPr>
              <a:t> Optimizing mass between front and rear; refined height–length ratio for stability.</a:t>
            </a:r>
          </a:p>
          <a:p>
            <a:pPr>
              <a:lnSpc>
                <a:spcPct val="115000"/>
              </a:lnSpc>
              <a:spcAft>
                <a:spcPts val="1000"/>
              </a:spcAft>
              <a:buNone/>
            </a:pPr>
            <a:r>
              <a:rPr lang="en-IN" sz="2800" b="1" kern="100" dirty="0">
                <a:effectLst/>
                <a:latin typeface="Roboto" panose="02000000000000000000" pitchFamily="2" charset="0"/>
                <a:ea typeface="Roboto" panose="02000000000000000000" pitchFamily="2" charset="0"/>
                <a:cs typeface="Roboto" panose="02000000000000000000" pitchFamily="2" charset="0"/>
              </a:rPr>
              <a:t>Unity &amp; Style:</a:t>
            </a:r>
            <a:r>
              <a:rPr lang="en-IN" sz="2800" kern="100" dirty="0">
                <a:effectLst/>
                <a:latin typeface="Roboto" panose="02000000000000000000" pitchFamily="2" charset="0"/>
                <a:ea typeface="Roboto" panose="02000000000000000000" pitchFamily="2" charset="0"/>
                <a:cs typeface="Roboto" panose="02000000000000000000" pitchFamily="2" charset="0"/>
              </a:rPr>
              <a:t> Maintaining consistent design cues across the Eco-Ride family—headlight shape, logo band, and frame arc.</a:t>
            </a:r>
          </a:p>
          <a:p>
            <a:pPr>
              <a:lnSpc>
                <a:spcPct val="115000"/>
              </a:lnSpc>
              <a:spcAft>
                <a:spcPts val="1000"/>
              </a:spcAft>
              <a:buNone/>
            </a:pPr>
            <a:r>
              <a:rPr lang="en-IN" sz="2800" b="1" kern="100" dirty="0">
                <a:effectLst/>
                <a:latin typeface="Roboto" panose="02000000000000000000" pitchFamily="2" charset="0"/>
                <a:ea typeface="Roboto" panose="02000000000000000000" pitchFamily="2" charset="0"/>
                <a:cs typeface="Roboto" panose="02000000000000000000" pitchFamily="2" charset="0"/>
              </a:rPr>
              <a:t>Contrast:</a:t>
            </a:r>
            <a:r>
              <a:rPr lang="en-IN" sz="2800" kern="100" dirty="0">
                <a:effectLst/>
                <a:latin typeface="Roboto" panose="02000000000000000000" pitchFamily="2" charset="0"/>
                <a:ea typeface="Roboto" panose="02000000000000000000" pitchFamily="2" charset="0"/>
                <a:cs typeface="Roboto" panose="02000000000000000000" pitchFamily="2" charset="0"/>
              </a:rPr>
              <a:t> Matte aluminium body with gloss-accent zones on battery housing and display panel.</a:t>
            </a:r>
          </a:p>
          <a:p>
            <a:pPr>
              <a:lnSpc>
                <a:spcPct val="115000"/>
              </a:lnSpc>
              <a:spcAft>
                <a:spcPts val="1000"/>
              </a:spcAft>
              <a:buNone/>
            </a:pPr>
            <a:r>
              <a:rPr lang="en-IN" sz="2800" b="1" kern="100" dirty="0" err="1">
                <a:effectLst/>
                <a:latin typeface="Roboto" panose="02000000000000000000" pitchFamily="2" charset="0"/>
                <a:ea typeface="Roboto" panose="02000000000000000000" pitchFamily="2" charset="0"/>
                <a:cs typeface="Roboto" panose="02000000000000000000" pitchFamily="2" charset="0"/>
              </a:rPr>
              <a:t>Color</a:t>
            </a:r>
            <a:r>
              <a:rPr lang="en-IN" sz="2800" b="1" kern="100" dirty="0">
                <a:effectLst/>
                <a:latin typeface="Roboto" panose="02000000000000000000" pitchFamily="2" charset="0"/>
                <a:ea typeface="Roboto" panose="02000000000000000000" pitchFamily="2" charset="0"/>
                <a:cs typeface="Roboto" panose="02000000000000000000" pitchFamily="2" charset="0"/>
              </a:rPr>
              <a:t>:</a:t>
            </a:r>
            <a:r>
              <a:rPr lang="en-IN" sz="2800" kern="100" dirty="0">
                <a:effectLst/>
                <a:latin typeface="Roboto" panose="02000000000000000000" pitchFamily="2" charset="0"/>
                <a:ea typeface="Roboto" panose="02000000000000000000" pitchFamily="2" charset="0"/>
                <a:cs typeface="Roboto" panose="02000000000000000000" pitchFamily="2" charset="0"/>
              </a:rPr>
              <a:t> Functional </a:t>
            </a:r>
            <a:r>
              <a:rPr lang="en-IN" sz="2800" kern="100" dirty="0" err="1">
                <a:effectLst/>
                <a:latin typeface="Roboto" panose="02000000000000000000" pitchFamily="2" charset="0"/>
                <a:ea typeface="Roboto" panose="02000000000000000000" pitchFamily="2" charset="0"/>
                <a:cs typeface="Roboto" panose="02000000000000000000" pitchFamily="2" charset="0"/>
              </a:rPr>
              <a:t>color</a:t>
            </a:r>
            <a:r>
              <a:rPr lang="en-IN" sz="2800" kern="100" dirty="0">
                <a:effectLst/>
                <a:latin typeface="Roboto" panose="02000000000000000000" pitchFamily="2" charset="0"/>
                <a:ea typeface="Roboto" panose="02000000000000000000" pitchFamily="2" charset="0"/>
                <a:cs typeface="Roboto" panose="02000000000000000000" pitchFamily="2" charset="0"/>
              </a:rPr>
              <a:t> coding—each variant has its own visual identity (Eco-green, Cargo-black, Sport-red, etc.).</a:t>
            </a:r>
          </a:p>
          <a:p>
            <a:pPr>
              <a:lnSpc>
                <a:spcPct val="115000"/>
              </a:lnSpc>
              <a:spcAft>
                <a:spcPts val="1000"/>
              </a:spcAft>
              <a:buNone/>
            </a:pPr>
            <a:r>
              <a:rPr lang="en-IN" sz="2800" b="1" kern="100" dirty="0">
                <a:effectLst/>
                <a:latin typeface="Roboto" panose="02000000000000000000" pitchFamily="2" charset="0"/>
                <a:ea typeface="Roboto" panose="02000000000000000000" pitchFamily="2" charset="0"/>
                <a:cs typeface="Roboto" panose="02000000000000000000" pitchFamily="2" charset="0"/>
              </a:rPr>
              <a:t>Texture:</a:t>
            </a:r>
            <a:r>
              <a:rPr lang="en-IN" sz="2800" kern="100" dirty="0">
                <a:effectLst/>
                <a:latin typeface="Roboto" panose="02000000000000000000" pitchFamily="2" charset="0"/>
                <a:ea typeface="Roboto" panose="02000000000000000000" pitchFamily="2" charset="0"/>
                <a:cs typeface="Roboto" panose="02000000000000000000" pitchFamily="2" charset="0"/>
              </a:rPr>
              <a:t> Mixing brushed metal and matte polymer for tactile richness and durability.</a:t>
            </a:r>
          </a:p>
        </p:txBody>
      </p:sp>
    </p:spTree>
    <p:extLst>
      <p:ext uri="{BB962C8B-B14F-4D97-AF65-F5344CB8AC3E}">
        <p14:creationId xmlns:p14="http://schemas.microsoft.com/office/powerpoint/2010/main" val="242255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EA1D69DB-AAA3-075A-F7C0-AE7E6CA5193D}"/>
              </a:ext>
            </a:extLst>
          </p:cNvPr>
          <p:cNvSpPr/>
          <p:nvPr/>
        </p:nvSpPr>
        <p:spPr>
          <a:xfrm>
            <a:off x="-114300" y="10066262"/>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7B33EBE5-AC1C-5B18-7809-A6680F8C4C32}"/>
              </a:ext>
            </a:extLst>
          </p:cNvPr>
          <p:cNvSpPr/>
          <p:nvPr/>
        </p:nvSpPr>
        <p:spPr>
          <a:xfrm>
            <a:off x="-120162" y="9715500"/>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C1D0C4AD-379D-CB9F-3A4C-392D05D41B11}"/>
              </a:ext>
            </a:extLst>
          </p:cNvPr>
          <p:cNvSpPr txBox="1"/>
          <p:nvPr/>
        </p:nvSpPr>
        <p:spPr>
          <a:xfrm>
            <a:off x="990600" y="647700"/>
            <a:ext cx="11811000" cy="708656"/>
          </a:xfrm>
          <a:prstGeom prst="rect">
            <a:avLst/>
          </a:prstGeom>
          <a:noFill/>
        </p:spPr>
        <p:txBody>
          <a:bodyPr wrap="square">
            <a:spAutoFit/>
          </a:bodyPr>
          <a:lstStyle/>
          <a:p>
            <a:pPr>
              <a:lnSpc>
                <a:spcPct val="115000"/>
              </a:lnSpc>
              <a:spcAft>
                <a:spcPts val="1000"/>
              </a:spcAft>
              <a:buNone/>
            </a:pPr>
            <a:r>
              <a:rPr lang="en-IN" sz="36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Aesthetic Principle Application to Subsystems</a:t>
            </a:r>
            <a:endParaRPr lang="en-IN" sz="36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822FE04-6D77-AB70-5D33-01EA1B4B4D33}"/>
              </a:ext>
            </a:extLst>
          </p:cNvPr>
          <p:cNvGraphicFramePr>
            <a:graphicFrameLocks noGrp="1"/>
          </p:cNvGraphicFramePr>
          <p:nvPr>
            <p:extLst>
              <p:ext uri="{D42A27DB-BD31-4B8C-83A1-F6EECF244321}">
                <p14:modId xmlns:p14="http://schemas.microsoft.com/office/powerpoint/2010/main" val="264944521"/>
              </p:ext>
            </p:extLst>
          </p:nvPr>
        </p:nvGraphicFramePr>
        <p:xfrm>
          <a:off x="1026695" y="2115300"/>
          <a:ext cx="15364460" cy="5270504"/>
        </p:xfrm>
        <a:graphic>
          <a:graphicData uri="http://schemas.openxmlformats.org/drawingml/2006/table">
            <a:tbl>
              <a:tblPr firstRow="1" firstCol="1" bandRow="1">
                <a:tableStyleId>{5C22544A-7EE6-4342-B048-85BDC9FD1C3A}</a:tableStyleId>
              </a:tblPr>
              <a:tblGrid>
                <a:gridCol w="4852598">
                  <a:extLst>
                    <a:ext uri="{9D8B030D-6E8A-4147-A177-3AD203B41FA5}">
                      <a16:colId xmlns:a16="http://schemas.microsoft.com/office/drawing/2014/main" val="2518626753"/>
                    </a:ext>
                  </a:extLst>
                </a:gridCol>
                <a:gridCol w="5657688">
                  <a:extLst>
                    <a:ext uri="{9D8B030D-6E8A-4147-A177-3AD203B41FA5}">
                      <a16:colId xmlns:a16="http://schemas.microsoft.com/office/drawing/2014/main" val="3503229060"/>
                    </a:ext>
                  </a:extLst>
                </a:gridCol>
                <a:gridCol w="4854174">
                  <a:extLst>
                    <a:ext uri="{9D8B030D-6E8A-4147-A177-3AD203B41FA5}">
                      <a16:colId xmlns:a16="http://schemas.microsoft.com/office/drawing/2014/main" val="1953080898"/>
                    </a:ext>
                  </a:extLst>
                </a:gridCol>
              </a:tblGrid>
              <a:tr h="0">
                <a:tc>
                  <a:txBody>
                    <a:bodyPr/>
                    <a:lstStyle/>
                    <a:p>
                      <a:pPr>
                        <a:lnSpc>
                          <a:spcPct val="115000"/>
                        </a:lnSpc>
                        <a:spcAft>
                          <a:spcPts val="1000"/>
                        </a:spcAft>
                        <a:buNone/>
                      </a:pPr>
                      <a:r>
                        <a:rPr lang="en-IN" sz="2400" kern="100" dirty="0">
                          <a:effectLst/>
                        </a:rPr>
                        <a:t>Principle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Applied Feature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Expected Visual Outcome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1735344"/>
                  </a:ext>
                </a:extLst>
              </a:tr>
              <a:tr h="0">
                <a:tc>
                  <a:txBody>
                    <a:bodyPr/>
                    <a:lstStyle/>
                    <a:p>
                      <a:pPr>
                        <a:lnSpc>
                          <a:spcPct val="115000"/>
                        </a:lnSpc>
                        <a:spcAft>
                          <a:spcPts val="1000"/>
                        </a:spcAft>
                        <a:buNone/>
                      </a:pPr>
                      <a:r>
                        <a:rPr lang="en-IN" sz="2400" kern="100">
                          <a:effectLst/>
                        </a:rPr>
                        <a:t>Shape &amp; Contour</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Smooth S-curve spine and curved battery cover</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Light, streamlined body flow</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4815453"/>
                  </a:ext>
                </a:extLst>
              </a:tr>
              <a:tr h="0">
                <a:tc>
                  <a:txBody>
                    <a:bodyPr/>
                    <a:lstStyle/>
                    <a:p>
                      <a:pPr>
                        <a:lnSpc>
                          <a:spcPct val="115000"/>
                        </a:lnSpc>
                        <a:spcAft>
                          <a:spcPts val="1000"/>
                        </a:spcAft>
                        <a:buNone/>
                      </a:pPr>
                      <a:r>
                        <a:rPr lang="en-IN" sz="2400" kern="100">
                          <a:effectLst/>
                        </a:rPr>
                        <a:t>Proportion &amp; Mass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Lower frame thicker; slim top-tube for lightness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Stable, grounded form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7319425"/>
                  </a:ext>
                </a:extLst>
              </a:tr>
              <a:tr h="0">
                <a:tc>
                  <a:txBody>
                    <a:bodyPr/>
                    <a:lstStyle/>
                    <a:p>
                      <a:pPr>
                        <a:lnSpc>
                          <a:spcPct val="115000"/>
                        </a:lnSpc>
                        <a:spcAft>
                          <a:spcPts val="1000"/>
                        </a:spcAft>
                        <a:buNone/>
                      </a:pPr>
                      <a:r>
                        <a:rPr lang="en-IN" sz="2400" kern="100">
                          <a:effectLst/>
                        </a:rPr>
                        <a:t>Unity &amp; Style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Shared Eco-Ride headlight, LCD cluster, and logo band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Family identity maintained</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1264478"/>
                  </a:ext>
                </a:extLst>
              </a:tr>
              <a:tr h="0">
                <a:tc>
                  <a:txBody>
                    <a:bodyPr/>
                    <a:lstStyle/>
                    <a:p>
                      <a:pPr>
                        <a:lnSpc>
                          <a:spcPct val="115000"/>
                        </a:lnSpc>
                        <a:spcAft>
                          <a:spcPts val="1000"/>
                        </a:spcAft>
                        <a:buNone/>
                      </a:pPr>
                      <a:r>
                        <a:rPr lang="en-IN" sz="2400" kern="100">
                          <a:effectLst/>
                        </a:rPr>
                        <a:t>Line &amp; Direction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Diagonal flow from head tube to rear axle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Dynamic, forward motion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469007"/>
                  </a:ext>
                </a:extLst>
              </a:tr>
              <a:tr h="0">
                <a:tc>
                  <a:txBody>
                    <a:bodyPr/>
                    <a:lstStyle/>
                    <a:p>
                      <a:pPr>
                        <a:lnSpc>
                          <a:spcPct val="115000"/>
                        </a:lnSpc>
                        <a:spcAft>
                          <a:spcPts val="1000"/>
                        </a:spcAft>
                        <a:buNone/>
                      </a:pPr>
                      <a:r>
                        <a:rPr lang="en-IN" sz="2400" kern="100">
                          <a:effectLst/>
                        </a:rPr>
                        <a:t>Contrast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Dual finish zones—matte body &amp; gloss details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Depth and visual sophistication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6117615"/>
                  </a:ext>
                </a:extLst>
              </a:tr>
              <a:tr h="0">
                <a:tc>
                  <a:txBody>
                    <a:bodyPr/>
                    <a:lstStyle/>
                    <a:p>
                      <a:pPr>
                        <a:lnSpc>
                          <a:spcPct val="115000"/>
                        </a:lnSpc>
                        <a:spcAft>
                          <a:spcPts val="1000"/>
                        </a:spcAft>
                        <a:buNone/>
                      </a:pPr>
                      <a:r>
                        <a:rPr lang="en-IN" sz="2400" kern="100">
                          <a:effectLst/>
                        </a:rPr>
                        <a:t>Color &amp; Finish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Variant-specific tones; neutral base + accent highlights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Market distinction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559519"/>
                  </a:ext>
                </a:extLst>
              </a:tr>
              <a:tr h="0">
                <a:tc>
                  <a:txBody>
                    <a:bodyPr/>
                    <a:lstStyle/>
                    <a:p>
                      <a:pPr>
                        <a:lnSpc>
                          <a:spcPct val="115000"/>
                        </a:lnSpc>
                        <a:spcAft>
                          <a:spcPts val="1000"/>
                        </a:spcAft>
                        <a:buNone/>
                      </a:pPr>
                      <a:r>
                        <a:rPr lang="en-IN" sz="2400" kern="100">
                          <a:effectLst/>
                        </a:rPr>
                        <a:t>Texture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Matte metallic + anti-slip grip textures</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Technical realism &amp; comfort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360713"/>
                  </a:ext>
                </a:extLst>
              </a:tr>
            </a:tbl>
          </a:graphicData>
        </a:graphic>
      </p:graphicFrame>
    </p:spTree>
    <p:extLst>
      <p:ext uri="{BB962C8B-B14F-4D97-AF65-F5344CB8AC3E}">
        <p14:creationId xmlns:p14="http://schemas.microsoft.com/office/powerpoint/2010/main" val="181416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C0031CEA-1351-6569-4AA7-6D949DC3400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E2B21145-4230-15B9-C1E7-85EB726CD251}"/>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F3B8A3A4-1FEE-276F-569B-1ABF9128C052}"/>
              </a:ext>
            </a:extLst>
          </p:cNvPr>
          <p:cNvSpPr txBox="1"/>
          <p:nvPr/>
        </p:nvSpPr>
        <p:spPr>
          <a:xfrm>
            <a:off x="1250950" y="725187"/>
            <a:ext cx="13487400" cy="708656"/>
          </a:xfrm>
          <a:prstGeom prst="rect">
            <a:avLst/>
          </a:prstGeom>
          <a:noFill/>
        </p:spPr>
        <p:txBody>
          <a:bodyPr wrap="square">
            <a:spAutoFit/>
          </a:bodyPr>
          <a:lstStyle/>
          <a:p>
            <a:pPr>
              <a:lnSpc>
                <a:spcPct val="115000"/>
              </a:lnSpc>
              <a:spcAft>
                <a:spcPts val="1000"/>
              </a:spcAft>
              <a:buNone/>
            </a:pPr>
            <a:r>
              <a:rPr lang="en-IN" sz="36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Functional Attributes Expressed Through Aesthetics</a:t>
            </a:r>
            <a:endParaRPr lang="en-IN" sz="36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8BDE4D4F-DBF1-CB3A-56F3-7EF17C179A88}"/>
              </a:ext>
            </a:extLst>
          </p:cNvPr>
          <p:cNvGraphicFramePr>
            <a:graphicFrameLocks noGrp="1"/>
          </p:cNvGraphicFramePr>
          <p:nvPr>
            <p:extLst>
              <p:ext uri="{D42A27DB-BD31-4B8C-83A1-F6EECF244321}">
                <p14:modId xmlns:p14="http://schemas.microsoft.com/office/powerpoint/2010/main" val="2539993367"/>
              </p:ext>
            </p:extLst>
          </p:nvPr>
        </p:nvGraphicFramePr>
        <p:xfrm>
          <a:off x="1250950" y="1758950"/>
          <a:ext cx="13487400" cy="5257802"/>
        </p:xfrm>
        <a:graphic>
          <a:graphicData uri="http://schemas.openxmlformats.org/drawingml/2006/table">
            <a:tbl>
              <a:tblPr firstRow="1" firstCol="1" bandRow="1">
                <a:tableStyleId>{5C22544A-7EE6-4342-B048-85BDC9FD1C3A}</a:tableStyleId>
              </a:tblPr>
              <a:tblGrid>
                <a:gridCol w="2952054">
                  <a:extLst>
                    <a:ext uri="{9D8B030D-6E8A-4147-A177-3AD203B41FA5}">
                      <a16:colId xmlns:a16="http://schemas.microsoft.com/office/drawing/2014/main" val="1367497374"/>
                    </a:ext>
                  </a:extLst>
                </a:gridCol>
                <a:gridCol w="5892627">
                  <a:extLst>
                    <a:ext uri="{9D8B030D-6E8A-4147-A177-3AD203B41FA5}">
                      <a16:colId xmlns:a16="http://schemas.microsoft.com/office/drawing/2014/main" val="1147809609"/>
                    </a:ext>
                  </a:extLst>
                </a:gridCol>
                <a:gridCol w="4642719">
                  <a:extLst>
                    <a:ext uri="{9D8B030D-6E8A-4147-A177-3AD203B41FA5}">
                      <a16:colId xmlns:a16="http://schemas.microsoft.com/office/drawing/2014/main" val="2971759370"/>
                    </a:ext>
                  </a:extLst>
                </a:gridCol>
              </a:tblGrid>
              <a:tr h="577572">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Functional Aspect</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Aesthetic Integration</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Intended Design Effect</a:t>
                      </a:r>
                    </a:p>
                  </a:txBody>
                  <a:tcPr marL="68580" marR="68580" marT="0" marB="0"/>
                </a:tc>
                <a:extLst>
                  <a:ext uri="{0D108BD9-81ED-4DB2-BD59-A6C34878D82A}">
                    <a16:rowId xmlns:a16="http://schemas.microsoft.com/office/drawing/2014/main" val="2430296220"/>
                  </a:ext>
                </a:extLst>
              </a:tr>
              <a:tr h="1184971">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Battery Housing</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Semi-flush curved enclosure with color trim</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Seamless integration, reduced bulk</a:t>
                      </a:r>
                    </a:p>
                  </a:txBody>
                  <a:tcPr marL="68580" marR="68580" marT="0" marB="0"/>
                </a:tc>
                <a:extLst>
                  <a:ext uri="{0D108BD9-81ED-4DB2-BD59-A6C34878D82A}">
                    <a16:rowId xmlns:a16="http://schemas.microsoft.com/office/drawing/2014/main" val="2614134636"/>
                  </a:ext>
                </a:extLst>
              </a:tr>
              <a:tr h="1184971">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Motor &amp; Drive</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Metallic ring around hub motor</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Emphasizes strength and performance</a:t>
                      </a:r>
                    </a:p>
                  </a:txBody>
                  <a:tcPr marL="68580" marR="68580" marT="0" marB="0"/>
                </a:tc>
                <a:extLst>
                  <a:ext uri="{0D108BD9-81ED-4DB2-BD59-A6C34878D82A}">
                    <a16:rowId xmlns:a16="http://schemas.microsoft.com/office/drawing/2014/main" val="359029678"/>
                  </a:ext>
                </a:extLst>
              </a:tr>
              <a:tr h="577572">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Solar Module</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Curved film following rear rack contour</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Expresses sustainability</a:t>
                      </a:r>
                    </a:p>
                  </a:txBody>
                  <a:tcPr marL="68580" marR="68580" marT="0" marB="0"/>
                </a:tc>
                <a:extLst>
                  <a:ext uri="{0D108BD9-81ED-4DB2-BD59-A6C34878D82A}">
                    <a16:rowId xmlns:a16="http://schemas.microsoft.com/office/drawing/2014/main" val="2484818447"/>
                  </a:ext>
                </a:extLst>
              </a:tr>
              <a:tr h="577572">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Display &amp; Controls</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Compact LCD with recessed bezel</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Organized and modern interface</a:t>
                      </a:r>
                    </a:p>
                  </a:txBody>
                  <a:tcPr marL="68580" marR="68580" marT="0" marB="0"/>
                </a:tc>
                <a:extLst>
                  <a:ext uri="{0D108BD9-81ED-4DB2-BD59-A6C34878D82A}">
                    <a16:rowId xmlns:a16="http://schemas.microsoft.com/office/drawing/2014/main" val="1199203177"/>
                  </a:ext>
                </a:extLst>
              </a:tr>
              <a:tr h="577572">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Lighting</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Linear LEDs on handle and rear rack</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Visual rhythm and brand unity</a:t>
                      </a:r>
                    </a:p>
                  </a:txBody>
                  <a:tcPr marL="68580" marR="68580" marT="0" marB="0"/>
                </a:tc>
                <a:extLst>
                  <a:ext uri="{0D108BD9-81ED-4DB2-BD59-A6C34878D82A}">
                    <a16:rowId xmlns:a16="http://schemas.microsoft.com/office/drawing/2014/main" val="1144528074"/>
                  </a:ext>
                </a:extLst>
              </a:tr>
              <a:tr h="577572">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Ergonomics</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Sculpted seat &amp; angled bars</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Communicates comfort visually</a:t>
                      </a:r>
                    </a:p>
                  </a:txBody>
                  <a:tcPr marL="68580" marR="68580" marT="0" marB="0"/>
                </a:tc>
                <a:extLst>
                  <a:ext uri="{0D108BD9-81ED-4DB2-BD59-A6C34878D82A}">
                    <a16:rowId xmlns:a16="http://schemas.microsoft.com/office/drawing/2014/main" val="1679793782"/>
                  </a:ext>
                </a:extLst>
              </a:tr>
            </a:tbl>
          </a:graphicData>
        </a:graphic>
      </p:graphicFrame>
    </p:spTree>
    <p:extLst>
      <p:ext uri="{BB962C8B-B14F-4D97-AF65-F5344CB8AC3E}">
        <p14:creationId xmlns:p14="http://schemas.microsoft.com/office/powerpoint/2010/main" val="278291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6F7B57FE-943F-3668-3EEE-87F3C409D65C}"/>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AB017740-2F00-B067-F7FC-EF40FA106E4A}"/>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graphicFrame>
        <p:nvGraphicFramePr>
          <p:cNvPr id="6" name="Table 5">
            <a:extLst>
              <a:ext uri="{FF2B5EF4-FFF2-40B4-BE49-F238E27FC236}">
                <a16:creationId xmlns:a16="http://schemas.microsoft.com/office/drawing/2014/main" id="{664C3BAF-788F-D483-53AE-3AF593C843F0}"/>
              </a:ext>
            </a:extLst>
          </p:cNvPr>
          <p:cNvGraphicFramePr>
            <a:graphicFrameLocks noGrp="1"/>
          </p:cNvGraphicFramePr>
          <p:nvPr>
            <p:extLst>
              <p:ext uri="{D42A27DB-BD31-4B8C-83A1-F6EECF244321}">
                <p14:modId xmlns:p14="http://schemas.microsoft.com/office/powerpoint/2010/main" val="2835088440"/>
              </p:ext>
            </p:extLst>
          </p:nvPr>
        </p:nvGraphicFramePr>
        <p:xfrm>
          <a:off x="533400" y="2996573"/>
          <a:ext cx="16776700" cy="4457383"/>
        </p:xfrm>
        <a:graphic>
          <a:graphicData uri="http://schemas.openxmlformats.org/drawingml/2006/table">
            <a:tbl>
              <a:tblPr firstRow="1" firstCol="1" bandRow="1">
                <a:tableStyleId>{5C22544A-7EE6-4342-B048-85BDC9FD1C3A}</a:tableStyleId>
              </a:tblPr>
              <a:tblGrid>
                <a:gridCol w="3947176">
                  <a:extLst>
                    <a:ext uri="{9D8B030D-6E8A-4147-A177-3AD203B41FA5}">
                      <a16:colId xmlns:a16="http://schemas.microsoft.com/office/drawing/2014/main" val="874566074"/>
                    </a:ext>
                  </a:extLst>
                </a:gridCol>
                <a:gridCol w="5684190">
                  <a:extLst>
                    <a:ext uri="{9D8B030D-6E8A-4147-A177-3AD203B41FA5}">
                      <a16:colId xmlns:a16="http://schemas.microsoft.com/office/drawing/2014/main" val="415144811"/>
                    </a:ext>
                  </a:extLst>
                </a:gridCol>
                <a:gridCol w="7145334">
                  <a:extLst>
                    <a:ext uri="{9D8B030D-6E8A-4147-A177-3AD203B41FA5}">
                      <a16:colId xmlns:a16="http://schemas.microsoft.com/office/drawing/2014/main" val="206524550"/>
                    </a:ext>
                  </a:extLst>
                </a:gridCol>
              </a:tblGrid>
              <a:tr h="221844">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Concept</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Aesthetic Theme</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Functional / Visual Expression</a:t>
                      </a:r>
                    </a:p>
                  </a:txBody>
                  <a:tcPr marL="68580" marR="68580" marT="0" marB="0"/>
                </a:tc>
                <a:extLst>
                  <a:ext uri="{0D108BD9-81ED-4DB2-BD59-A6C34878D82A}">
                    <a16:rowId xmlns:a16="http://schemas.microsoft.com/office/drawing/2014/main" val="4265261415"/>
                  </a:ext>
                </a:extLst>
              </a:tr>
              <a:tr h="457490">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Lite </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Minimalistic urban design; silver–cyan dual tone.</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Lightweight geometry, smooth frame curve; dark base shows stability.</a:t>
                      </a:r>
                    </a:p>
                  </a:txBody>
                  <a:tcPr marL="68580" marR="68580" marT="0" marB="0"/>
                </a:tc>
                <a:extLst>
                  <a:ext uri="{0D108BD9-81ED-4DB2-BD59-A6C34878D82A}">
                    <a16:rowId xmlns:a16="http://schemas.microsoft.com/office/drawing/2014/main" val="1560667369"/>
                  </a:ext>
                </a:extLst>
              </a:tr>
              <a:tr h="457490">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X Swap</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Industrial precision; modular style.</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Slide-out battery drawer outlined in orange; strong structural stance.</a:t>
                      </a:r>
                    </a:p>
                  </a:txBody>
                  <a:tcPr marL="68580" marR="68580" marT="0" marB="0"/>
                </a:tc>
                <a:extLst>
                  <a:ext uri="{0D108BD9-81ED-4DB2-BD59-A6C34878D82A}">
                    <a16:rowId xmlns:a16="http://schemas.microsoft.com/office/drawing/2014/main" val="3286347725"/>
                  </a:ext>
                </a:extLst>
              </a:tr>
              <a:tr h="457490">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Fold</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Youthful and sleek; diagonal flow.</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Hidden fold hinges, slim silhouette; lime-blue colors.</a:t>
                      </a:r>
                    </a:p>
                  </a:txBody>
                  <a:tcPr marL="68580" marR="68580" marT="0" marB="0"/>
                </a:tc>
                <a:extLst>
                  <a:ext uri="{0D108BD9-81ED-4DB2-BD59-A6C34878D82A}">
                    <a16:rowId xmlns:a16="http://schemas.microsoft.com/office/drawing/2014/main" val="3039767869"/>
                  </a:ext>
                </a:extLst>
              </a:tr>
              <a:tr h="457490">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Cargo</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Power and utility aesthetics.</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Extended frame with reinforced lines; black-silver scheme, matte texture.</a:t>
                      </a:r>
                    </a:p>
                  </a:txBody>
                  <a:tcPr marL="68580" marR="68580" marT="0" marB="0"/>
                </a:tc>
                <a:extLst>
                  <a:ext uri="{0D108BD9-81ED-4DB2-BD59-A6C34878D82A}">
                    <a16:rowId xmlns:a16="http://schemas.microsoft.com/office/drawing/2014/main" val="1583259939"/>
                  </a:ext>
                </a:extLst>
              </a:tr>
              <a:tr h="457490">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Eco-Ride R Sport</a:t>
                      </a:r>
                    </a:p>
                  </a:txBody>
                  <a:tcPr marL="68580" marR="68580" marT="0" marB="0"/>
                </a:tc>
                <a:tc>
                  <a:txBody>
                    <a:bodyPr/>
                    <a:lstStyle/>
                    <a:p>
                      <a:pPr>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Futuristic athletic form; aerodynamic unity.</a:t>
                      </a:r>
                    </a:p>
                  </a:txBody>
                  <a:tcPr marL="68580" marR="68580" marT="0" marB="0"/>
                </a:tc>
                <a:tc>
                  <a:txBody>
                    <a:bodyPr/>
                    <a:lstStyle/>
                    <a:p>
                      <a:pPr>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Carbon-</a:t>
                      </a:r>
                      <a:r>
                        <a:rPr lang="en-IN" sz="2400" kern="100" dirty="0" err="1">
                          <a:effectLst/>
                          <a:latin typeface="Roboto" panose="02000000000000000000" pitchFamily="2" charset="0"/>
                          <a:ea typeface="Roboto" panose="02000000000000000000" pitchFamily="2" charset="0"/>
                          <a:cs typeface="Roboto" panose="02000000000000000000" pitchFamily="2" charset="0"/>
                        </a:rPr>
                        <a:t>fiber</a:t>
                      </a:r>
                      <a:r>
                        <a:rPr lang="en-IN" sz="2400" kern="100" dirty="0">
                          <a:effectLst/>
                          <a:latin typeface="Roboto" panose="02000000000000000000" pitchFamily="2" charset="0"/>
                          <a:ea typeface="Roboto" panose="02000000000000000000" pitchFamily="2" charset="0"/>
                          <a:cs typeface="Roboto" panose="02000000000000000000" pitchFamily="2" charset="0"/>
                        </a:rPr>
                        <a:t> style frame, red-black gloss contrast, LED speed lines.</a:t>
                      </a:r>
                    </a:p>
                  </a:txBody>
                  <a:tcPr marL="68580" marR="68580" marT="0" marB="0"/>
                </a:tc>
                <a:extLst>
                  <a:ext uri="{0D108BD9-81ED-4DB2-BD59-A6C34878D82A}">
                    <a16:rowId xmlns:a16="http://schemas.microsoft.com/office/drawing/2014/main" val="3660208089"/>
                  </a:ext>
                </a:extLst>
              </a:tr>
            </a:tbl>
          </a:graphicData>
        </a:graphic>
      </p:graphicFrame>
      <p:sp>
        <p:nvSpPr>
          <p:cNvPr id="5" name="TextBox 4">
            <a:extLst>
              <a:ext uri="{FF2B5EF4-FFF2-40B4-BE49-F238E27FC236}">
                <a16:creationId xmlns:a16="http://schemas.microsoft.com/office/drawing/2014/main" id="{6AAC4F81-D86A-70AF-A9CE-239D3F86CC09}"/>
              </a:ext>
            </a:extLst>
          </p:cNvPr>
          <p:cNvSpPr txBox="1"/>
          <p:nvPr/>
        </p:nvSpPr>
        <p:spPr>
          <a:xfrm>
            <a:off x="533400" y="1471057"/>
            <a:ext cx="11887200" cy="777136"/>
          </a:xfrm>
          <a:prstGeom prst="rect">
            <a:avLst/>
          </a:prstGeom>
          <a:noFill/>
        </p:spPr>
        <p:txBody>
          <a:bodyPr wrap="square">
            <a:spAutoFit/>
          </a:bodyPr>
          <a:lstStyle/>
          <a:p>
            <a:pPr>
              <a:lnSpc>
                <a:spcPct val="115000"/>
              </a:lnSpc>
              <a:spcAft>
                <a:spcPts val="1000"/>
              </a:spcAft>
              <a:buNone/>
            </a:pPr>
            <a:r>
              <a:rPr lang="en-IN" sz="40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Concept-Wise Aesthetic Focus (C1–C5)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570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D02D87AE-67AD-0D38-FC55-88EBF8FC7B3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72936133-191D-AF63-E4C0-3CD3050128C7}"/>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6" name="TextBox 5">
            <a:extLst>
              <a:ext uri="{FF2B5EF4-FFF2-40B4-BE49-F238E27FC236}">
                <a16:creationId xmlns:a16="http://schemas.microsoft.com/office/drawing/2014/main" id="{2940B001-258C-E7AC-599D-ADB7B691E2A0}"/>
              </a:ext>
            </a:extLst>
          </p:cNvPr>
          <p:cNvSpPr txBox="1"/>
          <p:nvPr/>
        </p:nvSpPr>
        <p:spPr>
          <a:xfrm>
            <a:off x="533400" y="495300"/>
            <a:ext cx="10134600" cy="845616"/>
          </a:xfrm>
          <a:prstGeom prst="rect">
            <a:avLst/>
          </a:prstGeom>
          <a:noFill/>
        </p:spPr>
        <p:txBody>
          <a:bodyPr wrap="square">
            <a:spAutoFit/>
          </a:bodyPr>
          <a:lstStyle/>
          <a:p>
            <a:pPr marL="342900" lvl="0" indent="-342900">
              <a:lnSpc>
                <a:spcPct val="115000"/>
              </a:lnSpc>
              <a:spcAft>
                <a:spcPts val="1000"/>
              </a:spcAft>
              <a:buFont typeface="+mj-lt"/>
              <a:buAutoNum type="arabicPeriod"/>
            </a:pPr>
            <a:r>
              <a:rPr lang="en-IN" sz="44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Eco-Ride Lite:</a:t>
            </a:r>
            <a:endParaRPr lang="en-IN" sz="44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35ECD397-AD65-6D61-B37E-F5039D9A034F}"/>
              </a:ext>
            </a:extLst>
          </p:cNvPr>
          <p:cNvSpPr txBox="1"/>
          <p:nvPr/>
        </p:nvSpPr>
        <p:spPr>
          <a:xfrm>
            <a:off x="533400" y="1431328"/>
            <a:ext cx="17297400" cy="1764394"/>
          </a:xfrm>
          <a:prstGeom prst="rect">
            <a:avLst/>
          </a:prstGeom>
          <a:noFill/>
        </p:spPr>
        <p:txBody>
          <a:bodyPr wrap="square">
            <a:spAutoFit/>
          </a:bodyPr>
          <a:lstStyle/>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Visual Theme:</a:t>
            </a:r>
            <a:r>
              <a:rPr lang="en-IN" sz="2400" kern="100" dirty="0">
                <a:effectLst/>
                <a:latin typeface="Roboto" panose="02000000000000000000" pitchFamily="2" charset="0"/>
                <a:ea typeface="Roboto" panose="02000000000000000000" pitchFamily="2" charset="0"/>
                <a:cs typeface="Roboto" panose="02000000000000000000" pitchFamily="2" charset="0"/>
              </a:rPr>
              <a:t> Simple, lightweight, and minimalistic form emphasizing clean urban mobility.</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Rendering Focus:</a:t>
            </a:r>
            <a:r>
              <a:rPr lang="en-IN" sz="2400" kern="100" dirty="0">
                <a:effectLst/>
                <a:latin typeface="Roboto" panose="02000000000000000000" pitchFamily="2" charset="0"/>
                <a:ea typeface="Roboto" panose="02000000000000000000" pitchFamily="2" charset="0"/>
                <a:cs typeface="Roboto" panose="02000000000000000000" pitchFamily="2" charset="0"/>
              </a:rPr>
              <a:t> Soft frame curvature, silver–cyan </a:t>
            </a:r>
            <a:r>
              <a:rPr lang="en-IN" sz="2400" kern="100" dirty="0" err="1">
                <a:effectLst/>
                <a:latin typeface="Roboto" panose="02000000000000000000" pitchFamily="2" charset="0"/>
                <a:ea typeface="Roboto" panose="02000000000000000000" pitchFamily="2" charset="0"/>
                <a:cs typeface="Roboto" panose="02000000000000000000" pitchFamily="2" charset="0"/>
              </a:rPr>
              <a:t>color</a:t>
            </a:r>
            <a:r>
              <a:rPr lang="en-IN" sz="2400" kern="100" dirty="0">
                <a:effectLst/>
                <a:latin typeface="Roboto" panose="02000000000000000000" pitchFamily="2" charset="0"/>
                <a:ea typeface="Roboto" panose="02000000000000000000" pitchFamily="2" charset="0"/>
                <a:cs typeface="Roboto" panose="02000000000000000000" pitchFamily="2" charset="0"/>
              </a:rPr>
              <a:t> contrast, slim tyres, compact geometry.</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Key Highlight:</a:t>
            </a:r>
            <a:r>
              <a:rPr lang="en-IN" sz="2400" kern="100" dirty="0">
                <a:effectLst/>
                <a:latin typeface="Roboto" panose="02000000000000000000" pitchFamily="2" charset="0"/>
                <a:ea typeface="Roboto" panose="02000000000000000000" pitchFamily="2" charset="0"/>
                <a:cs typeface="Roboto" panose="02000000000000000000" pitchFamily="2" charset="0"/>
              </a:rPr>
              <a:t> Streamlined aluminium frame with matte finish and subtle cyan highlights.</a:t>
            </a:r>
          </a:p>
          <a:p>
            <a:pPr marL="457200">
              <a:lnSpc>
                <a:spcPct val="115000"/>
              </a:lnSpc>
              <a:spcAft>
                <a:spcPts val="1000"/>
              </a:spcAft>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Type of Customer Focused:</a:t>
            </a:r>
            <a:r>
              <a:rPr lang="en-IN" sz="2400" kern="100" dirty="0">
                <a:effectLst/>
                <a:latin typeface="Roboto" panose="02000000000000000000" pitchFamily="2" charset="0"/>
                <a:ea typeface="Roboto" panose="02000000000000000000" pitchFamily="2" charset="0"/>
                <a:cs typeface="Roboto" panose="02000000000000000000" pitchFamily="2" charset="0"/>
              </a:rPr>
              <a:t> Students, office commuters, and first-time e-bike users seeking affordability and simplicity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20158F0B-F9F7-C6D5-69A5-EAC7FC962AE1}"/>
              </a:ext>
            </a:extLst>
          </p:cNvPr>
          <p:cNvPicPr>
            <a:picLocks noChangeAspect="1"/>
          </p:cNvPicPr>
          <p:nvPr/>
        </p:nvPicPr>
        <p:blipFill>
          <a:blip r:embed="rId2">
            <a:extLst>
              <a:ext uri="{28A0092B-C50C-407E-A947-70E740481C1C}">
                <a14:useLocalDpi xmlns:a14="http://schemas.microsoft.com/office/drawing/2010/main" val="0"/>
              </a:ext>
            </a:extLst>
          </a:blip>
          <a:srcRect l="76" t="6355" r="-76" b="39879"/>
          <a:stretch>
            <a:fillRect/>
          </a:stretch>
        </p:blipFill>
        <p:spPr>
          <a:xfrm>
            <a:off x="545123" y="3696362"/>
            <a:ext cx="7715250" cy="5530850"/>
          </a:xfrm>
          <a:prstGeom prst="rect">
            <a:avLst/>
          </a:prstGeom>
        </p:spPr>
      </p:pic>
      <p:pic>
        <p:nvPicPr>
          <p:cNvPr id="16" name="Picture 15">
            <a:extLst>
              <a:ext uri="{FF2B5EF4-FFF2-40B4-BE49-F238E27FC236}">
                <a16:creationId xmlns:a16="http://schemas.microsoft.com/office/drawing/2014/main" id="{37C7CDB4-592C-ED35-89FB-884CF6540802}"/>
              </a:ext>
            </a:extLst>
          </p:cNvPr>
          <p:cNvPicPr>
            <a:picLocks noChangeAspect="1"/>
          </p:cNvPicPr>
          <p:nvPr/>
        </p:nvPicPr>
        <p:blipFill>
          <a:blip r:embed="rId3">
            <a:extLst>
              <a:ext uri="{28A0092B-C50C-407E-A947-70E740481C1C}">
                <a14:useLocalDpi xmlns:a14="http://schemas.microsoft.com/office/drawing/2010/main" val="0"/>
              </a:ext>
            </a:extLst>
          </a:blip>
          <a:srcRect t="13914" b="24074"/>
          <a:stretch>
            <a:fillRect/>
          </a:stretch>
        </p:blipFill>
        <p:spPr>
          <a:xfrm>
            <a:off x="9448800" y="3351612"/>
            <a:ext cx="8001000" cy="6379172"/>
          </a:xfrm>
          <a:prstGeom prst="rect">
            <a:avLst/>
          </a:prstGeom>
        </p:spPr>
      </p:pic>
    </p:spTree>
    <p:extLst>
      <p:ext uri="{BB962C8B-B14F-4D97-AF65-F5344CB8AC3E}">
        <p14:creationId xmlns:p14="http://schemas.microsoft.com/office/powerpoint/2010/main" val="92644800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DBED0778-91B6-4065-7970-046CE95E30E4}"/>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491E7F2B-112F-FA2D-ED87-16581DE88E51}"/>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FB5EAF9B-C1F7-2A8D-EE90-B12DE7621ACB}"/>
              </a:ext>
            </a:extLst>
          </p:cNvPr>
          <p:cNvSpPr txBox="1"/>
          <p:nvPr/>
        </p:nvSpPr>
        <p:spPr>
          <a:xfrm>
            <a:off x="685800" y="571500"/>
            <a:ext cx="9264316" cy="769441"/>
          </a:xfrm>
          <a:prstGeom prst="rect">
            <a:avLst/>
          </a:prstGeom>
          <a:noFill/>
        </p:spPr>
        <p:txBody>
          <a:bodyPr wrap="square">
            <a:spAutoFit/>
          </a:bodyPr>
          <a:lstStyle/>
          <a:p>
            <a:r>
              <a:rPr lang="en-IN" sz="4400" b="1" dirty="0">
                <a:solidFill>
                  <a:srgbClr val="004AAD"/>
                </a:solidFill>
                <a:effectLst/>
                <a:latin typeface="League Spartan" panose="020B0604020202020204" charset="0"/>
                <a:ea typeface="Calibri" panose="020F0502020204030204" pitchFamily="34" charset="0"/>
              </a:rPr>
              <a:t>Eco-Ride X Swap (Final )</a:t>
            </a:r>
          </a:p>
        </p:txBody>
      </p:sp>
      <p:sp>
        <p:nvSpPr>
          <p:cNvPr id="7" name="TextBox 6">
            <a:extLst>
              <a:ext uri="{FF2B5EF4-FFF2-40B4-BE49-F238E27FC236}">
                <a16:creationId xmlns:a16="http://schemas.microsoft.com/office/drawing/2014/main" id="{715BE630-6D86-5612-7F4C-9D2F6BCF424D}"/>
              </a:ext>
            </a:extLst>
          </p:cNvPr>
          <p:cNvSpPr txBox="1"/>
          <p:nvPr/>
        </p:nvSpPr>
        <p:spPr>
          <a:xfrm>
            <a:off x="228600" y="1340941"/>
            <a:ext cx="17602200" cy="1765355"/>
          </a:xfrm>
          <a:prstGeom prst="rect">
            <a:avLst/>
          </a:prstGeom>
          <a:noFill/>
        </p:spPr>
        <p:txBody>
          <a:bodyPr wrap="square">
            <a:spAutoFit/>
          </a:bodyPr>
          <a:lstStyle/>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Visual Theme:</a:t>
            </a:r>
            <a:r>
              <a:rPr lang="en-IN" sz="2400" kern="100" dirty="0">
                <a:effectLst/>
                <a:latin typeface="Roboto" panose="02000000000000000000" pitchFamily="2" charset="0"/>
                <a:ea typeface="Roboto" panose="02000000000000000000" pitchFamily="2" charset="0"/>
                <a:cs typeface="Roboto" panose="02000000000000000000" pitchFamily="2" charset="0"/>
              </a:rPr>
              <a:t> Robust, industrial-tech aesthetic; modular structure with high visual weight.</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Rendering Focus:</a:t>
            </a:r>
            <a:r>
              <a:rPr lang="en-IN" sz="2400" kern="100" dirty="0">
                <a:effectLst/>
                <a:latin typeface="Roboto" panose="02000000000000000000" pitchFamily="2" charset="0"/>
                <a:ea typeface="Roboto" panose="02000000000000000000" pitchFamily="2" charset="0"/>
                <a:cs typeface="Roboto" panose="02000000000000000000" pitchFamily="2" charset="0"/>
              </a:rPr>
              <a:t> Sharp orange trims on grey frame, exposed power hub motor, battery drawer highlights.</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Key Highlight:</a:t>
            </a:r>
            <a:r>
              <a:rPr lang="en-IN" sz="2400" kern="100" dirty="0">
                <a:effectLst/>
                <a:latin typeface="Roboto" panose="02000000000000000000" pitchFamily="2" charset="0"/>
                <a:ea typeface="Roboto" panose="02000000000000000000" pitchFamily="2" charset="0"/>
                <a:cs typeface="Roboto" panose="02000000000000000000" pitchFamily="2" charset="0"/>
              </a:rPr>
              <a:t> Slide-out battery housing with ergonomic handle and locking mechanism accent band.</a:t>
            </a:r>
          </a:p>
          <a:p>
            <a:pPr marL="457200">
              <a:lnSpc>
                <a:spcPct val="115000"/>
              </a:lnSpc>
              <a:spcAft>
                <a:spcPts val="1000"/>
              </a:spcAft>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Type of Customer Focused:</a:t>
            </a:r>
            <a:r>
              <a:rPr lang="en-IN" sz="2400" kern="100" dirty="0">
                <a:effectLst/>
                <a:latin typeface="Roboto" panose="02000000000000000000" pitchFamily="2" charset="0"/>
                <a:ea typeface="Roboto" panose="02000000000000000000" pitchFamily="2" charset="0"/>
                <a:cs typeface="Roboto" panose="02000000000000000000" pitchFamily="2" charset="0"/>
              </a:rPr>
              <a:t> Delivery personnel, fleet operators, shared mobility services requiring modular reliability.</a:t>
            </a:r>
          </a:p>
        </p:txBody>
      </p:sp>
      <p:pic>
        <p:nvPicPr>
          <p:cNvPr id="9" name="Picture 8">
            <a:extLst>
              <a:ext uri="{FF2B5EF4-FFF2-40B4-BE49-F238E27FC236}">
                <a16:creationId xmlns:a16="http://schemas.microsoft.com/office/drawing/2014/main" id="{4D929113-C525-8ECA-FB18-7CCFDF96B2A2}"/>
              </a:ext>
            </a:extLst>
          </p:cNvPr>
          <p:cNvPicPr>
            <a:picLocks noChangeAspect="1"/>
          </p:cNvPicPr>
          <p:nvPr/>
        </p:nvPicPr>
        <p:blipFill>
          <a:blip r:embed="rId2">
            <a:extLst>
              <a:ext uri="{28A0092B-C50C-407E-A947-70E740481C1C}">
                <a14:useLocalDpi xmlns:a14="http://schemas.microsoft.com/office/drawing/2010/main" val="0"/>
              </a:ext>
            </a:extLst>
          </a:blip>
          <a:srcRect l="6543" t="14317" r="8272" b="17015"/>
          <a:stretch>
            <a:fillRect/>
          </a:stretch>
        </p:blipFill>
        <p:spPr>
          <a:xfrm>
            <a:off x="914400" y="3695700"/>
            <a:ext cx="6572250" cy="5499681"/>
          </a:xfrm>
          <a:prstGeom prst="rect">
            <a:avLst/>
          </a:prstGeom>
        </p:spPr>
      </p:pic>
      <p:pic>
        <p:nvPicPr>
          <p:cNvPr id="11" name="Picture 10">
            <a:extLst>
              <a:ext uri="{FF2B5EF4-FFF2-40B4-BE49-F238E27FC236}">
                <a16:creationId xmlns:a16="http://schemas.microsoft.com/office/drawing/2014/main" id="{EE36161C-A2C1-09CF-2B9A-9E1049827065}"/>
              </a:ext>
            </a:extLst>
          </p:cNvPr>
          <p:cNvPicPr>
            <a:picLocks noChangeAspect="1"/>
          </p:cNvPicPr>
          <p:nvPr/>
        </p:nvPicPr>
        <p:blipFill>
          <a:blip r:embed="rId3">
            <a:extLst>
              <a:ext uri="{28A0092B-C50C-407E-A947-70E740481C1C}">
                <a14:useLocalDpi xmlns:a14="http://schemas.microsoft.com/office/drawing/2010/main" val="0"/>
              </a:ext>
            </a:extLst>
          </a:blip>
          <a:srcRect l="31" t="16901" r="-31" b="20876"/>
          <a:stretch>
            <a:fillRect/>
          </a:stretch>
        </p:blipFill>
        <p:spPr>
          <a:xfrm>
            <a:off x="8763000" y="3505650"/>
            <a:ext cx="7506730" cy="5822849"/>
          </a:xfrm>
          <a:prstGeom prst="rect">
            <a:avLst/>
          </a:prstGeom>
        </p:spPr>
      </p:pic>
    </p:spTree>
    <p:extLst>
      <p:ext uri="{BB962C8B-B14F-4D97-AF65-F5344CB8AC3E}">
        <p14:creationId xmlns:p14="http://schemas.microsoft.com/office/powerpoint/2010/main" val="190175066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C5685F82-08D5-455C-3989-3D61C5443D8B}"/>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B5FD83AF-235F-39A5-090A-78DBF5F17E5A}"/>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6E949A43-AEF9-B17F-3F4A-8C8A69A34ABC}"/>
              </a:ext>
            </a:extLst>
          </p:cNvPr>
          <p:cNvSpPr txBox="1"/>
          <p:nvPr/>
        </p:nvSpPr>
        <p:spPr>
          <a:xfrm>
            <a:off x="457200" y="260710"/>
            <a:ext cx="9264316" cy="845616"/>
          </a:xfrm>
          <a:prstGeom prst="rect">
            <a:avLst/>
          </a:prstGeom>
          <a:noFill/>
        </p:spPr>
        <p:txBody>
          <a:bodyPr wrap="square">
            <a:spAutoFit/>
          </a:bodyPr>
          <a:lstStyle/>
          <a:p>
            <a:pPr lvl="0">
              <a:lnSpc>
                <a:spcPct val="115000"/>
              </a:lnSpc>
              <a:spcAft>
                <a:spcPts val="1000"/>
              </a:spcAft>
            </a:pPr>
            <a:r>
              <a:rPr lang="en-IN" sz="44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Eco-Ride Fold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5566DFE-3B91-896D-9DBB-EC3A6E1560D7}"/>
              </a:ext>
            </a:extLst>
          </p:cNvPr>
          <p:cNvSpPr txBox="1"/>
          <p:nvPr/>
        </p:nvSpPr>
        <p:spPr>
          <a:xfrm>
            <a:off x="468923" y="1196738"/>
            <a:ext cx="17590015" cy="1569660"/>
          </a:xfrm>
          <a:prstGeom prst="rect">
            <a:avLst/>
          </a:prstGeom>
          <a:noFill/>
        </p:spPr>
        <p:txBody>
          <a:bodyPr wrap="square">
            <a:spAutoFit/>
          </a:bodyPr>
          <a:lstStyle/>
          <a:p>
            <a:r>
              <a:rPr lang="en-IN" sz="2400" b="1" dirty="0">
                <a:latin typeface="Roboto" panose="02000000000000000000" pitchFamily="2" charset="0"/>
                <a:ea typeface="Roboto" panose="02000000000000000000" pitchFamily="2" charset="0"/>
                <a:cs typeface="Roboto" panose="02000000000000000000" pitchFamily="2" charset="0"/>
              </a:rPr>
              <a:t>Visual Theme:</a:t>
            </a:r>
            <a:r>
              <a:rPr lang="en-IN" sz="2400" dirty="0">
                <a:latin typeface="Roboto" panose="02000000000000000000" pitchFamily="2" charset="0"/>
                <a:ea typeface="Roboto" panose="02000000000000000000" pitchFamily="2" charset="0"/>
                <a:cs typeface="Roboto" panose="02000000000000000000" pitchFamily="2" charset="0"/>
              </a:rPr>
              <a:t> Urban compactness and playful minimalism; design expresses mobility and portability.</a:t>
            </a:r>
          </a:p>
          <a:p>
            <a:r>
              <a:rPr lang="en-IN" sz="2400" b="1" dirty="0">
                <a:latin typeface="Roboto" panose="02000000000000000000" pitchFamily="2" charset="0"/>
                <a:ea typeface="Roboto" panose="02000000000000000000" pitchFamily="2" charset="0"/>
                <a:cs typeface="Roboto" panose="02000000000000000000" pitchFamily="2" charset="0"/>
              </a:rPr>
              <a:t>Rendering Focus:</a:t>
            </a:r>
            <a:r>
              <a:rPr lang="en-IN" sz="2400" dirty="0">
                <a:latin typeface="Roboto" panose="02000000000000000000" pitchFamily="2" charset="0"/>
                <a:ea typeface="Roboto" panose="02000000000000000000" pitchFamily="2" charset="0"/>
                <a:cs typeface="Roboto" panose="02000000000000000000" pitchFamily="2" charset="0"/>
              </a:rPr>
              <a:t> Diagonal folding line, smooth hinge joints, bright youthful </a:t>
            </a:r>
            <a:r>
              <a:rPr lang="en-IN" sz="2400" dirty="0" err="1">
                <a:latin typeface="Roboto" panose="02000000000000000000" pitchFamily="2" charset="0"/>
                <a:ea typeface="Roboto" panose="02000000000000000000" pitchFamily="2" charset="0"/>
                <a:cs typeface="Roboto" panose="02000000000000000000" pitchFamily="2" charset="0"/>
              </a:rPr>
              <a:t>colors</a:t>
            </a:r>
            <a:r>
              <a:rPr lang="en-IN" sz="2400" dirty="0">
                <a:latin typeface="Roboto" panose="02000000000000000000" pitchFamily="2" charset="0"/>
                <a:ea typeface="Roboto" panose="02000000000000000000" pitchFamily="2" charset="0"/>
                <a:cs typeface="Roboto" panose="02000000000000000000" pitchFamily="2" charset="0"/>
              </a:rPr>
              <a:t> (lime/blue).</a:t>
            </a:r>
          </a:p>
          <a:p>
            <a:r>
              <a:rPr lang="en-IN" sz="2400" b="1" dirty="0">
                <a:latin typeface="Roboto" panose="02000000000000000000" pitchFamily="2" charset="0"/>
                <a:ea typeface="Roboto" panose="02000000000000000000" pitchFamily="2" charset="0"/>
                <a:cs typeface="Roboto" panose="02000000000000000000" pitchFamily="2" charset="0"/>
              </a:rPr>
              <a:t>Key Highlight:</a:t>
            </a:r>
            <a:r>
              <a:rPr lang="en-IN" sz="2400" dirty="0">
                <a:latin typeface="Roboto" panose="02000000000000000000" pitchFamily="2" charset="0"/>
                <a:ea typeface="Roboto" panose="02000000000000000000" pitchFamily="2" charset="0"/>
                <a:cs typeface="Roboto" panose="02000000000000000000" pitchFamily="2" charset="0"/>
              </a:rPr>
              <a:t> Hidden fold mechanism under continuous body curve with compact folded stance.</a:t>
            </a:r>
          </a:p>
          <a:p>
            <a:r>
              <a:rPr lang="en-IN" sz="2400" b="1" dirty="0">
                <a:latin typeface="Roboto" panose="02000000000000000000" pitchFamily="2" charset="0"/>
                <a:ea typeface="Roboto" panose="02000000000000000000" pitchFamily="2" charset="0"/>
                <a:cs typeface="Roboto" panose="02000000000000000000" pitchFamily="2" charset="0"/>
              </a:rPr>
              <a:t>Type of Customer Focused:</a:t>
            </a:r>
            <a:r>
              <a:rPr lang="en-IN" sz="2400" dirty="0">
                <a:latin typeface="Roboto" panose="02000000000000000000" pitchFamily="2" charset="0"/>
                <a:ea typeface="Roboto" panose="02000000000000000000" pitchFamily="2" charset="0"/>
                <a:cs typeface="Roboto" panose="02000000000000000000" pitchFamily="2" charset="0"/>
              </a:rPr>
              <a:t> Apartment dwellers, metro commuters, and young professionals needing portable transport</a:t>
            </a:r>
            <a:endParaRPr lang="en-IN" sz="2400" kern="100" dirty="0">
              <a:effectLst/>
              <a:latin typeface="Roboto" panose="02000000000000000000" pitchFamily="2" charset="0"/>
              <a:ea typeface="Roboto" panose="02000000000000000000" pitchFamily="2" charset="0"/>
              <a:cs typeface="Roboto" panose="02000000000000000000" pitchFamily="2" charset="0"/>
            </a:endParaRPr>
          </a:p>
        </p:txBody>
      </p:sp>
      <p:pic>
        <p:nvPicPr>
          <p:cNvPr id="9" name="Picture 8">
            <a:extLst>
              <a:ext uri="{FF2B5EF4-FFF2-40B4-BE49-F238E27FC236}">
                <a16:creationId xmlns:a16="http://schemas.microsoft.com/office/drawing/2014/main" id="{CE19D3B7-ECAA-C4A3-E5A4-75412294D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508" y="3157777"/>
            <a:ext cx="8372475" cy="6254896"/>
          </a:xfrm>
          <a:prstGeom prst="rect">
            <a:avLst/>
          </a:prstGeom>
        </p:spPr>
      </p:pic>
      <p:pic>
        <p:nvPicPr>
          <p:cNvPr id="11" name="Picture 10">
            <a:extLst>
              <a:ext uri="{FF2B5EF4-FFF2-40B4-BE49-F238E27FC236}">
                <a16:creationId xmlns:a16="http://schemas.microsoft.com/office/drawing/2014/main" id="{E1DD21E5-1E0A-3121-B047-CAE9A75545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019" y="3081578"/>
            <a:ext cx="7848600" cy="6530314"/>
          </a:xfrm>
          <a:prstGeom prst="rect">
            <a:avLst/>
          </a:prstGeom>
        </p:spPr>
      </p:pic>
    </p:spTree>
    <p:extLst>
      <p:ext uri="{BB962C8B-B14F-4D97-AF65-F5344CB8AC3E}">
        <p14:creationId xmlns:p14="http://schemas.microsoft.com/office/powerpoint/2010/main" val="314065209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702077A4-10AC-D060-F29A-9DFB763301A9}"/>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69AEA9D4-9999-177B-6656-D504826A76F2}"/>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C49E3E49-FCF9-929A-3426-350CC10FF60E}"/>
              </a:ext>
            </a:extLst>
          </p:cNvPr>
          <p:cNvSpPr txBox="1"/>
          <p:nvPr/>
        </p:nvSpPr>
        <p:spPr>
          <a:xfrm>
            <a:off x="685800" y="270724"/>
            <a:ext cx="9264316" cy="769441"/>
          </a:xfrm>
          <a:prstGeom prst="rect">
            <a:avLst/>
          </a:prstGeom>
          <a:noFill/>
        </p:spPr>
        <p:txBody>
          <a:bodyPr wrap="square">
            <a:spAutoFit/>
          </a:bodyPr>
          <a:lstStyle/>
          <a:p>
            <a:r>
              <a:rPr lang="en-IN" sz="4400" b="1" dirty="0">
                <a:solidFill>
                  <a:srgbClr val="004AAD"/>
                </a:solidFill>
                <a:effectLst/>
                <a:latin typeface="League Spartan" panose="020B0604020202020204" charset="0"/>
                <a:ea typeface="Calibri" panose="020F0502020204030204" pitchFamily="34" charset="0"/>
              </a:rPr>
              <a:t>Eco-Ride Cargo</a:t>
            </a:r>
            <a:endParaRPr lang="en-IN" sz="4400" dirty="0">
              <a:solidFill>
                <a:srgbClr val="004AAD"/>
              </a:solidFill>
              <a:latin typeface="League Spartan" panose="020B0604020202020204" charset="0"/>
            </a:endParaRPr>
          </a:p>
        </p:txBody>
      </p:sp>
      <p:sp>
        <p:nvSpPr>
          <p:cNvPr id="7" name="TextBox 6">
            <a:extLst>
              <a:ext uri="{FF2B5EF4-FFF2-40B4-BE49-F238E27FC236}">
                <a16:creationId xmlns:a16="http://schemas.microsoft.com/office/drawing/2014/main" id="{378A8E8A-CE5D-D393-9A25-2F0A96512B70}"/>
              </a:ext>
            </a:extLst>
          </p:cNvPr>
          <p:cNvSpPr txBox="1"/>
          <p:nvPr/>
        </p:nvSpPr>
        <p:spPr>
          <a:xfrm>
            <a:off x="685800" y="1130577"/>
            <a:ext cx="17068800" cy="1765355"/>
          </a:xfrm>
          <a:prstGeom prst="rect">
            <a:avLst/>
          </a:prstGeom>
          <a:noFill/>
        </p:spPr>
        <p:txBody>
          <a:bodyPr wrap="square">
            <a:spAutoFit/>
          </a:bodyPr>
          <a:lstStyle/>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Visual Theme:</a:t>
            </a:r>
            <a:r>
              <a:rPr lang="en-IN" sz="2400" kern="100" dirty="0">
                <a:effectLst/>
                <a:latin typeface="Roboto" panose="02000000000000000000" pitchFamily="2" charset="0"/>
                <a:ea typeface="Roboto" panose="02000000000000000000" pitchFamily="2" charset="0"/>
                <a:cs typeface="Roboto" panose="02000000000000000000" pitchFamily="2" charset="0"/>
              </a:rPr>
              <a:t> Functional power; heavy-duty character with balanced proportions and stability.</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Rendering Focus:</a:t>
            </a:r>
            <a:r>
              <a:rPr lang="en-IN" sz="2400" kern="100" dirty="0">
                <a:effectLst/>
                <a:latin typeface="Roboto" panose="02000000000000000000" pitchFamily="2" charset="0"/>
                <a:ea typeface="Roboto" panose="02000000000000000000" pitchFamily="2" charset="0"/>
                <a:cs typeface="Roboto" panose="02000000000000000000" pitchFamily="2" charset="0"/>
              </a:rPr>
              <a:t> Strong frame lines, extended rear section, dual-disc brakes, matte black industrial texture.</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Key Highlight:</a:t>
            </a:r>
            <a:r>
              <a:rPr lang="en-IN" sz="2400" kern="100" dirty="0">
                <a:effectLst/>
                <a:latin typeface="Roboto" panose="02000000000000000000" pitchFamily="2" charset="0"/>
                <a:ea typeface="Roboto" panose="02000000000000000000" pitchFamily="2" charset="0"/>
                <a:cs typeface="Roboto" panose="02000000000000000000" pitchFamily="2" charset="0"/>
              </a:rPr>
              <a:t> Reinforced aluminium frame with detachable FRP cargo box and integrated LED tail line.</a:t>
            </a:r>
          </a:p>
          <a:p>
            <a:pPr marL="457200">
              <a:lnSpc>
                <a:spcPct val="115000"/>
              </a:lnSpc>
              <a:spcAft>
                <a:spcPts val="1000"/>
              </a:spcAft>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Type of Customer Focused:</a:t>
            </a:r>
            <a:r>
              <a:rPr lang="en-IN" sz="2400" kern="100" dirty="0">
                <a:effectLst/>
                <a:latin typeface="Roboto" panose="02000000000000000000" pitchFamily="2" charset="0"/>
                <a:ea typeface="Roboto" panose="02000000000000000000" pitchFamily="2" charset="0"/>
                <a:cs typeface="Roboto" panose="02000000000000000000" pitchFamily="2" charset="0"/>
              </a:rPr>
              <a:t> Small business owners, campus transport, delivery workers, and logistic operators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2103217C-8EC5-01E6-6AEA-C3F122C09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766886"/>
            <a:ext cx="9280358" cy="5095875"/>
          </a:xfrm>
          <a:prstGeom prst="rect">
            <a:avLst/>
          </a:prstGeom>
        </p:spPr>
      </p:pic>
      <p:pic>
        <p:nvPicPr>
          <p:cNvPr id="11" name="Picture 10">
            <a:extLst>
              <a:ext uri="{FF2B5EF4-FFF2-40B4-BE49-F238E27FC236}">
                <a16:creationId xmlns:a16="http://schemas.microsoft.com/office/drawing/2014/main" id="{AE2A2A54-59F7-C720-567A-359B6997B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0116" y="3467100"/>
            <a:ext cx="7506730" cy="5689323"/>
          </a:xfrm>
          <a:prstGeom prst="rect">
            <a:avLst/>
          </a:prstGeom>
        </p:spPr>
      </p:pic>
    </p:spTree>
    <p:extLst>
      <p:ext uri="{BB962C8B-B14F-4D97-AF65-F5344CB8AC3E}">
        <p14:creationId xmlns:p14="http://schemas.microsoft.com/office/powerpoint/2010/main" val="390610748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D14F8-3625-4EBD-6C58-7A746673366F}"/>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39E82DB5-8B6F-986E-52D7-6219EE1121C6}"/>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81FABA23-945E-CD7B-D6AA-5DB682A400BF}"/>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449DB4B2-73A9-B6F6-E303-3BBF8692F20A}"/>
              </a:ext>
            </a:extLst>
          </p:cNvPr>
          <p:cNvSpPr txBox="1"/>
          <p:nvPr/>
        </p:nvSpPr>
        <p:spPr>
          <a:xfrm>
            <a:off x="838200" y="298797"/>
            <a:ext cx="9264316" cy="769441"/>
          </a:xfrm>
          <a:prstGeom prst="rect">
            <a:avLst/>
          </a:prstGeom>
          <a:noFill/>
        </p:spPr>
        <p:txBody>
          <a:bodyPr wrap="square">
            <a:spAutoFit/>
          </a:bodyPr>
          <a:lstStyle/>
          <a:p>
            <a:r>
              <a:rPr lang="en-IN" sz="4400" b="1" dirty="0">
                <a:solidFill>
                  <a:srgbClr val="004AAD"/>
                </a:solidFill>
                <a:effectLst/>
                <a:latin typeface="League Spartan" panose="020B0604020202020204" charset="0"/>
                <a:ea typeface="Calibri" panose="020F0502020204030204" pitchFamily="34" charset="0"/>
              </a:rPr>
              <a:t>Eco-Ride R Sport</a:t>
            </a:r>
            <a:endParaRPr lang="en-IN" sz="4400" dirty="0">
              <a:solidFill>
                <a:srgbClr val="004AAD"/>
              </a:solidFill>
              <a:latin typeface="League Spartan" panose="020B0604020202020204" charset="0"/>
            </a:endParaRPr>
          </a:p>
        </p:txBody>
      </p:sp>
      <p:sp>
        <p:nvSpPr>
          <p:cNvPr id="7" name="TextBox 6">
            <a:extLst>
              <a:ext uri="{FF2B5EF4-FFF2-40B4-BE49-F238E27FC236}">
                <a16:creationId xmlns:a16="http://schemas.microsoft.com/office/drawing/2014/main" id="{3277DF09-2020-8394-99F0-9705AB9347B0}"/>
              </a:ext>
            </a:extLst>
          </p:cNvPr>
          <p:cNvSpPr txBox="1"/>
          <p:nvPr/>
        </p:nvSpPr>
        <p:spPr>
          <a:xfrm>
            <a:off x="457200" y="1034149"/>
            <a:ext cx="17602200" cy="1765355"/>
          </a:xfrm>
          <a:prstGeom prst="rect">
            <a:avLst/>
          </a:prstGeom>
          <a:noFill/>
        </p:spPr>
        <p:txBody>
          <a:bodyPr wrap="square">
            <a:spAutoFit/>
          </a:bodyPr>
          <a:lstStyle/>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Visual Theme</a:t>
            </a:r>
            <a:r>
              <a:rPr lang="en-IN" sz="2400" kern="100" dirty="0">
                <a:effectLst/>
                <a:latin typeface="Roboto" panose="02000000000000000000" pitchFamily="2" charset="0"/>
                <a:ea typeface="Roboto" panose="02000000000000000000" pitchFamily="2" charset="0"/>
                <a:cs typeface="Roboto" panose="02000000000000000000" pitchFamily="2" charset="0"/>
              </a:rPr>
              <a:t>: Futuristic sport aesthetic with aerodynamic surfaces and racing-inspired stance.</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Rendering Focus:</a:t>
            </a:r>
            <a:r>
              <a:rPr lang="en-IN" sz="2400" kern="100" dirty="0">
                <a:effectLst/>
                <a:latin typeface="Roboto" panose="02000000000000000000" pitchFamily="2" charset="0"/>
                <a:ea typeface="Roboto" panose="02000000000000000000" pitchFamily="2" charset="0"/>
                <a:cs typeface="Roboto" panose="02000000000000000000" pitchFamily="2" charset="0"/>
              </a:rPr>
              <a:t> Carbon-</a:t>
            </a:r>
            <a:r>
              <a:rPr lang="en-IN" sz="2400" kern="100" dirty="0" err="1">
                <a:effectLst/>
                <a:latin typeface="Roboto" panose="02000000000000000000" pitchFamily="2" charset="0"/>
                <a:ea typeface="Roboto" panose="02000000000000000000" pitchFamily="2" charset="0"/>
                <a:cs typeface="Roboto" panose="02000000000000000000" pitchFamily="2" charset="0"/>
              </a:rPr>
              <a:t>fiber</a:t>
            </a:r>
            <a:r>
              <a:rPr lang="en-IN" sz="2400" kern="100" dirty="0">
                <a:effectLst/>
                <a:latin typeface="Roboto" panose="02000000000000000000" pitchFamily="2" charset="0"/>
                <a:ea typeface="Roboto" panose="02000000000000000000" pitchFamily="2" charset="0"/>
                <a:cs typeface="Roboto" panose="02000000000000000000" pitchFamily="2" charset="0"/>
              </a:rPr>
              <a:t> texture, red gloss accents, LED edge strips, muscular mid-drive zone.</a:t>
            </a:r>
          </a:p>
          <a:p>
            <a:pPr marL="457200">
              <a:lnSpc>
                <a:spcPct val="115000"/>
              </a:lnSpc>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Key Highlight</a:t>
            </a:r>
            <a:r>
              <a:rPr lang="en-IN" sz="2400" kern="100" dirty="0">
                <a:effectLst/>
                <a:latin typeface="Roboto" panose="02000000000000000000" pitchFamily="2" charset="0"/>
                <a:ea typeface="Roboto" panose="02000000000000000000" pitchFamily="2" charset="0"/>
                <a:cs typeface="Roboto" panose="02000000000000000000" pitchFamily="2" charset="0"/>
              </a:rPr>
              <a:t>: Mid-drive BLDC motor with illuminated logo band and aggressive frame geometry.</a:t>
            </a:r>
          </a:p>
          <a:p>
            <a:pPr marL="457200">
              <a:lnSpc>
                <a:spcPct val="115000"/>
              </a:lnSpc>
              <a:spcAft>
                <a:spcPts val="1000"/>
              </a:spcAft>
              <a:buNone/>
            </a:pPr>
            <a:r>
              <a:rPr lang="en-IN" sz="2400" b="1" kern="100" dirty="0">
                <a:effectLst/>
                <a:latin typeface="Roboto" panose="02000000000000000000" pitchFamily="2" charset="0"/>
                <a:ea typeface="Roboto" panose="02000000000000000000" pitchFamily="2" charset="0"/>
                <a:cs typeface="Roboto" panose="02000000000000000000" pitchFamily="2" charset="0"/>
              </a:rPr>
              <a:t>Type of Customer Focused:</a:t>
            </a:r>
            <a:r>
              <a:rPr lang="en-IN" sz="2400" kern="100" dirty="0">
                <a:effectLst/>
                <a:latin typeface="Roboto" panose="02000000000000000000" pitchFamily="2" charset="0"/>
                <a:ea typeface="Roboto" panose="02000000000000000000" pitchFamily="2" charset="0"/>
                <a:cs typeface="Roboto" panose="02000000000000000000" pitchFamily="2" charset="0"/>
              </a:rPr>
              <a:t> Enthusiasts, fitness riders, and premium segment users valuing performance and tech styling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367217BA-DA0D-D496-CCD7-38C8F1D92270}"/>
              </a:ext>
            </a:extLst>
          </p:cNvPr>
          <p:cNvPicPr>
            <a:picLocks noChangeAspect="1"/>
          </p:cNvPicPr>
          <p:nvPr/>
        </p:nvPicPr>
        <p:blipFill>
          <a:blip r:embed="rId2">
            <a:extLst>
              <a:ext uri="{28A0092B-C50C-407E-A947-70E740481C1C}">
                <a14:useLocalDpi xmlns:a14="http://schemas.microsoft.com/office/drawing/2010/main" val="0"/>
              </a:ext>
            </a:extLst>
          </a:blip>
          <a:srcRect l="7854"/>
          <a:stretch>
            <a:fillRect/>
          </a:stretch>
        </p:blipFill>
        <p:spPr>
          <a:xfrm>
            <a:off x="410309" y="3514341"/>
            <a:ext cx="9343292" cy="4928106"/>
          </a:xfrm>
          <a:prstGeom prst="rect">
            <a:avLst/>
          </a:prstGeom>
        </p:spPr>
      </p:pic>
      <p:pic>
        <p:nvPicPr>
          <p:cNvPr id="11" name="Picture 10">
            <a:extLst>
              <a:ext uri="{FF2B5EF4-FFF2-40B4-BE49-F238E27FC236}">
                <a16:creationId xmlns:a16="http://schemas.microsoft.com/office/drawing/2014/main" id="{4780D91A-ACDF-64EF-7651-989E23FDCD7D}"/>
              </a:ext>
            </a:extLst>
          </p:cNvPr>
          <p:cNvPicPr>
            <a:picLocks noChangeAspect="1"/>
          </p:cNvPicPr>
          <p:nvPr/>
        </p:nvPicPr>
        <p:blipFill>
          <a:blip r:embed="rId3">
            <a:extLst>
              <a:ext uri="{28A0092B-C50C-407E-A947-70E740481C1C}">
                <a14:useLocalDpi xmlns:a14="http://schemas.microsoft.com/office/drawing/2010/main" val="0"/>
              </a:ext>
            </a:extLst>
          </a:blip>
          <a:srcRect l="9283" r="10345"/>
          <a:stretch>
            <a:fillRect/>
          </a:stretch>
        </p:blipFill>
        <p:spPr>
          <a:xfrm>
            <a:off x="9753602" y="3534856"/>
            <a:ext cx="8305798" cy="4998003"/>
          </a:xfrm>
          <a:prstGeom prst="rect">
            <a:avLst/>
          </a:prstGeom>
        </p:spPr>
      </p:pic>
    </p:spTree>
    <p:extLst>
      <p:ext uri="{BB962C8B-B14F-4D97-AF65-F5344CB8AC3E}">
        <p14:creationId xmlns:p14="http://schemas.microsoft.com/office/powerpoint/2010/main" val="49863994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70FA-AB93-991B-2284-22C997D36992}"/>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DD86BC57-180D-2972-CC4D-037A4CC17968}"/>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F288E493-9E1C-02FA-2745-6CA806EA7DF2}"/>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7" name="TextBox 6">
            <a:extLst>
              <a:ext uri="{FF2B5EF4-FFF2-40B4-BE49-F238E27FC236}">
                <a16:creationId xmlns:a16="http://schemas.microsoft.com/office/drawing/2014/main" id="{C2000F64-2164-7787-A31F-C8A58187232E}"/>
              </a:ext>
            </a:extLst>
          </p:cNvPr>
          <p:cNvSpPr txBox="1"/>
          <p:nvPr/>
        </p:nvSpPr>
        <p:spPr>
          <a:xfrm>
            <a:off x="228600" y="1333500"/>
            <a:ext cx="15468600" cy="777136"/>
          </a:xfrm>
          <a:prstGeom prst="rect">
            <a:avLst/>
          </a:prstGeom>
          <a:noFill/>
        </p:spPr>
        <p:txBody>
          <a:bodyPr wrap="square">
            <a:spAutoFit/>
          </a:bodyPr>
          <a:lstStyle/>
          <a:p>
            <a:pPr>
              <a:lnSpc>
                <a:spcPct val="115000"/>
              </a:lnSpc>
              <a:spcAft>
                <a:spcPts val="1000"/>
              </a:spcAft>
              <a:buNone/>
            </a:pPr>
            <a:r>
              <a:rPr lang="en-IN" sz="40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Comparative Summary of Aesthetic Focus</a:t>
            </a:r>
            <a:endParaRPr lang="en-IN" sz="40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D01F6E2-508A-CC57-133A-4CD5F5CFE163}"/>
              </a:ext>
            </a:extLst>
          </p:cNvPr>
          <p:cNvGraphicFramePr>
            <a:graphicFrameLocks noGrp="1"/>
          </p:cNvGraphicFramePr>
          <p:nvPr>
            <p:extLst>
              <p:ext uri="{D42A27DB-BD31-4B8C-83A1-F6EECF244321}">
                <p14:modId xmlns:p14="http://schemas.microsoft.com/office/powerpoint/2010/main" val="1714503269"/>
              </p:ext>
            </p:extLst>
          </p:nvPr>
        </p:nvGraphicFramePr>
        <p:xfrm>
          <a:off x="914400" y="2746278"/>
          <a:ext cx="9601198" cy="4478658"/>
        </p:xfrm>
        <a:graphic>
          <a:graphicData uri="http://schemas.openxmlformats.org/drawingml/2006/table">
            <a:tbl>
              <a:tblPr firstRow="1" firstCol="1" bandRow="1">
                <a:tableStyleId>{5C22544A-7EE6-4342-B048-85BDC9FD1C3A}</a:tableStyleId>
              </a:tblPr>
              <a:tblGrid>
                <a:gridCol w="1948769">
                  <a:extLst>
                    <a:ext uri="{9D8B030D-6E8A-4147-A177-3AD203B41FA5}">
                      <a16:colId xmlns:a16="http://schemas.microsoft.com/office/drawing/2014/main" val="215608083"/>
                    </a:ext>
                  </a:extLst>
                </a:gridCol>
                <a:gridCol w="1363919">
                  <a:extLst>
                    <a:ext uri="{9D8B030D-6E8A-4147-A177-3AD203B41FA5}">
                      <a16:colId xmlns:a16="http://schemas.microsoft.com/office/drawing/2014/main" val="3685661679"/>
                    </a:ext>
                  </a:extLst>
                </a:gridCol>
                <a:gridCol w="1876348">
                  <a:extLst>
                    <a:ext uri="{9D8B030D-6E8A-4147-A177-3AD203B41FA5}">
                      <a16:colId xmlns:a16="http://schemas.microsoft.com/office/drawing/2014/main" val="1234472314"/>
                    </a:ext>
                  </a:extLst>
                </a:gridCol>
                <a:gridCol w="1261872">
                  <a:extLst>
                    <a:ext uri="{9D8B030D-6E8A-4147-A177-3AD203B41FA5}">
                      <a16:colId xmlns:a16="http://schemas.microsoft.com/office/drawing/2014/main" val="789398237"/>
                    </a:ext>
                  </a:extLst>
                </a:gridCol>
                <a:gridCol w="1459382">
                  <a:extLst>
                    <a:ext uri="{9D8B030D-6E8A-4147-A177-3AD203B41FA5}">
                      <a16:colId xmlns:a16="http://schemas.microsoft.com/office/drawing/2014/main" val="560166544"/>
                    </a:ext>
                  </a:extLst>
                </a:gridCol>
                <a:gridCol w="1690908">
                  <a:extLst>
                    <a:ext uri="{9D8B030D-6E8A-4147-A177-3AD203B41FA5}">
                      <a16:colId xmlns:a16="http://schemas.microsoft.com/office/drawing/2014/main" val="1982396769"/>
                    </a:ext>
                  </a:extLst>
                </a:gridCol>
              </a:tblGrid>
              <a:tr h="0">
                <a:tc>
                  <a:txBody>
                    <a:bodyPr/>
                    <a:lstStyle/>
                    <a:p>
                      <a:pPr>
                        <a:lnSpc>
                          <a:spcPct val="115000"/>
                        </a:lnSpc>
                        <a:spcAft>
                          <a:spcPts val="1000"/>
                        </a:spcAft>
                        <a:buNone/>
                      </a:pPr>
                      <a:r>
                        <a:rPr lang="en-IN" sz="2400" kern="100">
                          <a:effectLst/>
                        </a:rPr>
                        <a:t>Design Attribute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C1</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C2</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C3</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C4</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C5</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43915471"/>
                  </a:ext>
                </a:extLst>
              </a:tr>
              <a:tr h="0">
                <a:tc>
                  <a:txBody>
                    <a:bodyPr/>
                    <a:lstStyle/>
                    <a:p>
                      <a:pPr>
                        <a:lnSpc>
                          <a:spcPct val="115000"/>
                        </a:lnSpc>
                        <a:spcAft>
                          <a:spcPts val="1000"/>
                        </a:spcAft>
                        <a:buNone/>
                      </a:pPr>
                      <a:r>
                        <a:rPr lang="en-IN" sz="2400" kern="100">
                          <a:effectLst/>
                        </a:rPr>
                        <a:t>Proportion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2882232"/>
                  </a:ext>
                </a:extLst>
              </a:tr>
              <a:tr h="0">
                <a:tc>
                  <a:txBody>
                    <a:bodyPr/>
                    <a:lstStyle/>
                    <a:p>
                      <a:pPr>
                        <a:lnSpc>
                          <a:spcPct val="115000"/>
                        </a:lnSpc>
                        <a:spcAft>
                          <a:spcPts val="1000"/>
                        </a:spcAft>
                        <a:buNone/>
                      </a:pPr>
                      <a:r>
                        <a:rPr lang="en-IN" sz="2400" kern="100">
                          <a:effectLst/>
                        </a:rPr>
                        <a:t>Contrast &amp; Color Depth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Very 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008747"/>
                  </a:ext>
                </a:extLst>
              </a:tr>
              <a:tr h="0">
                <a:tc>
                  <a:txBody>
                    <a:bodyPr/>
                    <a:lstStyle/>
                    <a:p>
                      <a:pPr>
                        <a:lnSpc>
                          <a:spcPct val="115000"/>
                        </a:lnSpc>
                        <a:spcAft>
                          <a:spcPts val="1000"/>
                        </a:spcAft>
                        <a:buNone/>
                      </a:pPr>
                      <a:r>
                        <a:rPr lang="en-IN" sz="2400" kern="100">
                          <a:effectLst/>
                        </a:rPr>
                        <a:t>Form Complexity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Low</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High</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0661447"/>
                  </a:ext>
                </a:extLst>
              </a:tr>
              <a:tr h="0">
                <a:tc>
                  <a:txBody>
                    <a:bodyPr/>
                    <a:lstStyle/>
                    <a:p>
                      <a:pPr>
                        <a:lnSpc>
                          <a:spcPct val="115000"/>
                        </a:lnSpc>
                        <a:spcAft>
                          <a:spcPts val="1000"/>
                        </a:spcAft>
                        <a:buNone/>
                      </a:pPr>
                      <a:r>
                        <a:rPr lang="en-IN" sz="2400" kern="100">
                          <a:effectLst/>
                        </a:rPr>
                        <a:t>Visual Weight Balance</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Excellent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Excellent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Strong</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Strong</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Excellent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4032029"/>
                  </a:ext>
                </a:extLst>
              </a:tr>
              <a:tr h="0">
                <a:tc>
                  <a:txBody>
                    <a:bodyPr/>
                    <a:lstStyle/>
                    <a:p>
                      <a:pPr>
                        <a:lnSpc>
                          <a:spcPct val="115000"/>
                        </a:lnSpc>
                        <a:spcAft>
                          <a:spcPts val="1000"/>
                        </a:spcAft>
                        <a:buNone/>
                      </a:pPr>
                      <a:r>
                        <a:rPr lang="en-IN" sz="2400" kern="100">
                          <a:effectLst/>
                        </a:rPr>
                        <a:t>Market Appeal</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Medium</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Fleet / Smart</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Urban</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a:effectLst/>
                        </a:rPr>
                        <a:t>Utility</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2400" kern="100" dirty="0">
                          <a:effectLst/>
                        </a:rPr>
                        <a:t>Premium Flagship</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4324837"/>
                  </a:ext>
                </a:extLst>
              </a:tr>
            </a:tbl>
          </a:graphicData>
        </a:graphic>
      </p:graphicFrame>
    </p:spTree>
    <p:extLst>
      <p:ext uri="{BB962C8B-B14F-4D97-AF65-F5344CB8AC3E}">
        <p14:creationId xmlns:p14="http://schemas.microsoft.com/office/powerpoint/2010/main" val="397613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56EB-AC8E-1FDA-9BD9-1C43D3EA46D4}"/>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302EDAB8-7627-E4B7-591F-255585E9FFCC}"/>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B2BBC657-4765-E10D-C68E-93C04F7324D5}"/>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A2B3EE8D-3368-2F77-451B-6B14170BBD28}"/>
              </a:ext>
            </a:extLst>
          </p:cNvPr>
          <p:cNvSpPr txBox="1"/>
          <p:nvPr/>
        </p:nvSpPr>
        <p:spPr>
          <a:xfrm>
            <a:off x="-120162" y="233227"/>
            <a:ext cx="9264316" cy="708656"/>
          </a:xfrm>
          <a:prstGeom prst="rect">
            <a:avLst/>
          </a:prstGeom>
          <a:noFill/>
        </p:spPr>
        <p:txBody>
          <a:bodyPr wrap="square">
            <a:spAutoFit/>
          </a:bodyPr>
          <a:lstStyle/>
          <a:p>
            <a:pPr marL="457200">
              <a:lnSpc>
                <a:spcPct val="115000"/>
              </a:lnSpc>
              <a:spcAft>
                <a:spcPts val="1000"/>
              </a:spcAft>
              <a:buNone/>
            </a:pPr>
            <a:r>
              <a:rPr lang="en-IN" sz="36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Evaluation of Refined Concepts</a:t>
            </a:r>
            <a:endParaRPr lang="en-IN" sz="36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275C655-CACC-2581-24FD-91FF0FEE9784}"/>
              </a:ext>
            </a:extLst>
          </p:cNvPr>
          <p:cNvGraphicFramePr>
            <a:graphicFrameLocks noGrp="1"/>
          </p:cNvGraphicFramePr>
          <p:nvPr>
            <p:extLst>
              <p:ext uri="{D42A27DB-BD31-4B8C-83A1-F6EECF244321}">
                <p14:modId xmlns:p14="http://schemas.microsoft.com/office/powerpoint/2010/main" val="1735319586"/>
              </p:ext>
            </p:extLst>
          </p:nvPr>
        </p:nvGraphicFramePr>
        <p:xfrm>
          <a:off x="990600" y="1103881"/>
          <a:ext cx="16992600" cy="3611880"/>
        </p:xfrm>
        <a:graphic>
          <a:graphicData uri="http://schemas.openxmlformats.org/drawingml/2006/table">
            <a:tbl>
              <a:tblPr firstRow="1" firstCol="1" bandRow="1">
                <a:tableStyleId>{5C22544A-7EE6-4342-B048-85BDC9FD1C3A}</a:tableStyleId>
              </a:tblPr>
              <a:tblGrid>
                <a:gridCol w="5662974">
                  <a:extLst>
                    <a:ext uri="{9D8B030D-6E8A-4147-A177-3AD203B41FA5}">
                      <a16:colId xmlns:a16="http://schemas.microsoft.com/office/drawing/2014/main" val="265266773"/>
                    </a:ext>
                  </a:extLst>
                </a:gridCol>
                <a:gridCol w="5664813">
                  <a:extLst>
                    <a:ext uri="{9D8B030D-6E8A-4147-A177-3AD203B41FA5}">
                      <a16:colId xmlns:a16="http://schemas.microsoft.com/office/drawing/2014/main" val="2483126069"/>
                    </a:ext>
                  </a:extLst>
                </a:gridCol>
                <a:gridCol w="5664813">
                  <a:extLst>
                    <a:ext uri="{9D8B030D-6E8A-4147-A177-3AD203B41FA5}">
                      <a16:colId xmlns:a16="http://schemas.microsoft.com/office/drawing/2014/main" val="2753663536"/>
                    </a:ext>
                  </a:extLst>
                </a:gridCol>
              </a:tblGrid>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Parameter</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Best Performing Concepts</a:t>
                      </a:r>
                    </a:p>
                  </a:txBody>
                  <a:tcPr marL="68580" marR="68580" marT="0" marB="0"/>
                </a:tc>
                <a:tc>
                  <a:txBody>
                    <a:bodyPr/>
                    <a:lstStyle/>
                    <a:p>
                      <a:pPr marL="457200">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Remarks</a:t>
                      </a:r>
                    </a:p>
                  </a:txBody>
                  <a:tcPr marL="68580" marR="68580" marT="0" marB="0"/>
                </a:tc>
                <a:extLst>
                  <a:ext uri="{0D108BD9-81ED-4DB2-BD59-A6C34878D82A}">
                    <a16:rowId xmlns:a16="http://schemas.microsoft.com/office/drawing/2014/main" val="2617452463"/>
                  </a:ext>
                </a:extLst>
              </a:tr>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Unity &amp; Style</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C3, C5</a:t>
                      </a:r>
                    </a:p>
                  </a:txBody>
                  <a:tcPr marL="68580" marR="68580" marT="0" marB="0"/>
                </a:tc>
                <a:tc>
                  <a:txBody>
                    <a:bodyPr/>
                    <a:lstStyle/>
                    <a:p>
                      <a:pPr marL="457200">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Consistent lines, dynamic character</a:t>
                      </a:r>
                    </a:p>
                  </a:txBody>
                  <a:tcPr marL="68580" marR="68580" marT="0" marB="0"/>
                </a:tc>
                <a:extLst>
                  <a:ext uri="{0D108BD9-81ED-4DB2-BD59-A6C34878D82A}">
                    <a16:rowId xmlns:a16="http://schemas.microsoft.com/office/drawing/2014/main" val="1427740588"/>
                  </a:ext>
                </a:extLst>
              </a:tr>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Colour &amp; Contrast</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C2, C3, C5</a:t>
                      </a:r>
                    </a:p>
                  </a:txBody>
                  <a:tcPr marL="68580" marR="68580" marT="0" marB="0"/>
                </a:tc>
                <a:tc>
                  <a:txBody>
                    <a:bodyPr/>
                    <a:lstStyle/>
                    <a:p>
                      <a:pPr marL="457200">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Clear identity through tone separation</a:t>
                      </a:r>
                    </a:p>
                  </a:txBody>
                  <a:tcPr marL="68580" marR="68580" marT="0" marB="0"/>
                </a:tc>
                <a:extLst>
                  <a:ext uri="{0D108BD9-81ED-4DB2-BD59-A6C34878D82A}">
                    <a16:rowId xmlns:a16="http://schemas.microsoft.com/office/drawing/2014/main" val="3281231748"/>
                  </a:ext>
                </a:extLst>
              </a:tr>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Proportion &amp; Balance</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C1, C4</a:t>
                      </a:r>
                    </a:p>
                  </a:txBody>
                  <a:tcPr marL="68580" marR="68580" marT="0" marB="0"/>
                </a:tc>
                <a:tc>
                  <a:txBody>
                    <a:bodyPr/>
                    <a:lstStyle/>
                    <a:p>
                      <a:pPr marL="457200">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Visual stability maintained</a:t>
                      </a:r>
                    </a:p>
                  </a:txBody>
                  <a:tcPr marL="68580" marR="68580" marT="0" marB="0"/>
                </a:tc>
                <a:extLst>
                  <a:ext uri="{0D108BD9-81ED-4DB2-BD59-A6C34878D82A}">
                    <a16:rowId xmlns:a16="http://schemas.microsoft.com/office/drawing/2014/main" val="3344859145"/>
                  </a:ext>
                </a:extLst>
              </a:tr>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Innovation Appeal</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C2, C3, C5</a:t>
                      </a:r>
                    </a:p>
                  </a:txBody>
                  <a:tcPr marL="68580" marR="68580" marT="0" marB="0"/>
                </a:tc>
                <a:tc>
                  <a:txBody>
                    <a:bodyPr/>
                    <a:lstStyle/>
                    <a:p>
                      <a:pPr marL="457200">
                        <a:lnSpc>
                          <a:spcPct val="115000"/>
                        </a:lnSpc>
                        <a:spcAft>
                          <a:spcPts val="1000"/>
                        </a:spcAft>
                        <a:buNone/>
                      </a:pPr>
                      <a:r>
                        <a:rPr lang="en-IN" sz="2400" kern="100">
                          <a:effectLst/>
                          <a:latin typeface="Roboto" panose="02000000000000000000" pitchFamily="2" charset="0"/>
                          <a:ea typeface="Roboto" panose="02000000000000000000" pitchFamily="2" charset="0"/>
                          <a:cs typeface="Roboto" panose="02000000000000000000" pitchFamily="2" charset="0"/>
                        </a:rPr>
                        <a:t>Solar + swappable + performance focus</a:t>
                      </a:r>
                    </a:p>
                  </a:txBody>
                  <a:tcPr marL="68580" marR="68580" marT="0" marB="0"/>
                </a:tc>
                <a:extLst>
                  <a:ext uri="{0D108BD9-81ED-4DB2-BD59-A6C34878D82A}">
                    <a16:rowId xmlns:a16="http://schemas.microsoft.com/office/drawing/2014/main" val="1603467429"/>
                  </a:ext>
                </a:extLst>
              </a:tr>
              <a:tr h="0">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Market Attractiveness</a:t>
                      </a:r>
                    </a:p>
                  </a:txBody>
                  <a:tcPr marL="68580" marR="68580" marT="0" marB="0"/>
                </a:tc>
                <a:tc>
                  <a:txBody>
                    <a:bodyPr/>
                    <a:lstStyle/>
                    <a:p>
                      <a:pPr marL="457200">
                        <a:lnSpc>
                          <a:spcPct val="115000"/>
                        </a:lnSpc>
                        <a:buNone/>
                      </a:pPr>
                      <a:r>
                        <a:rPr lang="en-IN" sz="2400" kern="100">
                          <a:effectLst/>
                          <a:latin typeface="Roboto" panose="02000000000000000000" pitchFamily="2" charset="0"/>
                          <a:ea typeface="Roboto" panose="02000000000000000000" pitchFamily="2" charset="0"/>
                          <a:cs typeface="Roboto" panose="02000000000000000000" pitchFamily="2" charset="0"/>
                        </a:rPr>
                        <a:t>C5&gt;C2&gt;C4</a:t>
                      </a:r>
                    </a:p>
                  </a:txBody>
                  <a:tcPr marL="68580" marR="68580" marT="0" marB="0"/>
                </a:tc>
                <a:tc>
                  <a:txBody>
                    <a:bodyPr/>
                    <a:lstStyle/>
                    <a:p>
                      <a:pPr marL="457200">
                        <a:lnSpc>
                          <a:spcPct val="115000"/>
                        </a:lnSpc>
                        <a:spcAft>
                          <a:spcPts val="1000"/>
                        </a:spcAft>
                        <a:buNone/>
                      </a:pPr>
                      <a:r>
                        <a:rPr lang="en-IN" sz="2400" kern="100" dirty="0">
                          <a:effectLst/>
                          <a:latin typeface="Roboto" panose="02000000000000000000" pitchFamily="2" charset="0"/>
                          <a:ea typeface="Roboto" panose="02000000000000000000" pitchFamily="2" charset="0"/>
                          <a:cs typeface="Roboto" panose="02000000000000000000" pitchFamily="2" charset="0"/>
                        </a:rPr>
                        <a:t>R Sport gains highest visual desirability</a:t>
                      </a:r>
                    </a:p>
                  </a:txBody>
                  <a:tcPr marL="68580" marR="68580" marT="0" marB="0"/>
                </a:tc>
                <a:extLst>
                  <a:ext uri="{0D108BD9-81ED-4DB2-BD59-A6C34878D82A}">
                    <a16:rowId xmlns:a16="http://schemas.microsoft.com/office/drawing/2014/main" val="3457708964"/>
                  </a:ext>
                </a:extLst>
              </a:tr>
            </a:tbl>
          </a:graphicData>
        </a:graphic>
      </p:graphicFrame>
      <p:sp>
        <p:nvSpPr>
          <p:cNvPr id="8" name="TextBox 7">
            <a:extLst>
              <a:ext uri="{FF2B5EF4-FFF2-40B4-BE49-F238E27FC236}">
                <a16:creationId xmlns:a16="http://schemas.microsoft.com/office/drawing/2014/main" id="{5FB842E5-0689-8B58-CE5C-48B6ED13063B}"/>
              </a:ext>
            </a:extLst>
          </p:cNvPr>
          <p:cNvSpPr txBox="1"/>
          <p:nvPr/>
        </p:nvSpPr>
        <p:spPr>
          <a:xfrm>
            <a:off x="-120162" y="5052522"/>
            <a:ext cx="13774615" cy="708656"/>
          </a:xfrm>
          <a:prstGeom prst="rect">
            <a:avLst/>
          </a:prstGeom>
          <a:noFill/>
        </p:spPr>
        <p:txBody>
          <a:bodyPr wrap="square">
            <a:spAutoFit/>
          </a:bodyPr>
          <a:lstStyle/>
          <a:p>
            <a:pPr marL="457200">
              <a:lnSpc>
                <a:spcPct val="115000"/>
              </a:lnSpc>
              <a:spcAft>
                <a:spcPts val="1000"/>
              </a:spcAft>
              <a:buNone/>
            </a:pPr>
            <a:r>
              <a:rPr lang="en-IN" sz="36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Concept Improvement and Integration Strategy</a:t>
            </a:r>
            <a:endParaRPr lang="en-IN" sz="36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5A3A7E1-DF33-799C-3CC9-7A1442A64D60}"/>
              </a:ext>
            </a:extLst>
          </p:cNvPr>
          <p:cNvGraphicFramePr>
            <a:graphicFrameLocks noGrp="1"/>
          </p:cNvGraphicFramePr>
          <p:nvPr>
            <p:extLst>
              <p:ext uri="{D42A27DB-BD31-4B8C-83A1-F6EECF244321}">
                <p14:modId xmlns:p14="http://schemas.microsoft.com/office/powerpoint/2010/main" val="2124290330"/>
              </p:ext>
            </p:extLst>
          </p:nvPr>
        </p:nvGraphicFramePr>
        <p:xfrm>
          <a:off x="990600" y="6358818"/>
          <a:ext cx="16992600" cy="2741676"/>
        </p:xfrm>
        <a:graphic>
          <a:graphicData uri="http://schemas.openxmlformats.org/drawingml/2006/table">
            <a:tbl>
              <a:tblPr firstRow="1" firstCol="1" bandRow="1">
                <a:tableStyleId>{5C22544A-7EE6-4342-B048-85BDC9FD1C3A}</a:tableStyleId>
              </a:tblPr>
              <a:tblGrid>
                <a:gridCol w="4040367">
                  <a:extLst>
                    <a:ext uri="{9D8B030D-6E8A-4147-A177-3AD203B41FA5}">
                      <a16:colId xmlns:a16="http://schemas.microsoft.com/office/drawing/2014/main" val="1075166197"/>
                    </a:ext>
                  </a:extLst>
                </a:gridCol>
                <a:gridCol w="6967396">
                  <a:extLst>
                    <a:ext uri="{9D8B030D-6E8A-4147-A177-3AD203B41FA5}">
                      <a16:colId xmlns:a16="http://schemas.microsoft.com/office/drawing/2014/main" val="2311064654"/>
                    </a:ext>
                  </a:extLst>
                </a:gridCol>
                <a:gridCol w="5984837">
                  <a:extLst>
                    <a:ext uri="{9D8B030D-6E8A-4147-A177-3AD203B41FA5}">
                      <a16:colId xmlns:a16="http://schemas.microsoft.com/office/drawing/2014/main" val="3784239229"/>
                    </a:ext>
                  </a:extLst>
                </a:gridCol>
              </a:tblGrid>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Source Concept</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Refined Feature</a:t>
                      </a:r>
                    </a:p>
                  </a:txBody>
                  <a:tcPr marL="68580" marR="68580" marT="0" marB="0"/>
                </a:tc>
                <a:tc>
                  <a:txBody>
                    <a:bodyPr/>
                    <a:lstStyle/>
                    <a:p>
                      <a:pPr marL="457200">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Final Concept (C6X)</a:t>
                      </a:r>
                    </a:p>
                  </a:txBody>
                  <a:tcPr marL="68580" marR="68580" marT="0" marB="0"/>
                </a:tc>
                <a:extLst>
                  <a:ext uri="{0D108BD9-81ED-4DB2-BD59-A6C34878D82A}">
                    <a16:rowId xmlns:a16="http://schemas.microsoft.com/office/drawing/2014/main" val="3887469511"/>
                  </a:ext>
                </a:extLst>
              </a:tr>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C1</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Lightweight minimal design</a:t>
                      </a:r>
                    </a:p>
                  </a:txBody>
                  <a:tcPr marL="68580" marR="68580" marT="0" marB="0"/>
                </a:tc>
                <a:tc>
                  <a:txBody>
                    <a:bodyPr/>
                    <a:lstStyle/>
                    <a:p>
                      <a:pPr marL="457200">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Reduced visual weight</a:t>
                      </a:r>
                    </a:p>
                  </a:txBody>
                  <a:tcPr marL="68580" marR="68580" marT="0" marB="0"/>
                </a:tc>
                <a:extLst>
                  <a:ext uri="{0D108BD9-81ED-4DB2-BD59-A6C34878D82A}">
                    <a16:rowId xmlns:a16="http://schemas.microsoft.com/office/drawing/2014/main" val="2656134380"/>
                  </a:ext>
                </a:extLst>
              </a:tr>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C2</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Modular swappable base</a:t>
                      </a:r>
                    </a:p>
                  </a:txBody>
                  <a:tcPr marL="68580" marR="68580" marT="0" marB="0"/>
                </a:tc>
                <a:tc>
                  <a:txBody>
                    <a:bodyPr/>
                    <a:lstStyle/>
                    <a:p>
                      <a:pPr marL="457200">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Functional flexibility</a:t>
                      </a:r>
                    </a:p>
                  </a:txBody>
                  <a:tcPr marL="68580" marR="68580" marT="0" marB="0"/>
                </a:tc>
                <a:extLst>
                  <a:ext uri="{0D108BD9-81ED-4DB2-BD59-A6C34878D82A}">
                    <a16:rowId xmlns:a16="http://schemas.microsoft.com/office/drawing/2014/main" val="1401888787"/>
                  </a:ext>
                </a:extLst>
              </a:tr>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C3</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Compact geometry</a:t>
                      </a:r>
                    </a:p>
                  </a:txBody>
                  <a:tcPr marL="68580" marR="68580" marT="0" marB="0"/>
                </a:tc>
                <a:tc>
                  <a:txBody>
                    <a:bodyPr/>
                    <a:lstStyle/>
                    <a:p>
                      <a:pPr marL="457200">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Fold-portable potential</a:t>
                      </a:r>
                    </a:p>
                  </a:txBody>
                  <a:tcPr marL="68580" marR="68580" marT="0" marB="0"/>
                </a:tc>
                <a:extLst>
                  <a:ext uri="{0D108BD9-81ED-4DB2-BD59-A6C34878D82A}">
                    <a16:rowId xmlns:a16="http://schemas.microsoft.com/office/drawing/2014/main" val="1618749580"/>
                  </a:ext>
                </a:extLst>
              </a:tr>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C4</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Strengthened dual-brake look</a:t>
                      </a:r>
                    </a:p>
                  </a:txBody>
                  <a:tcPr marL="68580" marR="68580" marT="0" marB="0"/>
                </a:tc>
                <a:tc>
                  <a:txBody>
                    <a:bodyPr/>
                    <a:lstStyle/>
                    <a:p>
                      <a:pPr marL="457200">
                        <a:lnSpc>
                          <a:spcPct val="115000"/>
                        </a:lnSpc>
                        <a:spcAft>
                          <a:spcPts val="1000"/>
                        </a:spcAft>
                        <a:buNone/>
                      </a:pPr>
                      <a:r>
                        <a:rPr lang="en-IN" sz="2800" kern="100">
                          <a:effectLst/>
                          <a:latin typeface="Roboto" panose="02000000000000000000" pitchFamily="2" charset="0"/>
                          <a:ea typeface="Roboto" panose="02000000000000000000" pitchFamily="2" charset="0"/>
                          <a:cs typeface="Roboto" panose="02000000000000000000" pitchFamily="2" charset="0"/>
                        </a:rPr>
                        <a:t>Stability and safety</a:t>
                      </a:r>
                    </a:p>
                  </a:txBody>
                  <a:tcPr marL="68580" marR="68580" marT="0" marB="0"/>
                </a:tc>
                <a:extLst>
                  <a:ext uri="{0D108BD9-81ED-4DB2-BD59-A6C34878D82A}">
                    <a16:rowId xmlns:a16="http://schemas.microsoft.com/office/drawing/2014/main" val="3101206237"/>
                  </a:ext>
                </a:extLst>
              </a:tr>
              <a:tr h="0">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C5</a:t>
                      </a:r>
                    </a:p>
                  </a:txBody>
                  <a:tcPr marL="68580" marR="68580" marT="0" marB="0"/>
                </a:tc>
                <a:tc>
                  <a:txBody>
                    <a:bodyPr/>
                    <a:lstStyle/>
                    <a:p>
                      <a:pPr marL="457200">
                        <a:lnSpc>
                          <a:spcPct val="115000"/>
                        </a:lnSpc>
                        <a:buNone/>
                      </a:pPr>
                      <a:r>
                        <a:rPr lang="en-IN" sz="2800" kern="100">
                          <a:effectLst/>
                          <a:latin typeface="Roboto" panose="02000000000000000000" pitchFamily="2" charset="0"/>
                          <a:ea typeface="Roboto" panose="02000000000000000000" pitchFamily="2" charset="0"/>
                          <a:cs typeface="Roboto" panose="02000000000000000000" pitchFamily="2" charset="0"/>
                        </a:rPr>
                        <a:t>Aerodynamic sport styling</a:t>
                      </a:r>
                    </a:p>
                  </a:txBody>
                  <a:tcPr marL="68580" marR="68580" marT="0" marB="0"/>
                </a:tc>
                <a:tc>
                  <a:txBody>
                    <a:bodyPr/>
                    <a:lstStyle/>
                    <a:p>
                      <a:pPr marL="457200">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High visual energy and flow</a:t>
                      </a:r>
                    </a:p>
                  </a:txBody>
                  <a:tcPr marL="68580" marR="68580" marT="0" marB="0"/>
                </a:tc>
                <a:extLst>
                  <a:ext uri="{0D108BD9-81ED-4DB2-BD59-A6C34878D82A}">
                    <a16:rowId xmlns:a16="http://schemas.microsoft.com/office/drawing/2014/main" val="3199934844"/>
                  </a:ext>
                </a:extLst>
              </a:tr>
            </a:tbl>
          </a:graphicData>
        </a:graphic>
      </p:graphicFrame>
    </p:spTree>
    <p:extLst>
      <p:ext uri="{BB962C8B-B14F-4D97-AF65-F5344CB8AC3E}">
        <p14:creationId xmlns:p14="http://schemas.microsoft.com/office/powerpoint/2010/main" val="108565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39FA-BA87-EE7D-7865-E08347421EDB}"/>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C6075975-6848-7E97-130F-E5A5F5D8FC01}"/>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D5750B64-AD75-9953-5D65-B4FC6EA2F24A}"/>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D10FA560-AFEF-2475-E926-A895FD539CAA}"/>
              </a:ext>
            </a:extLst>
          </p:cNvPr>
          <p:cNvSpPr txBox="1"/>
          <p:nvPr/>
        </p:nvSpPr>
        <p:spPr>
          <a:xfrm>
            <a:off x="228600" y="298797"/>
            <a:ext cx="17221200" cy="1485022"/>
          </a:xfrm>
          <a:prstGeom prst="rect">
            <a:avLst/>
          </a:prstGeom>
          <a:noFill/>
        </p:spPr>
        <p:txBody>
          <a:bodyPr wrap="square">
            <a:spAutoFit/>
          </a:bodyPr>
          <a:lstStyle/>
          <a:p>
            <a:pPr marL="457200">
              <a:lnSpc>
                <a:spcPct val="115000"/>
              </a:lnSpc>
              <a:spcAft>
                <a:spcPts val="1000"/>
              </a:spcAft>
              <a:buNone/>
            </a:pPr>
            <a:r>
              <a:rPr lang="en-IN" sz="40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Final Hybrid Concept – Eco-Ride R-X Hybrid Performance Solar Edition</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A16363A-38D9-9536-34C0-56852D624C62}"/>
              </a:ext>
            </a:extLst>
          </p:cNvPr>
          <p:cNvSpPr txBox="1"/>
          <p:nvPr/>
        </p:nvSpPr>
        <p:spPr>
          <a:xfrm>
            <a:off x="908538" y="2171700"/>
            <a:ext cx="16459200" cy="6565708"/>
          </a:xfrm>
          <a:prstGeom prst="rect">
            <a:avLst/>
          </a:prstGeom>
          <a:noFill/>
        </p:spPr>
        <p:txBody>
          <a:bodyPr wrap="square">
            <a:spAutoFit/>
          </a:bodyPr>
          <a:lstStyle/>
          <a:p>
            <a:pPr>
              <a:lnSpc>
                <a:spcPct val="115000"/>
              </a:lnSpc>
              <a:spcAft>
                <a:spcPts val="10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Key Refinements Introduced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Form Harmony: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Unified curved spine from C1 + aerodynamic flow from C3.</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Visual Lightness:</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Concealed cables, compact hubs, and integrated lights.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Material Blending:</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Matte carbon-polymer body with gloss trims.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Aesthetic Energy Flow:</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Thin red LED strips accentuate motion.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Proportion Re-tuning:</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Shorter tail geometry for balanced weight.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Ergonomic Enhancement: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Adjustable seat-handle ratio optimized for sporty posture.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400" b="1"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Philosophy: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Font typeface="+mj-lt"/>
              <a:buAutoNum type="arabicPeriod"/>
              <a:tabLst>
                <a:tab pos="914400" algn="l"/>
              </a:tabLst>
            </a:pPr>
            <a:r>
              <a:rPr lang="en-IN" sz="2400" i="1" kern="100" dirty="0">
                <a:effectLst/>
                <a:latin typeface="Times New Roman" panose="02020603050405020304" pitchFamily="18" charset="0"/>
                <a:ea typeface="Calibri" panose="020F0502020204030204" pitchFamily="34" charset="0"/>
                <a:cs typeface="Times New Roman" panose="02020603050405020304" pitchFamily="18" charset="0"/>
              </a:rPr>
              <a:t>Professional Sport: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Graphite / Red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Font typeface="+mj-lt"/>
              <a:buAutoNum type="arabicPeriod"/>
              <a:tabLst>
                <a:tab pos="914400" algn="l"/>
              </a:tabLst>
            </a:pPr>
            <a:r>
              <a:rPr lang="en-IN" sz="2400" i="1" kern="100" dirty="0">
                <a:effectLst/>
                <a:latin typeface="Times New Roman" panose="02020603050405020304" pitchFamily="18" charset="0"/>
                <a:ea typeface="Calibri" panose="020F0502020204030204" pitchFamily="34" charset="0"/>
                <a:cs typeface="Times New Roman" panose="02020603050405020304" pitchFamily="18" charset="0"/>
              </a:rPr>
              <a:t>Eco Hybrid:</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Green / Black</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Font typeface="+mj-lt"/>
              <a:buAutoNum type="arabicPeriod"/>
              <a:tabLst>
                <a:tab pos="914400" algn="l"/>
              </a:tabLst>
            </a:pPr>
            <a:r>
              <a:rPr lang="en-IN" sz="2400" i="1" kern="100" dirty="0">
                <a:effectLst/>
                <a:latin typeface="Times New Roman" panose="02020603050405020304" pitchFamily="18" charset="0"/>
                <a:ea typeface="Calibri" panose="020F0502020204030204" pitchFamily="34" charset="0"/>
                <a:cs typeface="Times New Roman" panose="02020603050405020304" pitchFamily="18" charset="0"/>
              </a:rPr>
              <a:t>Urban Limited:</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Silver / Blue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Concept Theme: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i="1" kern="100" dirty="0">
                <a:effectLst/>
                <a:latin typeface="Times New Roman" panose="02020603050405020304" pitchFamily="18" charset="0"/>
                <a:ea typeface="Calibri" panose="020F0502020204030204" pitchFamily="34" charset="0"/>
                <a:cs typeface="Times New Roman" panose="02020603050405020304" pitchFamily="18" charset="0"/>
              </a:rPr>
              <a:t>Performance meets Sustainability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 merging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speed, technology, and eco-design</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in one unified aesthetic form</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5561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327AE-4EB0-55D3-E11C-1EC410DDBB7F}"/>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5129BACD-5132-D3B6-7D7B-1F3617EA75F1}"/>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0B3249CC-91BB-AEE1-8D17-3AB59ADF8A26}"/>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pic>
        <p:nvPicPr>
          <p:cNvPr id="7" name="Picture 6">
            <a:extLst>
              <a:ext uri="{FF2B5EF4-FFF2-40B4-BE49-F238E27FC236}">
                <a16:creationId xmlns:a16="http://schemas.microsoft.com/office/drawing/2014/main" id="{A0FD7757-DF85-9363-4F0C-428EFBD22176}"/>
              </a:ext>
            </a:extLst>
          </p:cNvPr>
          <p:cNvPicPr>
            <a:picLocks noChangeAspect="1"/>
          </p:cNvPicPr>
          <p:nvPr/>
        </p:nvPicPr>
        <p:blipFill>
          <a:blip r:embed="rId2">
            <a:extLst>
              <a:ext uri="{28A0092B-C50C-407E-A947-70E740481C1C}">
                <a14:useLocalDpi xmlns:a14="http://schemas.microsoft.com/office/drawing/2010/main" val="0"/>
              </a:ext>
            </a:extLst>
          </a:blip>
          <a:srcRect l="-1015" t="22907" r="1015" b="23701"/>
          <a:stretch>
            <a:fillRect/>
          </a:stretch>
        </p:blipFill>
        <p:spPr>
          <a:xfrm>
            <a:off x="10515600" y="95088"/>
            <a:ext cx="7506730" cy="5492262"/>
          </a:xfrm>
          <a:prstGeom prst="rect">
            <a:avLst/>
          </a:prstGeom>
        </p:spPr>
      </p:pic>
      <p:pic>
        <p:nvPicPr>
          <p:cNvPr id="9" name="Picture 8">
            <a:extLst>
              <a:ext uri="{FF2B5EF4-FFF2-40B4-BE49-F238E27FC236}">
                <a16:creationId xmlns:a16="http://schemas.microsoft.com/office/drawing/2014/main" id="{BDD8EF9B-01A4-73FF-F43F-ADF6D4F1D1A5}"/>
              </a:ext>
            </a:extLst>
          </p:cNvPr>
          <p:cNvPicPr>
            <a:picLocks noChangeAspect="1"/>
          </p:cNvPicPr>
          <p:nvPr/>
        </p:nvPicPr>
        <p:blipFill>
          <a:blip r:embed="rId3">
            <a:extLst>
              <a:ext uri="{28A0092B-C50C-407E-A947-70E740481C1C}">
                <a14:useLocalDpi xmlns:a14="http://schemas.microsoft.com/office/drawing/2010/main" val="0"/>
              </a:ext>
            </a:extLst>
          </a:blip>
          <a:srcRect t="19630" b="20370"/>
          <a:stretch>
            <a:fillRect/>
          </a:stretch>
        </p:blipFill>
        <p:spPr>
          <a:xfrm>
            <a:off x="0" y="-2931"/>
            <a:ext cx="8479622" cy="5587350"/>
          </a:xfrm>
          <a:prstGeom prst="rect">
            <a:avLst/>
          </a:prstGeom>
        </p:spPr>
      </p:pic>
      <p:pic>
        <p:nvPicPr>
          <p:cNvPr id="11" name="Picture 10">
            <a:extLst>
              <a:ext uri="{FF2B5EF4-FFF2-40B4-BE49-F238E27FC236}">
                <a16:creationId xmlns:a16="http://schemas.microsoft.com/office/drawing/2014/main" id="{0C6E0AB4-E28F-7AAB-E7E6-A76037BE420A}"/>
              </a:ext>
            </a:extLst>
          </p:cNvPr>
          <p:cNvPicPr>
            <a:picLocks noChangeAspect="1"/>
          </p:cNvPicPr>
          <p:nvPr/>
        </p:nvPicPr>
        <p:blipFill>
          <a:blip r:embed="rId4">
            <a:extLst>
              <a:ext uri="{28A0092B-C50C-407E-A947-70E740481C1C}">
                <a14:useLocalDpi xmlns:a14="http://schemas.microsoft.com/office/drawing/2010/main" val="0"/>
              </a:ext>
            </a:extLst>
          </a:blip>
          <a:srcRect t="21309" b="18317"/>
          <a:stretch>
            <a:fillRect/>
          </a:stretch>
        </p:blipFill>
        <p:spPr>
          <a:xfrm>
            <a:off x="10515600" y="5552181"/>
            <a:ext cx="7772400" cy="4175672"/>
          </a:xfrm>
          <a:prstGeom prst="rect">
            <a:avLst/>
          </a:prstGeom>
        </p:spPr>
      </p:pic>
      <p:pic>
        <p:nvPicPr>
          <p:cNvPr id="12" name="Picture 11">
            <a:extLst>
              <a:ext uri="{FF2B5EF4-FFF2-40B4-BE49-F238E27FC236}">
                <a16:creationId xmlns:a16="http://schemas.microsoft.com/office/drawing/2014/main" id="{4C7D619C-A73C-4466-C9CB-1F327EF7C7B7}"/>
              </a:ext>
            </a:extLst>
          </p:cNvPr>
          <p:cNvPicPr>
            <a:picLocks noChangeAspect="1"/>
          </p:cNvPicPr>
          <p:nvPr/>
        </p:nvPicPr>
        <p:blipFill rotWithShape="1">
          <a:blip r:embed="rId5">
            <a:extLst>
              <a:ext uri="{28A0092B-C50C-407E-A947-70E740481C1C}">
                <a14:useLocalDpi xmlns:a14="http://schemas.microsoft.com/office/drawing/2010/main" val="0"/>
              </a:ext>
            </a:extLst>
          </a:blip>
          <a:srcRect l="-570" t="15780" r="570" b="16399"/>
          <a:stretch>
            <a:fillRect/>
          </a:stretch>
        </p:blipFill>
        <p:spPr bwMode="auto">
          <a:xfrm>
            <a:off x="533399" y="5584419"/>
            <a:ext cx="7946223" cy="37862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7230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69350-B72C-E989-5904-D1E27E438F74}"/>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0D585934-D176-3A75-790E-B7EDF38834C3}"/>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3" name="Freeform 4">
            <a:extLst>
              <a:ext uri="{FF2B5EF4-FFF2-40B4-BE49-F238E27FC236}">
                <a16:creationId xmlns:a16="http://schemas.microsoft.com/office/drawing/2014/main" id="{8BC59594-0578-0858-115F-D0D802A5B8F5}"/>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dirty="0"/>
          </a:p>
        </p:txBody>
      </p:sp>
      <p:sp>
        <p:nvSpPr>
          <p:cNvPr id="5" name="TextBox 4">
            <a:extLst>
              <a:ext uri="{FF2B5EF4-FFF2-40B4-BE49-F238E27FC236}">
                <a16:creationId xmlns:a16="http://schemas.microsoft.com/office/drawing/2014/main" id="{840E356F-DBA6-5CA0-07B2-89F2E2D0705B}"/>
              </a:ext>
            </a:extLst>
          </p:cNvPr>
          <p:cNvSpPr txBox="1"/>
          <p:nvPr/>
        </p:nvSpPr>
        <p:spPr>
          <a:xfrm>
            <a:off x="1143000" y="1028700"/>
            <a:ext cx="13944600" cy="4929298"/>
          </a:xfrm>
          <a:prstGeom prst="rect">
            <a:avLst/>
          </a:prstGeom>
          <a:noFill/>
        </p:spPr>
        <p:txBody>
          <a:bodyPr wrap="square">
            <a:spAutoFit/>
          </a:bodyPr>
          <a:lstStyle/>
          <a:p>
            <a:pPr>
              <a:lnSpc>
                <a:spcPct val="115000"/>
              </a:lnSpc>
              <a:spcAft>
                <a:spcPts val="1000"/>
              </a:spcAft>
              <a:buNone/>
            </a:pPr>
            <a:r>
              <a:rPr lang="en-IN" sz="4400" b="1"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rPr>
              <a:t>Conclusion</a:t>
            </a:r>
            <a:endParaRPr lang="en-IN" sz="4400" kern="100" dirty="0">
              <a:solidFill>
                <a:srgbClr val="004AAD"/>
              </a:solidFill>
              <a:effectLst/>
              <a:latin typeface="League Spartan" panose="020B0604020202020204" charset="0"/>
              <a:ea typeface="Calibri" panose="020F0502020204030204" pitchFamily="34" charset="0"/>
              <a:cs typeface="Times New Roman" panose="02020603050405020304" pitchFamily="18" charset="0"/>
            </a:endParaRPr>
          </a:p>
          <a:p>
            <a:pPr>
              <a:lnSpc>
                <a:spcPct val="115000"/>
              </a:lnSpc>
              <a:spcAft>
                <a:spcPts val="1000"/>
              </a:spcAft>
              <a:buNone/>
            </a:pPr>
            <a:r>
              <a:rPr lang="en-IN" sz="2800" kern="100" dirty="0">
                <a:effectLst/>
                <a:latin typeface="Roboto" panose="02000000000000000000" pitchFamily="2" charset="0"/>
                <a:ea typeface="Roboto" panose="02000000000000000000" pitchFamily="2" charset="0"/>
                <a:cs typeface="Roboto" panose="02000000000000000000" pitchFamily="2" charset="0"/>
              </a:rPr>
              <a:t>The </a:t>
            </a:r>
            <a:r>
              <a:rPr lang="en-IN" sz="2800" b="1" kern="100" dirty="0">
                <a:effectLst/>
                <a:latin typeface="Roboto" panose="02000000000000000000" pitchFamily="2" charset="0"/>
                <a:ea typeface="Roboto" panose="02000000000000000000" pitchFamily="2" charset="0"/>
                <a:cs typeface="Roboto" panose="02000000000000000000" pitchFamily="2" charset="0"/>
              </a:rPr>
              <a:t>Eco-Ride Smart Electric Cycle aesthetic refinement</a:t>
            </a:r>
            <a:r>
              <a:rPr lang="en-IN" sz="2800" kern="100" dirty="0">
                <a:effectLst/>
                <a:latin typeface="Roboto" panose="02000000000000000000" pitchFamily="2" charset="0"/>
                <a:ea typeface="Roboto" panose="02000000000000000000" pitchFamily="2" charset="0"/>
                <a:cs typeface="Roboto" panose="02000000000000000000" pitchFamily="2" charset="0"/>
              </a:rPr>
              <a:t> integrates technical engineering with emotional design appeal.</a:t>
            </a:r>
            <a:br>
              <a:rPr lang="en-IN" sz="2800" kern="100" dirty="0">
                <a:effectLst/>
                <a:latin typeface="Roboto" panose="02000000000000000000" pitchFamily="2" charset="0"/>
                <a:ea typeface="Roboto" panose="02000000000000000000" pitchFamily="2" charset="0"/>
                <a:cs typeface="Roboto" panose="02000000000000000000" pitchFamily="2" charset="0"/>
              </a:rPr>
            </a:br>
            <a:r>
              <a:rPr lang="en-IN" sz="2800" kern="100" dirty="0">
                <a:effectLst/>
                <a:latin typeface="Roboto" panose="02000000000000000000" pitchFamily="2" charset="0"/>
                <a:ea typeface="Roboto" panose="02000000000000000000" pitchFamily="2" charset="0"/>
                <a:cs typeface="Roboto" panose="02000000000000000000" pitchFamily="2" charset="0"/>
              </a:rPr>
              <a:t>By systematically applying </a:t>
            </a:r>
            <a:r>
              <a:rPr lang="en-IN" sz="2800" b="1" kern="100" dirty="0">
                <a:effectLst/>
                <a:latin typeface="Roboto" panose="02000000000000000000" pitchFamily="2" charset="0"/>
                <a:ea typeface="Roboto" panose="02000000000000000000" pitchFamily="2" charset="0"/>
                <a:cs typeface="Roboto" panose="02000000000000000000" pitchFamily="2" charset="0"/>
              </a:rPr>
              <a:t>mass, unity, proportion, balance, contrast, and </a:t>
            </a:r>
            <a:r>
              <a:rPr lang="en-IN" sz="2800" b="1" kern="100" dirty="0" err="1">
                <a:effectLst/>
                <a:latin typeface="Roboto" panose="02000000000000000000" pitchFamily="2" charset="0"/>
                <a:ea typeface="Roboto" panose="02000000000000000000" pitchFamily="2" charset="0"/>
                <a:cs typeface="Roboto" panose="02000000000000000000" pitchFamily="2" charset="0"/>
              </a:rPr>
              <a:t>color</a:t>
            </a:r>
            <a:r>
              <a:rPr lang="en-IN" sz="2800" kern="100" dirty="0">
                <a:effectLst/>
                <a:latin typeface="Roboto" panose="02000000000000000000" pitchFamily="2" charset="0"/>
                <a:ea typeface="Roboto" panose="02000000000000000000" pitchFamily="2" charset="0"/>
                <a:cs typeface="Roboto" panose="02000000000000000000" pitchFamily="2" charset="0"/>
              </a:rPr>
              <a:t>, the six models now communicate their unique identities while belonging to a unified brand family.</a:t>
            </a:r>
            <a:br>
              <a:rPr lang="en-IN" sz="2800" kern="100" dirty="0">
                <a:effectLst/>
                <a:latin typeface="Roboto" panose="02000000000000000000" pitchFamily="2" charset="0"/>
                <a:ea typeface="Roboto" panose="02000000000000000000" pitchFamily="2" charset="0"/>
                <a:cs typeface="Roboto" panose="02000000000000000000" pitchFamily="2" charset="0"/>
              </a:rPr>
            </a:br>
            <a:r>
              <a:rPr lang="en-IN" sz="2800" kern="100" dirty="0">
                <a:effectLst/>
                <a:latin typeface="Roboto" panose="02000000000000000000" pitchFamily="2" charset="0"/>
                <a:ea typeface="Roboto" panose="02000000000000000000" pitchFamily="2" charset="0"/>
                <a:cs typeface="Roboto" panose="02000000000000000000" pitchFamily="2" charset="0"/>
              </a:rPr>
              <a:t>The final </a:t>
            </a:r>
            <a:r>
              <a:rPr lang="en-IN" sz="2800" b="1" kern="100" dirty="0">
                <a:effectLst/>
                <a:latin typeface="Roboto" panose="02000000000000000000" pitchFamily="2" charset="0"/>
                <a:ea typeface="Roboto" panose="02000000000000000000" pitchFamily="2" charset="0"/>
                <a:cs typeface="Roboto" panose="02000000000000000000" pitchFamily="2" charset="0"/>
              </a:rPr>
              <a:t>Eco-Ride R-X Hybrid Solar Edition</a:t>
            </a:r>
            <a:r>
              <a:rPr lang="en-IN" sz="2800" kern="100" dirty="0">
                <a:effectLst/>
                <a:latin typeface="Roboto" panose="02000000000000000000" pitchFamily="2" charset="0"/>
                <a:ea typeface="Roboto" panose="02000000000000000000" pitchFamily="2" charset="0"/>
                <a:cs typeface="Roboto" panose="02000000000000000000" pitchFamily="2" charset="0"/>
              </a:rPr>
              <a:t> demonstrates the </a:t>
            </a:r>
            <a:r>
              <a:rPr lang="en-IN" sz="2800" b="1" kern="100" dirty="0">
                <a:effectLst/>
                <a:latin typeface="Roboto" panose="02000000000000000000" pitchFamily="2" charset="0"/>
                <a:ea typeface="Roboto" panose="02000000000000000000" pitchFamily="2" charset="0"/>
                <a:cs typeface="Roboto" panose="02000000000000000000" pitchFamily="2" charset="0"/>
              </a:rPr>
              <a:t>fusion of performance, sustainability, and form harmony</a:t>
            </a:r>
            <a:r>
              <a:rPr lang="en-IN" sz="2800" kern="100" dirty="0">
                <a:effectLst/>
                <a:latin typeface="Roboto" panose="02000000000000000000" pitchFamily="2" charset="0"/>
                <a:ea typeface="Roboto" panose="02000000000000000000" pitchFamily="2" charset="0"/>
                <a:cs typeface="Roboto" panose="02000000000000000000" pitchFamily="2" charset="0"/>
              </a:rPr>
              <a:t>, representing the pinnacle of the Eco-Ride design evolution.</a:t>
            </a:r>
          </a:p>
        </p:txBody>
      </p:sp>
    </p:spTree>
    <p:extLst>
      <p:ext uri="{BB962C8B-B14F-4D97-AF65-F5344CB8AC3E}">
        <p14:creationId xmlns:p14="http://schemas.microsoft.com/office/powerpoint/2010/main" val="197737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2717-52E4-EA9E-4AE3-E7F335B9E7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39EEDFF-8057-2EA0-2AC9-1C03BEC93CF4}"/>
              </a:ext>
            </a:extLst>
          </p:cNvPr>
          <p:cNvSpPr/>
          <p:nvPr/>
        </p:nvSpPr>
        <p:spPr>
          <a:xfrm>
            <a:off x="-114300" y="-3140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grpSp>
        <p:nvGrpSpPr>
          <p:cNvPr id="3" name="Group 3">
            <a:extLst>
              <a:ext uri="{FF2B5EF4-FFF2-40B4-BE49-F238E27FC236}">
                <a16:creationId xmlns:a16="http://schemas.microsoft.com/office/drawing/2014/main" id="{30C3060B-4F58-09A9-E9CD-B81DF8A2A9BD}"/>
              </a:ext>
            </a:extLst>
          </p:cNvPr>
          <p:cNvGrpSpPr/>
          <p:nvPr/>
        </p:nvGrpSpPr>
        <p:grpSpPr>
          <a:xfrm>
            <a:off x="-698500" y="3124200"/>
            <a:ext cx="5245100" cy="1332778"/>
            <a:chOff x="0" y="0"/>
            <a:chExt cx="1381426" cy="351020"/>
          </a:xfrm>
        </p:grpSpPr>
        <p:sp>
          <p:nvSpPr>
            <p:cNvPr id="4" name="Freeform 4">
              <a:extLst>
                <a:ext uri="{FF2B5EF4-FFF2-40B4-BE49-F238E27FC236}">
                  <a16:creationId xmlns:a16="http://schemas.microsoft.com/office/drawing/2014/main" id="{DE8DB51B-3901-A159-7213-2AC86DD6CDB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id="5" name="TextBox 5">
              <a:extLst>
                <a:ext uri="{FF2B5EF4-FFF2-40B4-BE49-F238E27FC236}">
                  <a16:creationId xmlns:a16="http://schemas.microsoft.com/office/drawing/2014/main" id="{100080E2-E80F-A207-E8E7-5C9F560E156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8CF09447-4D45-0789-7038-A550E7C6675E}"/>
              </a:ext>
            </a:extLst>
          </p:cNvPr>
          <p:cNvGrpSpPr/>
          <p:nvPr/>
        </p:nvGrpSpPr>
        <p:grpSpPr>
          <a:xfrm>
            <a:off x="13741400" y="3124200"/>
            <a:ext cx="5118100" cy="1332778"/>
            <a:chOff x="0" y="0"/>
            <a:chExt cx="1347977" cy="351020"/>
          </a:xfrm>
        </p:grpSpPr>
        <p:sp>
          <p:nvSpPr>
            <p:cNvPr id="7" name="Freeform 7">
              <a:extLst>
                <a:ext uri="{FF2B5EF4-FFF2-40B4-BE49-F238E27FC236}">
                  <a16:creationId xmlns:a16="http://schemas.microsoft.com/office/drawing/2014/main" id="{0808C052-3EF0-9444-C5F7-46A8BF3FD1F0}"/>
                </a:ext>
              </a:extLst>
            </p:cNvPr>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id="8" name="TextBox 8">
              <a:extLst>
                <a:ext uri="{FF2B5EF4-FFF2-40B4-BE49-F238E27FC236}">
                  <a16:creationId xmlns:a16="http://schemas.microsoft.com/office/drawing/2014/main" id="{F65AA034-3E05-5AA2-B950-72347452E8BD}"/>
                </a:ext>
              </a:extLst>
            </p:cNvPr>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a:extLst>
              <a:ext uri="{FF2B5EF4-FFF2-40B4-BE49-F238E27FC236}">
                <a16:creationId xmlns:a16="http://schemas.microsoft.com/office/drawing/2014/main" id="{CD9C825C-B8CE-E2E7-DD7F-845F470279C7}"/>
              </a:ext>
            </a:extLst>
          </p:cNvPr>
          <p:cNvSpPr txBox="1"/>
          <p:nvPr/>
        </p:nvSpPr>
        <p:spPr>
          <a:xfrm>
            <a:off x="4933297" y="3191597"/>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 YOU</a:t>
            </a:r>
          </a:p>
        </p:txBody>
      </p:sp>
      <p:sp>
        <p:nvSpPr>
          <p:cNvPr id="13" name="TextBox 13">
            <a:extLst>
              <a:ext uri="{FF2B5EF4-FFF2-40B4-BE49-F238E27FC236}">
                <a16:creationId xmlns:a16="http://schemas.microsoft.com/office/drawing/2014/main" id="{354AD6F5-9405-4B0E-ABA0-6CC9BA3133C3}"/>
              </a:ext>
            </a:extLst>
          </p:cNvPr>
          <p:cNvSpPr txBox="1"/>
          <p:nvPr/>
        </p:nvSpPr>
        <p:spPr>
          <a:xfrm>
            <a:off x="7347826" y="6846823"/>
            <a:ext cx="3592349" cy="535981"/>
          </a:xfrm>
          <a:prstGeom prst="rect">
            <a:avLst/>
          </a:prstGeom>
        </p:spPr>
        <p:txBody>
          <a:bodyPr lIns="0" tIns="0" rIns="0" bIns="0" rtlCol="0" anchor="t">
            <a:spAutoFit/>
          </a:bodyPr>
          <a:lstStyle/>
          <a:p>
            <a:pPr algn="ctr">
              <a:lnSpc>
                <a:spcPts val="4408"/>
              </a:lnSpc>
            </a:pPr>
            <a:r>
              <a:rPr lang="en-US" sz="3148">
                <a:solidFill>
                  <a:srgbClr val="FFFFFF"/>
                </a:solidFill>
                <a:latin typeface="League Spartan"/>
                <a:ea typeface="League Spartan"/>
                <a:cs typeface="League Spartan"/>
                <a:sym typeface="League Spartan"/>
              </a:rPr>
              <a:t>VISIT US</a:t>
            </a:r>
          </a:p>
        </p:txBody>
      </p:sp>
      <p:sp>
        <p:nvSpPr>
          <p:cNvPr id="18" name="Freeform 4">
            <a:extLst>
              <a:ext uri="{FF2B5EF4-FFF2-40B4-BE49-F238E27FC236}">
                <a16:creationId xmlns:a16="http://schemas.microsoft.com/office/drawing/2014/main" id="{642E5EB5-6671-1967-C3DB-3A5CB4F469AE}"/>
              </a:ext>
            </a:extLst>
          </p:cNvPr>
          <p:cNvSpPr/>
          <p:nvPr/>
        </p:nvSpPr>
        <p:spPr>
          <a:xfrm>
            <a:off x="-114300" y="10078615"/>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19" name="TextBox 5">
            <a:extLst>
              <a:ext uri="{FF2B5EF4-FFF2-40B4-BE49-F238E27FC236}">
                <a16:creationId xmlns:a16="http://schemas.microsoft.com/office/drawing/2014/main" id="{47198521-41FE-487A-F6D2-317CF86CA24B}"/>
              </a:ext>
            </a:extLst>
          </p:cNvPr>
          <p:cNvSpPr txBox="1"/>
          <p:nvPr/>
        </p:nvSpPr>
        <p:spPr>
          <a:xfrm>
            <a:off x="-114300" y="9897790"/>
            <a:ext cx="18516600" cy="441175"/>
          </a:xfrm>
          <a:prstGeom prst="rect">
            <a:avLst/>
          </a:prstGeom>
        </p:spPr>
        <p:txBody>
          <a:bodyPr lIns="50800" tIns="50800" rIns="50800" bIns="50800" rtlCol="0" anchor="ctr"/>
          <a:lstStyle/>
          <a:p>
            <a:pPr algn="ctr">
              <a:lnSpc>
                <a:spcPts val="2659"/>
              </a:lnSpc>
            </a:pPr>
            <a:endParaRPr/>
          </a:p>
        </p:txBody>
      </p:sp>
      <p:sp>
        <p:nvSpPr>
          <p:cNvPr id="20" name="Freeform 4">
            <a:extLst>
              <a:ext uri="{FF2B5EF4-FFF2-40B4-BE49-F238E27FC236}">
                <a16:creationId xmlns:a16="http://schemas.microsoft.com/office/drawing/2014/main" id="{BCB8A672-3412-062E-78D3-BFFF72C5B9B7}"/>
              </a:ext>
            </a:extLst>
          </p:cNvPr>
          <p:cNvSpPr/>
          <p:nvPr/>
        </p:nvSpPr>
        <p:spPr>
          <a:xfrm>
            <a:off x="-120162" y="9727853"/>
            <a:ext cx="18516600" cy="26035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Tree>
    <p:extLst>
      <p:ext uri="{BB962C8B-B14F-4D97-AF65-F5344CB8AC3E}">
        <p14:creationId xmlns:p14="http://schemas.microsoft.com/office/powerpoint/2010/main" val="57039107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819</TotalTime>
  <Words>3477</Words>
  <Application>Microsoft Office PowerPoint</Application>
  <PresentationFormat>Custom</PresentationFormat>
  <Paragraphs>959</Paragraphs>
  <Slides>44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League Spartan</vt:lpstr>
      <vt:lpstr>Roboto</vt:lpstr>
      <vt:lpstr>Poppins</vt:lpstr>
      <vt:lpstr>Calibri</vt:lpstr>
      <vt:lpstr>Arial</vt:lpstr>
      <vt:lpstr>Symbol</vt:lpstr>
      <vt:lpstr>Roboto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Poduct design - case study 3</dc:title>
  <dc:creator>navya lawanya</dc:creator>
  <cp:lastModifiedBy>navya lawanya</cp:lastModifiedBy>
  <cp:revision>14</cp:revision>
  <cp:lastPrinted>2025-11-21T07:21:34Z</cp:lastPrinted>
  <dcterms:created xsi:type="dcterms:W3CDTF">2006-08-16T00:00:00Z</dcterms:created>
  <dcterms:modified xsi:type="dcterms:W3CDTF">2025-12-01T13:57:35Z</dcterms:modified>
  <dc:identifier>DAG4I9TTZAY</dc:identifier>
</cp:coreProperties>
</file>